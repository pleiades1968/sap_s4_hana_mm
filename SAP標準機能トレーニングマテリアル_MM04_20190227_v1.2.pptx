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Lst>
  <p:notesMasterIdLst>
    <p:notesMasterId r:id="rId93"/>
  </p:notesMasterIdLst>
  <p:handoutMasterIdLst>
    <p:handoutMasterId r:id="rId94"/>
  </p:handoutMasterIdLst>
  <p:sldIdLst>
    <p:sldId id="891" r:id="rId5"/>
    <p:sldId id="1612" r:id="rId6"/>
    <p:sldId id="1613" r:id="rId7"/>
    <p:sldId id="1614" r:id="rId8"/>
    <p:sldId id="1615" r:id="rId9"/>
    <p:sldId id="1616" r:id="rId10"/>
    <p:sldId id="1631" r:id="rId11"/>
    <p:sldId id="1596" r:id="rId12"/>
    <p:sldId id="1630" r:id="rId13"/>
    <p:sldId id="1510" r:id="rId14"/>
    <p:sldId id="1537" r:id="rId15"/>
    <p:sldId id="1530" r:id="rId16"/>
    <p:sldId id="1531" r:id="rId17"/>
    <p:sldId id="1538" r:id="rId18"/>
    <p:sldId id="1532" r:id="rId19"/>
    <p:sldId id="1533" r:id="rId20"/>
    <p:sldId id="1539" r:id="rId21"/>
    <p:sldId id="1534" r:id="rId22"/>
    <p:sldId id="1535" r:id="rId23"/>
    <p:sldId id="1536" r:id="rId24"/>
    <p:sldId id="1597" r:id="rId25"/>
    <p:sldId id="1629" r:id="rId26"/>
    <p:sldId id="1584" r:id="rId27"/>
    <p:sldId id="1528" r:id="rId28"/>
    <p:sldId id="1529" r:id="rId29"/>
    <p:sldId id="1540" r:id="rId30"/>
    <p:sldId id="1541" r:id="rId31"/>
    <p:sldId id="1542" r:id="rId32"/>
    <p:sldId id="1543" r:id="rId33"/>
    <p:sldId id="1544" r:id="rId34"/>
    <p:sldId id="1545" r:id="rId35"/>
    <p:sldId id="1546" r:id="rId36"/>
    <p:sldId id="1598" r:id="rId37"/>
    <p:sldId id="1628" r:id="rId38"/>
    <p:sldId id="1604" r:id="rId39"/>
    <p:sldId id="1527" r:id="rId40"/>
    <p:sldId id="1547" r:id="rId41"/>
    <p:sldId id="1548" r:id="rId42"/>
    <p:sldId id="1549" r:id="rId43"/>
    <p:sldId id="1550" r:id="rId44"/>
    <p:sldId id="1603" r:id="rId45"/>
    <p:sldId id="1551" r:id="rId46"/>
    <p:sldId id="1552" r:id="rId47"/>
    <p:sldId id="1553" r:id="rId48"/>
    <p:sldId id="1554" r:id="rId49"/>
    <p:sldId id="1599" r:id="rId50"/>
    <p:sldId id="1627" r:id="rId51"/>
    <p:sldId id="1586" r:id="rId52"/>
    <p:sldId id="1557" r:id="rId53"/>
    <p:sldId id="1558" r:id="rId54"/>
    <p:sldId id="1559" r:id="rId55"/>
    <p:sldId id="1560" r:id="rId56"/>
    <p:sldId id="1561" r:id="rId57"/>
    <p:sldId id="1562" r:id="rId58"/>
    <p:sldId id="1563" r:id="rId59"/>
    <p:sldId id="1565" r:id="rId60"/>
    <p:sldId id="1566" r:id="rId61"/>
    <p:sldId id="1567" r:id="rId62"/>
    <p:sldId id="1600" r:id="rId63"/>
    <p:sldId id="1626" r:id="rId64"/>
    <p:sldId id="1569" r:id="rId65"/>
    <p:sldId id="1570" r:id="rId66"/>
    <p:sldId id="1571" r:id="rId67"/>
    <p:sldId id="1572" r:id="rId68"/>
    <p:sldId id="1573" r:id="rId69"/>
    <p:sldId id="1574" r:id="rId70"/>
    <p:sldId id="1575" r:id="rId71"/>
    <p:sldId id="1576" r:id="rId72"/>
    <p:sldId id="1577" r:id="rId73"/>
    <p:sldId id="1601" r:id="rId74"/>
    <p:sldId id="1625" r:id="rId75"/>
    <p:sldId id="1579" r:id="rId76"/>
    <p:sldId id="1580" r:id="rId77"/>
    <p:sldId id="1581" r:id="rId78"/>
    <p:sldId id="1582" r:id="rId79"/>
    <p:sldId id="1583" r:id="rId80"/>
    <p:sldId id="1632" r:id="rId81"/>
    <p:sldId id="1633" r:id="rId82"/>
    <p:sldId id="1634" r:id="rId83"/>
    <p:sldId id="1635" r:id="rId84"/>
    <p:sldId id="1636" r:id="rId85"/>
    <p:sldId id="1637" r:id="rId86"/>
    <p:sldId id="1638" r:id="rId87"/>
    <p:sldId id="1639" r:id="rId88"/>
    <p:sldId id="1640" r:id="rId89"/>
    <p:sldId id="1641" r:id="rId90"/>
    <p:sldId id="1642" r:id="rId91"/>
    <p:sldId id="1643" r:id="rId92"/>
  </p:sldIdLst>
  <p:sldSz cx="9144000" cy="6858000" type="screen4x3"/>
  <p:notesSz cx="6799263" cy="9929813"/>
  <p:defaultTextStyle>
    <a:defPPr>
      <a:defRPr lang="ja-JP"/>
    </a:defPPr>
    <a:lvl1pPr algn="l" rtl="0" fontAlgn="base">
      <a:spcBef>
        <a:spcPct val="0"/>
      </a:spcBef>
      <a:spcAft>
        <a:spcPct val="0"/>
      </a:spcAft>
      <a:defRPr kumimoji="1" kern="1200">
        <a:solidFill>
          <a:schemeClr val="tx1"/>
        </a:solidFill>
        <a:latin typeface="Tahoma" pitchFamily="34"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Tahoma" pitchFamily="34"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Tahoma" pitchFamily="34"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Tahoma" pitchFamily="34"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Tahoma" pitchFamily="34" charset="0"/>
        <a:ea typeface="ＭＳ Ｐゴシック" pitchFamily="50" charset="-128"/>
        <a:cs typeface="+mn-cs"/>
      </a:defRPr>
    </a:lvl5pPr>
    <a:lvl6pPr marL="2286000" algn="l" defTabSz="914400" rtl="0" eaLnBrk="1" latinLnBrk="0" hangingPunct="1">
      <a:defRPr kumimoji="1" kern="1200">
        <a:solidFill>
          <a:schemeClr val="tx1"/>
        </a:solidFill>
        <a:latin typeface="Tahoma" pitchFamily="34" charset="0"/>
        <a:ea typeface="ＭＳ Ｐゴシック" pitchFamily="50" charset="-128"/>
        <a:cs typeface="+mn-cs"/>
      </a:defRPr>
    </a:lvl6pPr>
    <a:lvl7pPr marL="2743200" algn="l" defTabSz="914400" rtl="0" eaLnBrk="1" latinLnBrk="0" hangingPunct="1">
      <a:defRPr kumimoji="1" kern="1200">
        <a:solidFill>
          <a:schemeClr val="tx1"/>
        </a:solidFill>
        <a:latin typeface="Tahoma" pitchFamily="34" charset="0"/>
        <a:ea typeface="ＭＳ Ｐゴシック" pitchFamily="50" charset="-128"/>
        <a:cs typeface="+mn-cs"/>
      </a:defRPr>
    </a:lvl7pPr>
    <a:lvl8pPr marL="3200400" algn="l" defTabSz="914400" rtl="0" eaLnBrk="1" latinLnBrk="0" hangingPunct="1">
      <a:defRPr kumimoji="1" kern="1200">
        <a:solidFill>
          <a:schemeClr val="tx1"/>
        </a:solidFill>
        <a:latin typeface="Tahoma" pitchFamily="34" charset="0"/>
        <a:ea typeface="ＭＳ Ｐゴシック" pitchFamily="50" charset="-128"/>
        <a:cs typeface="+mn-cs"/>
      </a:defRPr>
    </a:lvl8pPr>
    <a:lvl9pPr marL="3657600" algn="l" defTabSz="914400" rtl="0" eaLnBrk="1" latinLnBrk="0" hangingPunct="1">
      <a:defRPr kumimoji="1" kern="1200">
        <a:solidFill>
          <a:schemeClr val="tx1"/>
        </a:solidFill>
        <a:latin typeface="Tahoma" pitchFamily="34" charset="0"/>
        <a:ea typeface="ＭＳ Ｐゴシック" pitchFamily="50" charset="-128"/>
        <a:cs typeface="+mn-cs"/>
      </a:defRPr>
    </a:lvl9pPr>
  </p:defaultTextStyle>
  <p:extLst>
    <p:ext uri="{EFAFB233-063F-42B5-8137-9DF3F51BA10A}">
      <p15:sldGuideLst xmlns:p15="http://schemas.microsoft.com/office/powerpoint/2012/main">
        <p15:guide id="1" orient="horz" pos="166" userDrawn="1">
          <p15:clr>
            <a:srgbClr val="A4A3A4"/>
          </p15:clr>
        </p15:guide>
        <p15:guide id="2" orient="horz" pos="3526" userDrawn="1">
          <p15:clr>
            <a:srgbClr val="A4A3A4"/>
          </p15:clr>
        </p15:guide>
        <p15:guide id="3" orient="horz" pos="1153" userDrawn="1">
          <p15:clr>
            <a:srgbClr val="A4A3A4"/>
          </p15:clr>
        </p15:guide>
        <p15:guide id="4" orient="horz" pos="1486" userDrawn="1">
          <p15:clr>
            <a:srgbClr val="A4A3A4"/>
          </p15:clr>
        </p15:guide>
        <p15:guide id="5" orient="horz" pos="3074" userDrawn="1">
          <p15:clr>
            <a:srgbClr val="A4A3A4"/>
          </p15:clr>
        </p15:guide>
        <p15:guide id="6" pos="604" userDrawn="1">
          <p15:clr>
            <a:srgbClr val="A4A3A4"/>
          </p15:clr>
        </p15:guide>
        <p15:guide id="7" pos="257" userDrawn="1">
          <p15:clr>
            <a:srgbClr val="A4A3A4"/>
          </p15:clr>
        </p15:guide>
        <p15:guide id="8" pos="103" userDrawn="1">
          <p15:clr>
            <a:srgbClr val="A4A3A4"/>
          </p15:clr>
        </p15:guide>
        <p15:guide id="9" pos="5697" userDrawn="1">
          <p15:clr>
            <a:srgbClr val="A4A3A4"/>
          </p15:clr>
        </p15:guide>
        <p15:guide id="10" pos="898" userDrawn="1">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1DE"/>
    <a:srgbClr val="993300"/>
    <a:srgbClr val="FFCCFF"/>
    <a:srgbClr val="F8F8F8"/>
    <a:srgbClr val="FFCC99"/>
    <a:srgbClr val="FF9999"/>
    <a:srgbClr val="CCFFCC"/>
    <a:srgbClr val="A7E0FF"/>
    <a:srgbClr val="34B6FE"/>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F18680-E054-41AD-8BC1-D1AEF772440D}">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05" autoAdjust="0"/>
    <p:restoredTop sz="94095" autoAdjust="0"/>
  </p:normalViewPr>
  <p:slideViewPr>
    <p:cSldViewPr snapToGrid="0">
      <p:cViewPr varScale="1">
        <p:scale>
          <a:sx n="72" d="100"/>
          <a:sy n="72" d="100"/>
        </p:scale>
        <p:origin x="1560" y="54"/>
      </p:cViewPr>
      <p:guideLst>
        <p:guide orient="horz" pos="166"/>
        <p:guide orient="horz" pos="3526"/>
        <p:guide orient="horz" pos="1153"/>
        <p:guide orient="horz" pos="1486"/>
        <p:guide orient="horz" pos="3074"/>
        <p:guide pos="604"/>
        <p:guide pos="257"/>
        <p:guide pos="103"/>
        <p:guide pos="5697"/>
        <p:guide pos="898"/>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100" d="100"/>
        <a:sy n="100" d="100"/>
      </p:scale>
      <p:origin x="0" y="-1834"/>
    </p:cViewPr>
  </p:sorterViewPr>
  <p:notesViewPr>
    <p:cSldViewPr snapToGrid="0">
      <p:cViewPr varScale="1">
        <p:scale>
          <a:sx n="50" d="100"/>
          <a:sy n="50" d="100"/>
        </p:scale>
        <p:origin x="-2640" y="-114"/>
      </p:cViewPr>
      <p:guideLst>
        <p:guide orient="horz" pos="3128"/>
        <p:guide pos="214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handoutMaster" Target="handoutMasters/handoutMaster1.xml"/><Relationship Id="rId9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notesMaster" Target="notesMasters/notesMaster1.xml"/><Relationship Id="rId98"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tsuka Kenichi" userId="a67db5c4d8b7b703" providerId="LiveId" clId="{BEC624C7-A085-41C4-8435-E7E341A61508}"/>
    <pc:docChg chg="custSel modSld">
      <pc:chgData name="Otsuka Kenichi" userId="a67db5c4d8b7b703" providerId="LiveId" clId="{BEC624C7-A085-41C4-8435-E7E341A61508}" dt="2021-08-29T11:51:10.566" v="1" actId="478"/>
      <pc:docMkLst>
        <pc:docMk/>
      </pc:docMkLst>
      <pc:sldChg chg="delSp mod">
        <pc:chgData name="Otsuka Kenichi" userId="a67db5c4d8b7b703" providerId="LiveId" clId="{BEC624C7-A085-41C4-8435-E7E341A61508}" dt="2021-08-29T11:51:10.566" v="1" actId="478"/>
        <pc:sldMkLst>
          <pc:docMk/>
          <pc:sldMk cId="0" sldId="891"/>
        </pc:sldMkLst>
        <pc:spChg chg="del">
          <ac:chgData name="Otsuka Kenichi" userId="a67db5c4d8b7b703" providerId="LiveId" clId="{BEC624C7-A085-41C4-8435-E7E341A61508}" dt="2021-08-29T11:51:03.896" v="0" actId="478"/>
          <ac:spMkLst>
            <pc:docMk/>
            <pc:sldMk cId="0" sldId="891"/>
            <ac:spMk id="2" creationId="{00000000-0000-0000-0000-000000000000}"/>
          </ac:spMkLst>
        </pc:spChg>
        <pc:spChg chg="del">
          <ac:chgData name="Otsuka Kenichi" userId="a67db5c4d8b7b703" providerId="LiveId" clId="{BEC624C7-A085-41C4-8435-E7E341A61508}" dt="2021-08-29T11:51:10.566" v="1" actId="478"/>
          <ac:spMkLst>
            <pc:docMk/>
            <pc:sldMk cId="0" sldId="891"/>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46753" cy="495952"/>
          </a:xfrm>
          <a:prstGeom prst="rect">
            <a:avLst/>
          </a:prstGeom>
        </p:spPr>
        <p:txBody>
          <a:bodyPr vert="horz" lIns="95561" tIns="47781" rIns="95561" bIns="47781" rtlCol="0"/>
          <a:lstStyle>
            <a:lvl1pPr algn="l" fontAlgn="auto">
              <a:spcBef>
                <a:spcPts val="0"/>
              </a:spcBef>
              <a:spcAft>
                <a:spcPts val="0"/>
              </a:spcAft>
              <a:defRPr sz="1200">
                <a:latin typeface="+mn-lt"/>
                <a:ea typeface="+mn-ea"/>
              </a:defRPr>
            </a:lvl1pPr>
          </a:lstStyle>
          <a:p>
            <a:pPr>
              <a:defRPr/>
            </a:pPr>
            <a:endParaRPr lang="ja-JP" altLang="en-US"/>
          </a:p>
        </p:txBody>
      </p:sp>
      <p:sp>
        <p:nvSpPr>
          <p:cNvPr id="3" name="日付プレースホルダー 2"/>
          <p:cNvSpPr>
            <a:spLocks noGrp="1"/>
          </p:cNvSpPr>
          <p:nvPr>
            <p:ph type="dt" sz="quarter" idx="1"/>
          </p:nvPr>
        </p:nvSpPr>
        <p:spPr>
          <a:xfrm>
            <a:off x="3850993" y="1"/>
            <a:ext cx="2946753" cy="495952"/>
          </a:xfrm>
          <a:prstGeom prst="rect">
            <a:avLst/>
          </a:prstGeom>
        </p:spPr>
        <p:txBody>
          <a:bodyPr vert="horz" lIns="95561" tIns="47781" rIns="95561" bIns="47781" rtlCol="0"/>
          <a:lstStyle>
            <a:lvl1pPr algn="r" fontAlgn="auto">
              <a:spcBef>
                <a:spcPts val="0"/>
              </a:spcBef>
              <a:spcAft>
                <a:spcPts val="0"/>
              </a:spcAft>
              <a:defRPr sz="1200">
                <a:latin typeface="+mn-lt"/>
                <a:ea typeface="+mn-ea"/>
              </a:defRPr>
            </a:lvl1pPr>
          </a:lstStyle>
          <a:p>
            <a:pPr>
              <a:defRPr/>
            </a:pPr>
            <a:fld id="{255A4134-7B47-4514-8658-AC611D9904A2}" type="datetimeFigureOut">
              <a:rPr lang="ja-JP" altLang="en-US"/>
              <a:pPr>
                <a:defRPr/>
              </a:pPr>
              <a:t>2021/8/29</a:t>
            </a:fld>
            <a:endParaRPr lang="ja-JP" altLang="en-US"/>
          </a:p>
        </p:txBody>
      </p:sp>
      <p:sp>
        <p:nvSpPr>
          <p:cNvPr id="4" name="フッター プレースホルダー 3"/>
          <p:cNvSpPr>
            <a:spLocks noGrp="1"/>
          </p:cNvSpPr>
          <p:nvPr>
            <p:ph type="ftr" sz="quarter" idx="2"/>
          </p:nvPr>
        </p:nvSpPr>
        <p:spPr>
          <a:xfrm>
            <a:off x="1" y="9432323"/>
            <a:ext cx="2946753" cy="495952"/>
          </a:xfrm>
          <a:prstGeom prst="rect">
            <a:avLst/>
          </a:prstGeom>
        </p:spPr>
        <p:txBody>
          <a:bodyPr vert="horz" lIns="95561" tIns="47781" rIns="95561" bIns="47781" rtlCol="0" anchor="b"/>
          <a:lstStyle>
            <a:lvl1pPr algn="l" fontAlgn="auto">
              <a:spcBef>
                <a:spcPts val="0"/>
              </a:spcBef>
              <a:spcAft>
                <a:spcPts val="0"/>
              </a:spcAft>
              <a:defRPr sz="1200">
                <a:latin typeface="+mn-lt"/>
                <a:ea typeface="+mn-ea"/>
              </a:defRPr>
            </a:lvl1pPr>
          </a:lstStyle>
          <a:p>
            <a:pPr>
              <a:defRPr/>
            </a:pPr>
            <a:endParaRPr lang="ja-JP" altLang="en-US"/>
          </a:p>
        </p:txBody>
      </p:sp>
      <p:sp>
        <p:nvSpPr>
          <p:cNvPr id="5" name="スライド番号プレースホルダー 4"/>
          <p:cNvSpPr>
            <a:spLocks noGrp="1"/>
          </p:cNvSpPr>
          <p:nvPr>
            <p:ph type="sldNum" sz="quarter" idx="3"/>
          </p:nvPr>
        </p:nvSpPr>
        <p:spPr>
          <a:xfrm>
            <a:off x="3850993" y="9432323"/>
            <a:ext cx="2946753" cy="495952"/>
          </a:xfrm>
          <a:prstGeom prst="rect">
            <a:avLst/>
          </a:prstGeom>
        </p:spPr>
        <p:txBody>
          <a:bodyPr vert="horz" lIns="95561" tIns="47781" rIns="95561" bIns="47781" rtlCol="0" anchor="b"/>
          <a:lstStyle>
            <a:lvl1pPr algn="r" fontAlgn="auto">
              <a:spcBef>
                <a:spcPts val="0"/>
              </a:spcBef>
              <a:spcAft>
                <a:spcPts val="0"/>
              </a:spcAft>
              <a:defRPr sz="1200">
                <a:latin typeface="+mn-lt"/>
                <a:ea typeface="+mn-ea"/>
              </a:defRPr>
            </a:lvl1pPr>
          </a:lstStyle>
          <a:p>
            <a:pPr>
              <a:defRPr/>
            </a:pPr>
            <a:fld id="{E9160FE7-0C15-437B-BC7B-FD730982F6B8}" type="slidenum">
              <a:rPr lang="ja-JP" altLang="en-US"/>
              <a:pPr>
                <a:defRPr/>
              </a:pPr>
              <a:t>‹#›</a:t>
            </a:fld>
            <a:endParaRPr lang="ja-JP" altLang="en-US"/>
          </a:p>
        </p:txBody>
      </p:sp>
    </p:spTree>
    <p:extLst>
      <p:ext uri="{BB962C8B-B14F-4D97-AF65-F5344CB8AC3E}">
        <p14:creationId xmlns:p14="http://schemas.microsoft.com/office/powerpoint/2010/main" val="9753023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45233" cy="497492"/>
          </a:xfrm>
          <a:prstGeom prst="rect">
            <a:avLst/>
          </a:prstGeom>
        </p:spPr>
        <p:txBody>
          <a:bodyPr vert="horz" lIns="90440" tIns="45221" rIns="90440" bIns="45221" rtlCol="0"/>
          <a:lstStyle>
            <a:lvl1pPr algn="l" fontAlgn="auto">
              <a:spcBef>
                <a:spcPts val="0"/>
              </a:spcBef>
              <a:spcAft>
                <a:spcPts val="0"/>
              </a:spcAft>
              <a:defRPr sz="1100">
                <a:latin typeface="+mn-lt"/>
                <a:ea typeface="+mn-ea"/>
              </a:defRPr>
            </a:lvl1pPr>
          </a:lstStyle>
          <a:p>
            <a:pPr>
              <a:defRPr/>
            </a:pPr>
            <a:endParaRPr lang="ja-JP" altLang="en-US"/>
          </a:p>
        </p:txBody>
      </p:sp>
      <p:sp>
        <p:nvSpPr>
          <p:cNvPr id="3" name="日付プレースホルダー 2"/>
          <p:cNvSpPr>
            <a:spLocks noGrp="1"/>
          </p:cNvSpPr>
          <p:nvPr>
            <p:ph type="dt" idx="1"/>
          </p:nvPr>
        </p:nvSpPr>
        <p:spPr>
          <a:xfrm>
            <a:off x="3850993" y="1"/>
            <a:ext cx="2946753" cy="497492"/>
          </a:xfrm>
          <a:prstGeom prst="rect">
            <a:avLst/>
          </a:prstGeom>
        </p:spPr>
        <p:txBody>
          <a:bodyPr vert="horz" lIns="90440" tIns="45221" rIns="90440" bIns="45221" rtlCol="0"/>
          <a:lstStyle>
            <a:lvl1pPr algn="r" fontAlgn="auto">
              <a:spcBef>
                <a:spcPts val="0"/>
              </a:spcBef>
              <a:spcAft>
                <a:spcPts val="0"/>
              </a:spcAft>
              <a:defRPr sz="1100">
                <a:latin typeface="+mn-lt"/>
                <a:ea typeface="+mn-ea"/>
              </a:defRPr>
            </a:lvl1pPr>
          </a:lstStyle>
          <a:p>
            <a:pPr>
              <a:defRPr/>
            </a:pPr>
            <a:fld id="{3085ECCA-19A4-4651-A390-02EC9A36D93C}" type="datetimeFigureOut">
              <a:rPr lang="ja-JP" altLang="en-US"/>
              <a:pPr>
                <a:defRPr/>
              </a:pPr>
              <a:t>2021/8/29</a:t>
            </a:fld>
            <a:endParaRPr lang="ja-JP" altLang="en-US"/>
          </a:p>
        </p:txBody>
      </p:sp>
      <p:sp>
        <p:nvSpPr>
          <p:cNvPr id="4" name="スライド イメージ プレースホルダー 3"/>
          <p:cNvSpPr>
            <a:spLocks noGrp="1" noRot="1" noChangeAspect="1"/>
          </p:cNvSpPr>
          <p:nvPr>
            <p:ph type="sldImg" idx="2"/>
          </p:nvPr>
        </p:nvSpPr>
        <p:spPr>
          <a:xfrm>
            <a:off x="915988" y="744538"/>
            <a:ext cx="4967287" cy="3724275"/>
          </a:xfrm>
          <a:prstGeom prst="rect">
            <a:avLst/>
          </a:prstGeom>
          <a:noFill/>
          <a:ln w="12700">
            <a:solidFill>
              <a:prstClr val="black"/>
            </a:solidFill>
          </a:ln>
        </p:spPr>
        <p:txBody>
          <a:bodyPr vert="horz" lIns="90440" tIns="45221" rIns="90440" bIns="45221" rtlCol="0" anchor="ctr"/>
          <a:lstStyle/>
          <a:p>
            <a:pPr lvl="0"/>
            <a:endParaRPr lang="ja-JP" altLang="en-US" noProof="0"/>
          </a:p>
        </p:txBody>
      </p:sp>
      <p:sp>
        <p:nvSpPr>
          <p:cNvPr id="5" name="ノート プレースホルダー 4"/>
          <p:cNvSpPr>
            <a:spLocks noGrp="1"/>
          </p:cNvSpPr>
          <p:nvPr>
            <p:ph type="body" sz="quarter" idx="3"/>
          </p:nvPr>
        </p:nvSpPr>
        <p:spPr>
          <a:xfrm>
            <a:off x="680840" y="4716163"/>
            <a:ext cx="5437587" cy="4469724"/>
          </a:xfrm>
          <a:prstGeom prst="rect">
            <a:avLst/>
          </a:prstGeom>
        </p:spPr>
        <p:txBody>
          <a:bodyPr vert="horz" lIns="90440" tIns="45221" rIns="90440" bIns="45221"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1" y="9430783"/>
            <a:ext cx="2945233" cy="497491"/>
          </a:xfrm>
          <a:prstGeom prst="rect">
            <a:avLst/>
          </a:prstGeom>
        </p:spPr>
        <p:txBody>
          <a:bodyPr vert="horz" lIns="90440" tIns="45221" rIns="90440" bIns="45221" rtlCol="0" anchor="b"/>
          <a:lstStyle>
            <a:lvl1pPr algn="l" fontAlgn="auto">
              <a:spcBef>
                <a:spcPts val="0"/>
              </a:spcBef>
              <a:spcAft>
                <a:spcPts val="0"/>
              </a:spcAft>
              <a:defRPr sz="1100">
                <a:latin typeface="+mn-lt"/>
                <a:ea typeface="+mn-ea"/>
              </a:defRPr>
            </a:lvl1pPr>
          </a:lstStyle>
          <a:p>
            <a:pPr>
              <a:defRPr/>
            </a:pPr>
            <a:endParaRPr lang="ja-JP" altLang="en-US"/>
          </a:p>
        </p:txBody>
      </p:sp>
      <p:sp>
        <p:nvSpPr>
          <p:cNvPr id="7" name="スライド番号プレースホルダー 6"/>
          <p:cNvSpPr>
            <a:spLocks noGrp="1"/>
          </p:cNvSpPr>
          <p:nvPr>
            <p:ph type="sldNum" sz="quarter" idx="5"/>
          </p:nvPr>
        </p:nvSpPr>
        <p:spPr>
          <a:xfrm>
            <a:off x="3850993" y="9430783"/>
            <a:ext cx="2946753" cy="497491"/>
          </a:xfrm>
          <a:prstGeom prst="rect">
            <a:avLst/>
          </a:prstGeom>
        </p:spPr>
        <p:txBody>
          <a:bodyPr vert="horz" lIns="90440" tIns="45221" rIns="90440" bIns="45221" rtlCol="0" anchor="b"/>
          <a:lstStyle>
            <a:lvl1pPr algn="r" fontAlgn="auto">
              <a:spcBef>
                <a:spcPts val="0"/>
              </a:spcBef>
              <a:spcAft>
                <a:spcPts val="0"/>
              </a:spcAft>
              <a:defRPr sz="1100">
                <a:latin typeface="+mn-lt"/>
                <a:ea typeface="+mn-ea"/>
              </a:defRPr>
            </a:lvl1pPr>
          </a:lstStyle>
          <a:p>
            <a:pPr>
              <a:defRPr/>
            </a:pPr>
            <a:fld id="{A70AF475-FAB5-4896-A38B-6AB284D29091}" type="slidenum">
              <a:rPr lang="ja-JP" altLang="en-US"/>
              <a:pPr>
                <a:defRPr/>
              </a:pPr>
              <a:t>‹#›</a:t>
            </a:fld>
            <a:endParaRPr lang="ja-JP" altLang="en-US"/>
          </a:p>
        </p:txBody>
      </p:sp>
    </p:spTree>
    <p:extLst>
      <p:ext uri="{BB962C8B-B14F-4D97-AF65-F5344CB8AC3E}">
        <p14:creationId xmlns:p14="http://schemas.microsoft.com/office/powerpoint/2010/main" val="41704948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スライド イメージ プレースホルダー 1"/>
          <p:cNvSpPr>
            <a:spLocks noGrp="1" noRot="1" noChangeAspect="1"/>
          </p:cNvSpPr>
          <p:nvPr>
            <p:ph type="sldImg"/>
          </p:nvPr>
        </p:nvSpPr>
        <p:spPr bwMode="auto">
          <a:xfrm>
            <a:off x="915988" y="744538"/>
            <a:ext cx="4967287" cy="3724275"/>
          </a:xfrm>
          <a:noFill/>
          <a:ln>
            <a:solidFill>
              <a:srgbClr val="000000"/>
            </a:solidFill>
            <a:miter lim="800000"/>
            <a:headEnd/>
            <a:tailEnd/>
          </a:ln>
        </p:spPr>
      </p:sp>
      <p:sp>
        <p:nvSpPr>
          <p:cNvPr id="12290" name="ノート プレースホルダー 2"/>
          <p:cNvSpPr>
            <a:spLocks noGrp="1"/>
          </p:cNvSpPr>
          <p:nvPr>
            <p:ph type="body" idx="1"/>
          </p:nvPr>
        </p:nvSpPr>
        <p:spPr bwMode="auto">
          <a:noFill/>
        </p:spPr>
        <p:txBody>
          <a:bodyPr wrap="square" numCol="1" anchor="t" anchorCtr="0" compatLnSpc="1">
            <a:prstTxWarp prst="textNoShape">
              <a:avLst/>
            </a:prstTxWarp>
          </a:bodyPr>
          <a:lstStyle/>
          <a:p>
            <a:endParaRPr lang="en-US" altLang="ja-JP" dirty="0"/>
          </a:p>
        </p:txBody>
      </p:sp>
      <p:sp>
        <p:nvSpPr>
          <p:cNvPr id="4" name="スライド番号プレースホルダー 3"/>
          <p:cNvSpPr>
            <a:spLocks noGrp="1"/>
          </p:cNvSpPr>
          <p:nvPr>
            <p:ph type="sldNum" sz="quarter" idx="5"/>
          </p:nvPr>
        </p:nvSpPr>
        <p:spPr/>
        <p:txBody>
          <a:bodyPr/>
          <a:lstStyle/>
          <a:p>
            <a:pPr>
              <a:defRPr/>
            </a:pPr>
            <a:fld id="{48C2F55B-073F-4385-990E-46F53334772A}" type="slidenum">
              <a:rPr lang="ja-JP" altLang="en-US" smtClean="0"/>
              <a:pPr>
                <a:defRPr/>
              </a:pPr>
              <a:t>1</a:t>
            </a:fld>
            <a:endParaRPr lang="ja-JP" altLang="en-US" dirty="0"/>
          </a:p>
        </p:txBody>
      </p:sp>
    </p:spTree>
    <p:extLst>
      <p:ext uri="{BB962C8B-B14F-4D97-AF65-F5344CB8AC3E}">
        <p14:creationId xmlns:p14="http://schemas.microsoft.com/office/powerpoint/2010/main" val="3205021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12</a:t>
            </a:fld>
            <a:endParaRPr lang="ja-JP" altLang="en-US"/>
          </a:p>
        </p:txBody>
      </p:sp>
    </p:spTree>
    <p:extLst>
      <p:ext uri="{BB962C8B-B14F-4D97-AF65-F5344CB8AC3E}">
        <p14:creationId xmlns:p14="http://schemas.microsoft.com/office/powerpoint/2010/main" val="4173351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24</a:t>
            </a:fld>
            <a:endParaRPr lang="ja-JP" altLang="en-US"/>
          </a:p>
        </p:txBody>
      </p:sp>
    </p:spTree>
    <p:extLst>
      <p:ext uri="{BB962C8B-B14F-4D97-AF65-F5344CB8AC3E}">
        <p14:creationId xmlns:p14="http://schemas.microsoft.com/office/powerpoint/2010/main" val="2150807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見積中間値⇒平均が表示される</a:t>
            </a:r>
            <a:endParaRPr kumimoji="1" lang="en-US" altLang="ja-JP" dirty="0"/>
          </a:p>
          <a:p>
            <a:r>
              <a:rPr kumimoji="1" lang="ja-JP" altLang="en-US" dirty="0"/>
              <a:t>最低価格見積⇒一番低い価格が表示される</a:t>
            </a:r>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50</a:t>
            </a:fld>
            <a:endParaRPr lang="ja-JP" altLang="en-US"/>
          </a:p>
        </p:txBody>
      </p:sp>
    </p:spTree>
    <p:extLst>
      <p:ext uri="{BB962C8B-B14F-4D97-AF65-F5344CB8AC3E}">
        <p14:creationId xmlns:p14="http://schemas.microsoft.com/office/powerpoint/2010/main" val="3359946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は基準値</a:t>
            </a:r>
            <a:endParaRPr kumimoji="1" lang="en-US" altLang="ja-JP" dirty="0"/>
          </a:p>
          <a:p>
            <a:r>
              <a:rPr kumimoji="1" lang="ja-JP" altLang="en-US" dirty="0"/>
              <a:t>今回は中間値を</a:t>
            </a:r>
            <a:r>
              <a:rPr kumimoji="1" lang="en-US" altLang="ja-JP" dirty="0"/>
              <a:t>100%</a:t>
            </a:r>
            <a:r>
              <a:rPr kumimoji="1" lang="ja-JP" altLang="en-US" dirty="0"/>
              <a:t>として表示されている</a:t>
            </a:r>
            <a:endParaRPr kumimoji="1" lang="en-US" altLang="ja-JP" dirty="0"/>
          </a:p>
          <a:p>
            <a:r>
              <a:rPr kumimoji="1" lang="ja-JP" altLang="en-US" dirty="0"/>
              <a:t>前画面の割合基準で、基準値の指定ができる</a:t>
            </a:r>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51</a:t>
            </a:fld>
            <a:endParaRPr lang="ja-JP" altLang="en-US"/>
          </a:p>
        </p:txBody>
      </p:sp>
    </p:spTree>
    <p:extLst>
      <p:ext uri="{BB962C8B-B14F-4D97-AF65-F5344CB8AC3E}">
        <p14:creationId xmlns:p14="http://schemas.microsoft.com/office/powerpoint/2010/main" val="2487052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52</a:t>
            </a:fld>
            <a:endParaRPr lang="ja-JP" altLang="en-US"/>
          </a:p>
        </p:txBody>
      </p:sp>
    </p:spTree>
    <p:extLst>
      <p:ext uri="{BB962C8B-B14F-4D97-AF65-F5344CB8AC3E}">
        <p14:creationId xmlns:p14="http://schemas.microsoft.com/office/powerpoint/2010/main" val="3017044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53</a:t>
            </a:fld>
            <a:endParaRPr lang="ja-JP" altLang="en-US"/>
          </a:p>
        </p:txBody>
      </p:sp>
    </p:spTree>
    <p:extLst>
      <p:ext uri="{BB962C8B-B14F-4D97-AF65-F5344CB8AC3E}">
        <p14:creationId xmlns:p14="http://schemas.microsoft.com/office/powerpoint/2010/main" val="524221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54</a:t>
            </a:fld>
            <a:endParaRPr lang="ja-JP" altLang="en-US"/>
          </a:p>
        </p:txBody>
      </p:sp>
    </p:spTree>
    <p:extLst>
      <p:ext uri="{BB962C8B-B14F-4D97-AF65-F5344CB8AC3E}">
        <p14:creationId xmlns:p14="http://schemas.microsoft.com/office/powerpoint/2010/main" val="2198856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55</a:t>
            </a:fld>
            <a:endParaRPr lang="ja-JP" altLang="en-US"/>
          </a:p>
        </p:txBody>
      </p:sp>
    </p:spTree>
    <p:extLst>
      <p:ext uri="{BB962C8B-B14F-4D97-AF65-F5344CB8AC3E}">
        <p14:creationId xmlns:p14="http://schemas.microsoft.com/office/powerpoint/2010/main" val="472269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56</a:t>
            </a:fld>
            <a:endParaRPr lang="ja-JP" altLang="en-US"/>
          </a:p>
        </p:txBody>
      </p:sp>
    </p:spTree>
    <p:extLst>
      <p:ext uri="{BB962C8B-B14F-4D97-AF65-F5344CB8AC3E}">
        <p14:creationId xmlns:p14="http://schemas.microsoft.com/office/powerpoint/2010/main" val="2772483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57</a:t>
            </a:fld>
            <a:endParaRPr lang="ja-JP" altLang="en-US"/>
          </a:p>
        </p:txBody>
      </p:sp>
    </p:spTree>
    <p:extLst>
      <p:ext uri="{BB962C8B-B14F-4D97-AF65-F5344CB8AC3E}">
        <p14:creationId xmlns:p14="http://schemas.microsoft.com/office/powerpoint/2010/main" val="1133749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58</a:t>
            </a:fld>
            <a:endParaRPr lang="ja-JP" altLang="en-US"/>
          </a:p>
        </p:txBody>
      </p:sp>
    </p:spTree>
    <p:extLst>
      <p:ext uri="{BB962C8B-B14F-4D97-AF65-F5344CB8AC3E}">
        <p14:creationId xmlns:p14="http://schemas.microsoft.com/office/powerpoint/2010/main" val="1369171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63</a:t>
            </a:fld>
            <a:endParaRPr lang="ja-JP" altLang="en-US"/>
          </a:p>
        </p:txBody>
      </p:sp>
    </p:spTree>
    <p:extLst>
      <p:ext uri="{BB962C8B-B14F-4D97-AF65-F5344CB8AC3E}">
        <p14:creationId xmlns:p14="http://schemas.microsoft.com/office/powerpoint/2010/main" val="23587277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64</a:t>
            </a:fld>
            <a:endParaRPr lang="ja-JP" altLang="en-US"/>
          </a:p>
        </p:txBody>
      </p:sp>
    </p:spTree>
    <p:extLst>
      <p:ext uri="{BB962C8B-B14F-4D97-AF65-F5344CB8AC3E}">
        <p14:creationId xmlns:p14="http://schemas.microsoft.com/office/powerpoint/2010/main" val="1880373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65</a:t>
            </a:fld>
            <a:endParaRPr lang="ja-JP" altLang="en-US"/>
          </a:p>
        </p:txBody>
      </p:sp>
    </p:spTree>
    <p:extLst>
      <p:ext uri="{BB962C8B-B14F-4D97-AF65-F5344CB8AC3E}">
        <p14:creationId xmlns:p14="http://schemas.microsoft.com/office/powerpoint/2010/main" val="3264703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66</a:t>
            </a:fld>
            <a:endParaRPr lang="ja-JP" altLang="en-US"/>
          </a:p>
        </p:txBody>
      </p:sp>
    </p:spTree>
    <p:extLst>
      <p:ext uri="{BB962C8B-B14F-4D97-AF65-F5344CB8AC3E}">
        <p14:creationId xmlns:p14="http://schemas.microsoft.com/office/powerpoint/2010/main" val="2218764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67</a:t>
            </a:fld>
            <a:endParaRPr lang="ja-JP" altLang="en-US"/>
          </a:p>
        </p:txBody>
      </p:sp>
    </p:spTree>
    <p:extLst>
      <p:ext uri="{BB962C8B-B14F-4D97-AF65-F5344CB8AC3E}">
        <p14:creationId xmlns:p14="http://schemas.microsoft.com/office/powerpoint/2010/main" val="2363662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68</a:t>
            </a:fld>
            <a:endParaRPr lang="ja-JP" altLang="en-US"/>
          </a:p>
        </p:txBody>
      </p:sp>
    </p:spTree>
    <p:extLst>
      <p:ext uri="{BB962C8B-B14F-4D97-AF65-F5344CB8AC3E}">
        <p14:creationId xmlns:p14="http://schemas.microsoft.com/office/powerpoint/2010/main" val="2619113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69</a:t>
            </a:fld>
            <a:endParaRPr lang="ja-JP" altLang="en-US"/>
          </a:p>
        </p:txBody>
      </p:sp>
    </p:spTree>
    <p:extLst>
      <p:ext uri="{BB962C8B-B14F-4D97-AF65-F5344CB8AC3E}">
        <p14:creationId xmlns:p14="http://schemas.microsoft.com/office/powerpoint/2010/main" val="25291422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74</a:t>
            </a:fld>
            <a:endParaRPr lang="ja-JP" altLang="en-US"/>
          </a:p>
        </p:txBody>
      </p:sp>
    </p:spTree>
    <p:extLst>
      <p:ext uri="{BB962C8B-B14F-4D97-AF65-F5344CB8AC3E}">
        <p14:creationId xmlns:p14="http://schemas.microsoft.com/office/powerpoint/2010/main" val="40437826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75</a:t>
            </a:fld>
            <a:endParaRPr lang="ja-JP" altLang="en-US"/>
          </a:p>
        </p:txBody>
      </p:sp>
    </p:spTree>
    <p:extLst>
      <p:ext uri="{BB962C8B-B14F-4D97-AF65-F5344CB8AC3E}">
        <p14:creationId xmlns:p14="http://schemas.microsoft.com/office/powerpoint/2010/main" val="2927376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76</a:t>
            </a:fld>
            <a:endParaRPr lang="ja-JP" altLang="en-US"/>
          </a:p>
        </p:txBody>
      </p:sp>
    </p:spTree>
    <p:extLst>
      <p:ext uri="{BB962C8B-B14F-4D97-AF65-F5344CB8AC3E}">
        <p14:creationId xmlns:p14="http://schemas.microsoft.com/office/powerpoint/2010/main" val="1806255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latin typeface="Meiryo UI" pitchFamily="50" charset="-128"/>
                <a:ea typeface="Meiryo UI" pitchFamily="50" charset="-128"/>
                <a:cs typeface="Meiryo UI" pitchFamily="50" charset="-128"/>
              </a:rPr>
              <a:t>ERS(Evaluated </a:t>
            </a:r>
            <a:r>
              <a:rPr lang="en-US" altLang="ja-JP">
                <a:latin typeface="Meiryo UI" pitchFamily="50" charset="-128"/>
                <a:ea typeface="Meiryo UI" pitchFamily="50" charset="-128"/>
                <a:cs typeface="Meiryo UI" pitchFamily="50" charset="-128"/>
              </a:rPr>
              <a:t>Receipt Settlement</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79</a:t>
            </a:fld>
            <a:endParaRPr lang="ja-JP" altLang="en-US"/>
          </a:p>
        </p:txBody>
      </p:sp>
    </p:spTree>
    <p:extLst>
      <p:ext uri="{BB962C8B-B14F-4D97-AF65-F5344CB8AC3E}">
        <p14:creationId xmlns:p14="http://schemas.microsoft.com/office/powerpoint/2010/main" val="2377122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latin typeface="Meiryo UI" pitchFamily="50" charset="-128"/>
                <a:ea typeface="Meiryo UI" pitchFamily="50" charset="-128"/>
                <a:cs typeface="Meiryo UI" pitchFamily="50" charset="-128"/>
              </a:rPr>
              <a:t>ERS(Evaluated Receipt Settlement</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80</a:t>
            </a:fld>
            <a:endParaRPr lang="ja-JP" altLang="en-US"/>
          </a:p>
        </p:txBody>
      </p:sp>
    </p:spTree>
    <p:extLst>
      <p:ext uri="{BB962C8B-B14F-4D97-AF65-F5344CB8AC3E}">
        <p14:creationId xmlns:p14="http://schemas.microsoft.com/office/powerpoint/2010/main" val="10834958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latin typeface="Meiryo UI" pitchFamily="50" charset="-128"/>
                <a:ea typeface="Meiryo UI" pitchFamily="50" charset="-128"/>
                <a:cs typeface="Meiryo UI" pitchFamily="50" charset="-128"/>
              </a:rPr>
              <a:t>ERS(Evaluated Receipt Settlement</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81</a:t>
            </a:fld>
            <a:endParaRPr lang="ja-JP" altLang="en-US"/>
          </a:p>
        </p:txBody>
      </p:sp>
    </p:spTree>
    <p:extLst>
      <p:ext uri="{BB962C8B-B14F-4D97-AF65-F5344CB8AC3E}">
        <p14:creationId xmlns:p14="http://schemas.microsoft.com/office/powerpoint/2010/main" val="9393729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latin typeface="Meiryo UI" pitchFamily="50" charset="-128"/>
                <a:ea typeface="Meiryo UI" pitchFamily="50" charset="-128"/>
                <a:cs typeface="Meiryo UI" pitchFamily="50" charset="-128"/>
              </a:rPr>
              <a:t>ERS(Evaluated Receipt Settlement</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82</a:t>
            </a:fld>
            <a:endParaRPr lang="ja-JP" altLang="en-US"/>
          </a:p>
        </p:txBody>
      </p:sp>
    </p:spTree>
    <p:extLst>
      <p:ext uri="{BB962C8B-B14F-4D97-AF65-F5344CB8AC3E}">
        <p14:creationId xmlns:p14="http://schemas.microsoft.com/office/powerpoint/2010/main" val="3521166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A70AF475-FAB5-4896-A38B-6AB284D29091}" type="slidenum">
              <a:rPr lang="ja-JP" altLang="en-US" smtClean="0"/>
              <a:pPr>
                <a:defRPr/>
              </a:pPr>
              <a:t>84</a:t>
            </a:fld>
            <a:endParaRPr lang="ja-JP" altLang="en-US"/>
          </a:p>
        </p:txBody>
      </p:sp>
    </p:spTree>
    <p:extLst>
      <p:ext uri="{BB962C8B-B14F-4D97-AF65-F5344CB8AC3E}">
        <p14:creationId xmlns:p14="http://schemas.microsoft.com/office/powerpoint/2010/main" val="803015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表紙">
    <p:spTree>
      <p:nvGrpSpPr>
        <p:cNvPr id="1" name=""/>
        <p:cNvGrpSpPr/>
        <p:nvPr/>
      </p:nvGrpSpPr>
      <p:grpSpPr>
        <a:xfrm>
          <a:off x="0" y="0"/>
          <a:ext cx="0" cy="0"/>
          <a:chOff x="0" y="0"/>
          <a:chExt cx="0" cy="0"/>
        </a:xfrm>
      </p:grpSpPr>
      <p:sp>
        <p:nvSpPr>
          <p:cNvPr id="5" name="正方形/長方形 2"/>
          <p:cNvSpPr/>
          <p:nvPr/>
        </p:nvSpPr>
        <p:spPr>
          <a:xfrm>
            <a:off x="0" y="0"/>
            <a:ext cx="9144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6" name="正方形/長方形 2"/>
          <p:cNvSpPr/>
          <p:nvPr/>
        </p:nvSpPr>
        <p:spPr>
          <a:xfrm>
            <a:off x="0" y="0"/>
            <a:ext cx="9144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7" name="正方形/長方形 3"/>
          <p:cNvSpPr/>
          <p:nvPr/>
        </p:nvSpPr>
        <p:spPr>
          <a:xfrm>
            <a:off x="0" y="4838700"/>
            <a:ext cx="9144000" cy="330200"/>
          </a:xfrm>
          <a:prstGeom prst="rect">
            <a:avLst/>
          </a:prstGeom>
          <a:gradFill flip="none" rotWithShape="1">
            <a:gsLst>
              <a:gs pos="0">
                <a:schemeClr val="bg1">
                  <a:lumMod val="85000"/>
                </a:schemeClr>
              </a:gs>
              <a:gs pos="50000">
                <a:schemeClr val="bg1">
                  <a:lumMod val="95000"/>
                </a:schemeClr>
              </a:gs>
              <a:gs pos="100000">
                <a:schemeClr val="bg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8" name="正方形/長方形 4"/>
          <p:cNvSpPr/>
          <p:nvPr/>
        </p:nvSpPr>
        <p:spPr>
          <a:xfrm>
            <a:off x="0" y="5168900"/>
            <a:ext cx="9144000" cy="1689100"/>
          </a:xfrm>
          <a:prstGeom prst="rect">
            <a:avLst/>
          </a:prstGeom>
          <a:gradFill flip="none" rotWithShape="1">
            <a:gsLst>
              <a:gs pos="0">
                <a:schemeClr val="bg1">
                  <a:lumMod val="85000"/>
                </a:schemeClr>
              </a:gs>
              <a:gs pos="50000">
                <a:schemeClr val="bg1">
                  <a:lumMod val="95000"/>
                </a:schemeClr>
              </a:gs>
              <a:gs pos="100000">
                <a:schemeClr val="bg1"/>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1" name="正方形/長方形 6"/>
          <p:cNvSpPr/>
          <p:nvPr/>
        </p:nvSpPr>
        <p:spPr>
          <a:xfrm>
            <a:off x="0" y="2"/>
            <a:ext cx="9144000" cy="404813"/>
          </a:xfrm>
          <a:prstGeom prst="rect">
            <a:avLst/>
          </a:prstGeom>
          <a:gradFill flip="none" rotWithShape="1">
            <a:gsLst>
              <a:gs pos="22000">
                <a:schemeClr val="accent5">
                  <a:lumMod val="40000"/>
                  <a:lumOff val="60000"/>
                </a:schemeClr>
              </a:gs>
              <a:gs pos="0">
                <a:schemeClr val="bg1"/>
              </a:gs>
              <a:gs pos="45000">
                <a:schemeClr val="accent5"/>
              </a:gs>
              <a:gs pos="100000">
                <a:schemeClr val="accent1"/>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 name="テキスト プレースホルダー 12"/>
          <p:cNvSpPr>
            <a:spLocks noGrp="1"/>
          </p:cNvSpPr>
          <p:nvPr>
            <p:ph type="body" sz="quarter" idx="11"/>
          </p:nvPr>
        </p:nvSpPr>
        <p:spPr>
          <a:xfrm>
            <a:off x="635001" y="1492250"/>
            <a:ext cx="3937000" cy="557213"/>
          </a:xfrm>
          <a:prstGeom prst="rect">
            <a:avLst/>
          </a:prstGeom>
        </p:spPr>
        <p:txBody>
          <a:bodyPr/>
          <a:lstStyle>
            <a:lvl1pPr marL="0" indent="0">
              <a:buNone/>
              <a:defRPr sz="2800" b="1" baseline="0">
                <a:latin typeface="Tahoma" pitchFamily="34" charset="0"/>
                <a:ea typeface="MS UI Gothic" pitchFamily="50" charset="-128"/>
              </a:defRPr>
            </a:lvl1pPr>
          </a:lstStyle>
          <a:p>
            <a:pPr lvl="0"/>
            <a:r>
              <a:rPr lang="ja-JP" altLang="en-US"/>
              <a:t>マスタ テキストの書式設定</a:t>
            </a:r>
          </a:p>
        </p:txBody>
      </p:sp>
      <p:sp>
        <p:nvSpPr>
          <p:cNvPr id="10" name="テキスト プレースホルダー 14"/>
          <p:cNvSpPr>
            <a:spLocks noGrp="1"/>
          </p:cNvSpPr>
          <p:nvPr>
            <p:ph type="body" sz="quarter" idx="12"/>
          </p:nvPr>
        </p:nvSpPr>
        <p:spPr>
          <a:xfrm>
            <a:off x="635001" y="5380524"/>
            <a:ext cx="3937000" cy="1212783"/>
          </a:xfrm>
          <a:prstGeom prst="rect">
            <a:avLst/>
          </a:prstGeom>
        </p:spPr>
        <p:txBody>
          <a:bodyPr/>
          <a:lstStyle>
            <a:lvl1pPr marL="0" indent="0">
              <a:spcBef>
                <a:spcPts val="0"/>
              </a:spcBef>
              <a:spcAft>
                <a:spcPts val="360"/>
              </a:spcAft>
              <a:buNone/>
              <a:defRPr sz="1200" baseline="0">
                <a:solidFill>
                  <a:schemeClr val="tx1">
                    <a:lumMod val="65000"/>
                    <a:lumOff val="35000"/>
                  </a:schemeClr>
                </a:solidFill>
                <a:latin typeface="Tahoma" pitchFamily="34" charset="0"/>
                <a:ea typeface="MS UI Gothic" pitchFamily="50" charset="-128"/>
              </a:defRPr>
            </a:lvl1pPr>
          </a:lstStyle>
          <a:p>
            <a:pPr lvl="0"/>
            <a:r>
              <a:rPr lang="ja-JP" altLang="en-US"/>
              <a:t>マスタ テキストの書式設定</a:t>
            </a:r>
          </a:p>
        </p:txBody>
      </p:sp>
      <p:sp>
        <p:nvSpPr>
          <p:cNvPr id="12" name="テキスト プレースホルダー 11"/>
          <p:cNvSpPr>
            <a:spLocks noGrp="1"/>
          </p:cNvSpPr>
          <p:nvPr>
            <p:ph type="body" sz="quarter" idx="13"/>
          </p:nvPr>
        </p:nvSpPr>
        <p:spPr>
          <a:xfrm>
            <a:off x="635000" y="3087584"/>
            <a:ext cx="5008563" cy="1751116"/>
          </a:xfrm>
          <a:prstGeom prst="rect">
            <a:avLst/>
          </a:prstGeom>
        </p:spPr>
        <p:txBody>
          <a:bodyPr/>
          <a:lstStyle>
            <a:lvl1pPr marL="0" indent="0">
              <a:buNone/>
              <a:defRPr sz="3200" b="1" baseline="0">
                <a:solidFill>
                  <a:srgbClr val="0070C0"/>
                </a:solidFill>
                <a:latin typeface="Tahoma" pitchFamily="34" charset="0"/>
                <a:ea typeface="MS UI Gothic" pitchFamily="50" charset="-128"/>
              </a:defRPr>
            </a:lvl1pPr>
          </a:lstStyle>
          <a:p>
            <a:pPr lvl="0"/>
            <a:r>
              <a:rPr lang="ja-JP" altLang="en-US"/>
              <a:t>マスタ テキストの書式設定</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箇条書き">
    <p:spTree>
      <p:nvGrpSpPr>
        <p:cNvPr id="1" name=""/>
        <p:cNvGrpSpPr/>
        <p:nvPr/>
      </p:nvGrpSpPr>
      <p:grpSpPr>
        <a:xfrm>
          <a:off x="0" y="0"/>
          <a:ext cx="0" cy="0"/>
          <a:chOff x="0" y="0"/>
          <a:chExt cx="0" cy="0"/>
        </a:xfrm>
      </p:grpSpPr>
      <p:sp>
        <p:nvSpPr>
          <p:cNvPr id="2" name="タイトル 1"/>
          <p:cNvSpPr>
            <a:spLocks noGrp="1"/>
          </p:cNvSpPr>
          <p:nvPr>
            <p:ph type="title"/>
          </p:nvPr>
        </p:nvSpPr>
        <p:spPr>
          <a:noFill/>
          <a:ln>
            <a:noFill/>
          </a:ln>
        </p:spPr>
        <p:txBody>
          <a:bodyPr/>
          <a:lstStyle>
            <a:lvl1pPr>
              <a:defRPr lang="ja-JP" altLang="en-US" b="1">
                <a:latin typeface="+mj-lt"/>
              </a:defRPr>
            </a:lvl1pPr>
          </a:lstStyle>
          <a:p>
            <a:pPr lvl="0"/>
            <a:r>
              <a:rPr lang="ja-JP" altLang="en-US"/>
              <a:t>マスタ タイトルの書式設定</a:t>
            </a:r>
            <a:endParaRPr lang="ja-JP" altLang="en-US" dirty="0"/>
          </a:p>
        </p:txBody>
      </p:sp>
      <p:sp>
        <p:nvSpPr>
          <p:cNvPr id="3" name="コンテンツ プレースホルダ 2"/>
          <p:cNvSpPr>
            <a:spLocks noGrp="1"/>
          </p:cNvSpPr>
          <p:nvPr>
            <p:ph idx="1"/>
          </p:nvPr>
        </p:nvSpPr>
        <p:spPr>
          <a:xfrm>
            <a:off x="641348" y="1397000"/>
            <a:ext cx="7862889" cy="5081588"/>
          </a:xfrm>
          <a:prstGeom prst="rect">
            <a:avLst/>
          </a:prstGeom>
        </p:spPr>
        <p:txBody>
          <a:bodyPr/>
          <a:lstStyle>
            <a:lvl1pPr marL="342900" indent="-342900">
              <a:spcBef>
                <a:spcPts val="600"/>
              </a:spcBef>
              <a:spcAft>
                <a:spcPts val="600"/>
              </a:spcAft>
              <a:buFont typeface="Wingdings" pitchFamily="2" charset="2"/>
              <a:buChar char="Ø"/>
              <a:defRPr b="1">
                <a:solidFill>
                  <a:schemeClr val="accent5"/>
                </a:solidFill>
                <a:latin typeface="+mn-lt"/>
                <a:ea typeface="+mn-ea"/>
                <a:cs typeface="Times New Roman" pitchFamily="18" charset="0"/>
              </a:defRPr>
            </a:lvl1pPr>
            <a:lvl2pPr marL="742950" indent="-285750">
              <a:spcBef>
                <a:spcPts val="0"/>
              </a:spcBef>
              <a:spcAft>
                <a:spcPts val="600"/>
              </a:spcAft>
              <a:buFont typeface="Wingdings" pitchFamily="2" charset="2"/>
              <a:buChar char="n"/>
              <a:defRPr sz="2000" b="1">
                <a:latin typeface="+mn-lt"/>
                <a:ea typeface="+mn-ea"/>
                <a:cs typeface="Times New Roman" pitchFamily="18" charset="0"/>
              </a:defRPr>
            </a:lvl2pPr>
            <a:lvl3pPr marL="1143000" indent="-228600">
              <a:spcBef>
                <a:spcPts val="0"/>
              </a:spcBef>
              <a:spcAft>
                <a:spcPts val="600"/>
              </a:spcAft>
              <a:buFont typeface="Wingdings" pitchFamily="2" charset="2"/>
              <a:buChar char="l"/>
              <a:defRPr sz="1600">
                <a:latin typeface="+mn-lt"/>
                <a:ea typeface="+mn-ea"/>
                <a:cs typeface="Times New Roman" pitchFamily="18" charset="0"/>
              </a:defRPr>
            </a:lvl3pPr>
            <a:lvl4pPr marL="1701800" indent="-330200">
              <a:spcBef>
                <a:spcPts val="0"/>
              </a:spcBef>
              <a:spcAft>
                <a:spcPts val="600"/>
              </a:spcAft>
              <a:buFont typeface="Wingdings" pitchFamily="2" charset="2"/>
              <a:buChar char="u"/>
              <a:defRPr sz="1400">
                <a:latin typeface="+mn-lt"/>
                <a:ea typeface="+mn-ea"/>
                <a:cs typeface="Times New Roman" pitchFamily="18" charset="0"/>
              </a:defRPr>
            </a:lvl4pPr>
            <a:lvl5pPr>
              <a:spcBef>
                <a:spcPts val="0"/>
              </a:spcBef>
              <a:spcAft>
                <a:spcPts val="600"/>
              </a:spcAft>
              <a:defRPr sz="1200">
                <a:latin typeface="+mn-lt"/>
                <a:ea typeface="+mn-ea"/>
                <a:cs typeface="Times New Roman" pitchFamily="18" charset="0"/>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文章">
    <p:spTree>
      <p:nvGrpSpPr>
        <p:cNvPr id="1" name=""/>
        <p:cNvGrpSpPr/>
        <p:nvPr/>
      </p:nvGrpSpPr>
      <p:grpSpPr>
        <a:xfrm>
          <a:off x="0" y="0"/>
          <a:ext cx="0" cy="0"/>
          <a:chOff x="0" y="0"/>
          <a:chExt cx="0" cy="0"/>
        </a:xfrm>
      </p:grpSpPr>
      <p:sp>
        <p:nvSpPr>
          <p:cNvPr id="2" name="タイトル 1"/>
          <p:cNvSpPr>
            <a:spLocks noGrp="1"/>
          </p:cNvSpPr>
          <p:nvPr>
            <p:ph type="title"/>
          </p:nvPr>
        </p:nvSpPr>
        <p:spPr>
          <a:noFill/>
          <a:ln>
            <a:noFill/>
          </a:ln>
        </p:spPr>
        <p:txBody>
          <a:bodyPr/>
          <a:lstStyle>
            <a:lvl1pPr>
              <a:defRPr lang="ja-JP" altLang="en-US" b="1">
                <a:latin typeface="+mj-lt"/>
              </a:defRPr>
            </a:lvl1pPr>
          </a:lstStyle>
          <a:p>
            <a:pPr lvl="0"/>
            <a:r>
              <a:rPr lang="ja-JP" altLang="en-US"/>
              <a:t>マスタ タイトルの書式設定</a:t>
            </a:r>
            <a:endParaRPr lang="ja-JP" altLang="en-US" dirty="0"/>
          </a:p>
        </p:txBody>
      </p:sp>
      <p:sp>
        <p:nvSpPr>
          <p:cNvPr id="3" name="コンテンツ プレースホルダ 2"/>
          <p:cNvSpPr>
            <a:spLocks noGrp="1"/>
          </p:cNvSpPr>
          <p:nvPr>
            <p:ph idx="1"/>
          </p:nvPr>
        </p:nvSpPr>
        <p:spPr>
          <a:xfrm>
            <a:off x="173038" y="1231900"/>
            <a:ext cx="8704262" cy="5246688"/>
          </a:xfrm>
          <a:prstGeom prst="rect">
            <a:avLst/>
          </a:prstGeom>
        </p:spPr>
        <p:txBody>
          <a:bodyPr/>
          <a:lstStyle>
            <a:lvl1pPr marL="355600" indent="-355600">
              <a:spcBef>
                <a:spcPts val="0"/>
              </a:spcBef>
              <a:spcAft>
                <a:spcPts val="900"/>
              </a:spcAft>
              <a:buFont typeface="Wingdings" pitchFamily="2" charset="2"/>
              <a:buChar char="Ø"/>
              <a:defRPr sz="2000" b="1" baseline="0">
                <a:solidFill>
                  <a:schemeClr val="accent5"/>
                </a:solidFill>
                <a:latin typeface="+mn-lt"/>
                <a:ea typeface="+mn-ea"/>
                <a:cs typeface="Times New Roman" pitchFamily="18" charset="0"/>
              </a:defRPr>
            </a:lvl1pPr>
            <a:lvl2pPr marL="533400" indent="-266700">
              <a:spcBef>
                <a:spcPts val="0"/>
              </a:spcBef>
              <a:spcAft>
                <a:spcPts val="900"/>
              </a:spcAft>
              <a:buFont typeface="Wingdings" pitchFamily="2" charset="2"/>
              <a:buChar char="n"/>
              <a:defRPr sz="1600" b="0">
                <a:latin typeface="+mn-lt"/>
                <a:ea typeface="+mn-ea"/>
                <a:cs typeface="Times New Roman" pitchFamily="18" charset="0"/>
              </a:defRPr>
            </a:lvl2pPr>
            <a:lvl3pPr marL="812800" indent="-190500">
              <a:spcBef>
                <a:spcPts val="0"/>
              </a:spcBef>
              <a:spcAft>
                <a:spcPts val="900"/>
              </a:spcAft>
              <a:buFont typeface="Wingdings" pitchFamily="2" charset="2"/>
              <a:buChar char="l"/>
              <a:defRPr sz="1400">
                <a:latin typeface="+mn-lt"/>
                <a:ea typeface="+mn-ea"/>
                <a:cs typeface="Times New Roman" pitchFamily="18" charset="0"/>
              </a:defRPr>
            </a:lvl3pPr>
            <a:lvl4pPr marL="1079500" indent="-266700">
              <a:spcBef>
                <a:spcPts val="0"/>
              </a:spcBef>
              <a:spcAft>
                <a:spcPts val="900"/>
              </a:spcAft>
              <a:buFont typeface="Wingdings" pitchFamily="2" charset="2"/>
              <a:buChar char="u"/>
              <a:defRPr sz="1200">
                <a:latin typeface="+mn-lt"/>
                <a:ea typeface="+mn-ea"/>
                <a:cs typeface="Times New Roman" pitchFamily="18" charset="0"/>
              </a:defRPr>
            </a:lvl4pPr>
            <a:lvl5pPr marL="1257300" indent="-177800">
              <a:spcBef>
                <a:spcPts val="0"/>
              </a:spcBef>
              <a:spcAft>
                <a:spcPts val="900"/>
              </a:spcAft>
              <a:tabLst/>
              <a:defRPr sz="1000">
                <a:latin typeface="+mn-lt"/>
                <a:ea typeface="+mn-ea"/>
                <a:cs typeface="Times New Roman" pitchFamily="18" charset="0"/>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b="1">
                <a:latin typeface="+mj-lt"/>
              </a:defRPr>
            </a:lvl1pPr>
          </a:lstStyle>
          <a:p>
            <a:r>
              <a:rPr lang="ja-JP" altLang="en-US"/>
              <a:t>マスタ タイトルの書式設定</a:t>
            </a:r>
            <a:endParaRPr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次">
    <p:spTree>
      <p:nvGrpSpPr>
        <p:cNvPr id="1" name=""/>
        <p:cNvGrpSpPr/>
        <p:nvPr/>
      </p:nvGrpSpPr>
      <p:grpSpPr>
        <a:xfrm>
          <a:off x="0" y="0"/>
          <a:ext cx="0" cy="0"/>
          <a:chOff x="0" y="0"/>
          <a:chExt cx="0" cy="0"/>
        </a:xfrm>
      </p:grpSpPr>
      <p:sp>
        <p:nvSpPr>
          <p:cNvPr id="4" name="正方形/長方形 4"/>
          <p:cNvSpPr/>
          <p:nvPr/>
        </p:nvSpPr>
        <p:spPr>
          <a:xfrm>
            <a:off x="0" y="0"/>
            <a:ext cx="9144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5" name="Rectangle 141"/>
          <p:cNvSpPr>
            <a:spLocks noChangeArrowheads="1"/>
          </p:cNvSpPr>
          <p:nvPr/>
        </p:nvSpPr>
        <p:spPr bwMode="auto">
          <a:xfrm>
            <a:off x="-12699" y="0"/>
            <a:ext cx="1524000" cy="6858000"/>
          </a:xfrm>
          <a:prstGeom prst="rect">
            <a:avLst/>
          </a:prstGeom>
          <a:gradFill flip="none" rotWithShape="1">
            <a:gsLst>
              <a:gs pos="0">
                <a:srgbClr val="00589A"/>
              </a:gs>
              <a:gs pos="100000">
                <a:srgbClr val="8FCFFF"/>
              </a:gs>
              <a:gs pos="75000">
                <a:srgbClr val="008DF6"/>
              </a:gs>
            </a:gsLst>
            <a:lin ang="5400000" scaled="1"/>
            <a:tileRect/>
          </a:gradFill>
          <a:effectLst>
            <a:outerShdw blurRad="76200" dist="76200" dir="2700000" rotWithShape="0">
              <a:srgbClr val="000000">
                <a:alpha val="50000"/>
              </a:srgbClr>
            </a:outerShdw>
          </a:effectLst>
          <a:scene3d>
            <a:camera prst="orthographicFront"/>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sz="1400" b="1">
              <a:solidFill>
                <a:schemeClr val="bg1"/>
              </a:solidFill>
            </a:endParaRPr>
          </a:p>
        </p:txBody>
      </p:sp>
      <p:sp>
        <p:nvSpPr>
          <p:cNvPr id="6" name="正方形/長方形 5"/>
          <p:cNvSpPr/>
          <p:nvPr/>
        </p:nvSpPr>
        <p:spPr>
          <a:xfrm>
            <a:off x="0" y="-12700"/>
            <a:ext cx="9144000" cy="1079500"/>
          </a:xfrm>
          <a:prstGeom prst="rect">
            <a:avLst/>
          </a:prstGeom>
          <a:gradFill flip="none" rotWithShape="1">
            <a:gsLst>
              <a:gs pos="100000">
                <a:srgbClr val="5AC5FE"/>
              </a:gs>
              <a:gs pos="21000">
                <a:srgbClr val="FFFFFF"/>
              </a:gs>
            </a:gsLst>
            <a:lin ang="0" scaled="1"/>
            <a:tileRect/>
          </a:gradFill>
          <a:ln>
            <a:noFill/>
          </a:ln>
          <a:effectLst>
            <a:outerShdw blurRad="76200" dist="76200" dir="2700000" algn="tl" rotWithShape="0">
              <a:prstClr val="black">
                <a:alpha val="40000"/>
              </a:prstClr>
            </a:outerShdw>
          </a:effectLst>
        </p:spPr>
        <p:txBody>
          <a:bodyPr anchor="ctr"/>
          <a:lstStyle/>
          <a:p>
            <a:pPr algn="ctr" fontAlgn="auto">
              <a:spcBef>
                <a:spcPts val="0"/>
              </a:spcBef>
              <a:spcAft>
                <a:spcPts val="0"/>
              </a:spcAft>
              <a:defRPr/>
            </a:pPr>
            <a:endParaRPr lang="ja-JP" altLang="en-US">
              <a:solidFill>
                <a:srgbClr val="FFFFFF"/>
              </a:solidFill>
              <a:latin typeface="Calibri" pitchFamily="34" charset="0"/>
              <a:ea typeface="+mn-ea"/>
            </a:endParaRPr>
          </a:p>
        </p:txBody>
      </p:sp>
      <p:pic>
        <p:nvPicPr>
          <p:cNvPr id="7" name="Picture 9" descr="jfelogo_systems_e16"/>
          <p:cNvPicPr>
            <a:picLocks noChangeAspect="1" noChangeArrowheads="1"/>
          </p:cNvPicPr>
          <p:nvPr/>
        </p:nvPicPr>
        <p:blipFill>
          <a:blip r:embed="rId2" cstate="print"/>
          <a:srcRect/>
          <a:stretch>
            <a:fillRect/>
          </a:stretch>
        </p:blipFill>
        <p:spPr bwMode="auto">
          <a:xfrm>
            <a:off x="144464" y="192088"/>
            <a:ext cx="1209675" cy="698500"/>
          </a:xfrm>
          <a:prstGeom prst="rect">
            <a:avLst/>
          </a:prstGeom>
          <a:noFill/>
          <a:ln w="9525">
            <a:noFill/>
            <a:miter lim="800000"/>
            <a:headEnd/>
            <a:tailEnd/>
          </a:ln>
        </p:spPr>
      </p:pic>
      <p:sp>
        <p:nvSpPr>
          <p:cNvPr id="8" name="Text Box 7"/>
          <p:cNvSpPr txBox="1">
            <a:spLocks noChangeArrowheads="1"/>
          </p:cNvSpPr>
          <p:nvPr/>
        </p:nvSpPr>
        <p:spPr bwMode="auto">
          <a:xfrm>
            <a:off x="3005139" y="6619876"/>
            <a:ext cx="3066865" cy="230832"/>
          </a:xfrm>
          <a:prstGeom prst="rect">
            <a:avLst/>
          </a:prstGeom>
          <a:noFill/>
          <a:ln w="9525">
            <a:noFill/>
            <a:miter lim="800000"/>
            <a:headEnd/>
            <a:tailEnd/>
          </a:ln>
          <a:effectLst/>
        </p:spPr>
        <p:txBody>
          <a:bodyPr wrap="none">
            <a:spAutoFit/>
          </a:bodyPr>
          <a:lstStyle>
            <a:lvl1pPr>
              <a:defRPr kumimoji="1" sz="2400">
                <a:solidFill>
                  <a:schemeClr val="tx1"/>
                </a:solidFill>
                <a:latin typeface="Arial" pitchFamily="34" charset="0"/>
                <a:ea typeface="メイリオ" pitchFamily="50" charset="-128"/>
              </a:defRPr>
            </a:lvl1pPr>
            <a:lvl2pPr marL="742950" indent="-285750">
              <a:defRPr kumimoji="1" sz="2400">
                <a:solidFill>
                  <a:schemeClr val="tx1"/>
                </a:solidFill>
                <a:latin typeface="Arial" pitchFamily="34" charset="0"/>
                <a:ea typeface="メイリオ" pitchFamily="50" charset="-128"/>
              </a:defRPr>
            </a:lvl2pPr>
            <a:lvl3pPr marL="1143000" indent="-228600">
              <a:defRPr kumimoji="1" sz="2400">
                <a:solidFill>
                  <a:schemeClr val="tx1"/>
                </a:solidFill>
                <a:latin typeface="Arial" pitchFamily="34" charset="0"/>
                <a:ea typeface="メイリオ" pitchFamily="50" charset="-128"/>
              </a:defRPr>
            </a:lvl3pPr>
            <a:lvl4pPr marL="1600200" indent="-228600">
              <a:defRPr kumimoji="1" sz="2400">
                <a:solidFill>
                  <a:schemeClr val="tx1"/>
                </a:solidFill>
                <a:latin typeface="Arial" pitchFamily="34" charset="0"/>
                <a:ea typeface="メイリオ" pitchFamily="50" charset="-128"/>
              </a:defRPr>
            </a:lvl4pPr>
            <a:lvl5pPr marL="2057400" indent="-228600">
              <a:defRPr kumimoji="1" sz="2400">
                <a:solidFill>
                  <a:schemeClr val="tx1"/>
                </a:solidFill>
                <a:latin typeface="Arial" pitchFamily="34" charset="0"/>
                <a:ea typeface="メイリオ" pitchFamily="50" charset="-128"/>
              </a:defRPr>
            </a:lvl5pPr>
            <a:lvl6pPr marL="2514600" indent="-228600" algn="ctr" fontAlgn="base">
              <a:spcBef>
                <a:spcPct val="0"/>
              </a:spcBef>
              <a:spcAft>
                <a:spcPct val="0"/>
              </a:spcAft>
              <a:defRPr kumimoji="1" sz="2400">
                <a:solidFill>
                  <a:schemeClr val="tx1"/>
                </a:solidFill>
                <a:latin typeface="Arial" pitchFamily="34" charset="0"/>
                <a:ea typeface="メイリオ" pitchFamily="50" charset="-128"/>
              </a:defRPr>
            </a:lvl6pPr>
            <a:lvl7pPr marL="2971800" indent="-228600" algn="ctr" fontAlgn="base">
              <a:spcBef>
                <a:spcPct val="0"/>
              </a:spcBef>
              <a:spcAft>
                <a:spcPct val="0"/>
              </a:spcAft>
              <a:defRPr kumimoji="1" sz="2400">
                <a:solidFill>
                  <a:schemeClr val="tx1"/>
                </a:solidFill>
                <a:latin typeface="Arial" pitchFamily="34" charset="0"/>
                <a:ea typeface="メイリオ" pitchFamily="50" charset="-128"/>
              </a:defRPr>
            </a:lvl7pPr>
            <a:lvl8pPr marL="3429000" indent="-228600" algn="ctr" fontAlgn="base">
              <a:spcBef>
                <a:spcPct val="0"/>
              </a:spcBef>
              <a:spcAft>
                <a:spcPct val="0"/>
              </a:spcAft>
              <a:defRPr kumimoji="1" sz="2400">
                <a:solidFill>
                  <a:schemeClr val="tx1"/>
                </a:solidFill>
                <a:latin typeface="Arial" pitchFamily="34" charset="0"/>
                <a:ea typeface="メイリオ" pitchFamily="50" charset="-128"/>
              </a:defRPr>
            </a:lvl8pPr>
            <a:lvl9pPr marL="3886200" indent="-228600" algn="ctr" fontAlgn="base">
              <a:spcBef>
                <a:spcPct val="0"/>
              </a:spcBef>
              <a:spcAft>
                <a:spcPct val="0"/>
              </a:spcAft>
              <a:defRPr kumimoji="1" sz="2400">
                <a:solidFill>
                  <a:schemeClr val="tx1"/>
                </a:solidFill>
                <a:latin typeface="Arial" pitchFamily="34" charset="0"/>
                <a:ea typeface="メイリオ" pitchFamily="50" charset="-128"/>
              </a:defRPr>
            </a:lvl9pPr>
          </a:lstStyle>
          <a:p>
            <a:pPr fontAlgn="auto">
              <a:spcBef>
                <a:spcPts val="0"/>
              </a:spcBef>
              <a:spcAft>
                <a:spcPts val="0"/>
              </a:spcAft>
              <a:defRPr/>
            </a:pPr>
            <a:r>
              <a:rPr lang="en-US" altLang="ja-JP" sz="900" b="1" dirty="0">
                <a:solidFill>
                  <a:schemeClr val="tx1">
                    <a:lumMod val="50000"/>
                    <a:lumOff val="50000"/>
                  </a:schemeClr>
                </a:solidFill>
                <a:latin typeface="Tahoma" pitchFamily="34" charset="0"/>
                <a:ea typeface="Tahoma" pitchFamily="34" charset="0"/>
                <a:cs typeface="Tahoma" pitchFamily="34" charset="0"/>
              </a:rPr>
              <a:t>Copyright © JFE</a:t>
            </a:r>
            <a:r>
              <a:rPr lang="ja-JP" altLang="en-US" sz="900" b="1" dirty="0">
                <a:solidFill>
                  <a:schemeClr val="tx1">
                    <a:lumMod val="50000"/>
                    <a:lumOff val="50000"/>
                  </a:schemeClr>
                </a:solidFill>
                <a:latin typeface="Tahoma" pitchFamily="34" charset="0"/>
                <a:ea typeface="Tahoma" pitchFamily="34" charset="0"/>
                <a:cs typeface="Tahoma" pitchFamily="34" charset="0"/>
              </a:rPr>
              <a:t> </a:t>
            </a:r>
            <a:r>
              <a:rPr lang="en-US" altLang="ja-JP" sz="900" b="1" dirty="0">
                <a:solidFill>
                  <a:schemeClr val="tx1">
                    <a:lumMod val="50000"/>
                    <a:lumOff val="50000"/>
                  </a:schemeClr>
                </a:solidFill>
                <a:latin typeface="Tahoma" pitchFamily="34" charset="0"/>
                <a:ea typeface="Tahoma" pitchFamily="34" charset="0"/>
                <a:cs typeface="Tahoma" pitchFamily="34" charset="0"/>
              </a:rPr>
              <a:t>Systems, Inc. All rights reserved.</a:t>
            </a:r>
          </a:p>
        </p:txBody>
      </p:sp>
      <p:sp>
        <p:nvSpPr>
          <p:cNvPr id="10" name="Text Box 9"/>
          <p:cNvSpPr txBox="1">
            <a:spLocks noChangeArrowheads="1"/>
          </p:cNvSpPr>
          <p:nvPr/>
        </p:nvSpPr>
        <p:spPr bwMode="auto">
          <a:xfrm>
            <a:off x="8653724" y="6613981"/>
            <a:ext cx="301365" cy="215444"/>
          </a:xfrm>
          <a:prstGeom prst="rect">
            <a:avLst/>
          </a:prstGeom>
          <a:noFill/>
          <a:ln w="9525">
            <a:noFill/>
            <a:miter lim="800000"/>
            <a:headEnd/>
            <a:tailEnd/>
          </a:ln>
          <a:effectLst/>
        </p:spPr>
        <p:txBody>
          <a:bodyPr wrap="none" lIns="0" tIns="0" rIns="0" bIns="0" anchor="b">
            <a:spAutoFit/>
          </a:bodyPr>
          <a:lstStyle/>
          <a:p>
            <a:pPr algn="r">
              <a:defRPr/>
            </a:pPr>
            <a:fld id="{82F04900-E4E5-4D3F-B9C8-091986AD39F2}" type="slidenum">
              <a:rPr lang="en-US" altLang="ja-JP" sz="1400" b="1">
                <a:solidFill>
                  <a:srgbClr val="7F7F7F"/>
                </a:solidFill>
                <a:latin typeface="Tahoma" pitchFamily="34" charset="0"/>
                <a:ea typeface="MS UI Gothic" pitchFamily="50" charset="-128"/>
                <a:cs typeface="Tahoma" pitchFamily="34" charset="0"/>
              </a:rPr>
              <a:pPr algn="r">
                <a:defRPr/>
              </a:pPr>
              <a:t>‹#›</a:t>
            </a:fld>
            <a:endParaRPr lang="en-US" altLang="ja-JP" sz="1400" b="1">
              <a:solidFill>
                <a:srgbClr val="7F7F7F"/>
              </a:solidFill>
              <a:latin typeface="Tahoma" pitchFamily="34" charset="0"/>
              <a:ea typeface="MS UI Gothic" pitchFamily="50" charset="-128"/>
              <a:cs typeface="Tahoma" pitchFamily="34" charset="0"/>
            </a:endParaRPr>
          </a:p>
        </p:txBody>
      </p:sp>
      <p:sp>
        <p:nvSpPr>
          <p:cNvPr id="11" name="Text Box 7"/>
          <p:cNvSpPr txBox="1">
            <a:spLocks noChangeArrowheads="1"/>
          </p:cNvSpPr>
          <p:nvPr/>
        </p:nvSpPr>
        <p:spPr bwMode="auto">
          <a:xfrm>
            <a:off x="6535738" y="6607177"/>
            <a:ext cx="2159566" cy="276999"/>
          </a:xfrm>
          <a:prstGeom prst="rect">
            <a:avLst/>
          </a:prstGeom>
          <a:noFill/>
          <a:ln w="9525">
            <a:noFill/>
            <a:miter lim="800000"/>
            <a:headEnd/>
            <a:tailEnd/>
          </a:ln>
          <a:effectLst/>
        </p:spPr>
        <p:txBody>
          <a:bodyPr wrap="none">
            <a:spAutoFit/>
          </a:bodyPr>
          <a:lstStyle>
            <a:lvl1pPr>
              <a:defRPr kumimoji="1" sz="2400">
                <a:solidFill>
                  <a:schemeClr val="tx1"/>
                </a:solidFill>
                <a:latin typeface="Arial" pitchFamily="34" charset="0"/>
                <a:ea typeface="メイリオ" pitchFamily="50" charset="-128"/>
              </a:defRPr>
            </a:lvl1pPr>
            <a:lvl2pPr marL="742950" indent="-285750">
              <a:defRPr kumimoji="1" sz="2400">
                <a:solidFill>
                  <a:schemeClr val="tx1"/>
                </a:solidFill>
                <a:latin typeface="Arial" pitchFamily="34" charset="0"/>
                <a:ea typeface="メイリオ" pitchFamily="50" charset="-128"/>
              </a:defRPr>
            </a:lvl2pPr>
            <a:lvl3pPr marL="1143000" indent="-228600">
              <a:defRPr kumimoji="1" sz="2400">
                <a:solidFill>
                  <a:schemeClr val="tx1"/>
                </a:solidFill>
                <a:latin typeface="Arial" pitchFamily="34" charset="0"/>
                <a:ea typeface="メイリオ" pitchFamily="50" charset="-128"/>
              </a:defRPr>
            </a:lvl3pPr>
            <a:lvl4pPr marL="1600200" indent="-228600">
              <a:defRPr kumimoji="1" sz="2400">
                <a:solidFill>
                  <a:schemeClr val="tx1"/>
                </a:solidFill>
                <a:latin typeface="Arial" pitchFamily="34" charset="0"/>
                <a:ea typeface="メイリオ" pitchFamily="50" charset="-128"/>
              </a:defRPr>
            </a:lvl4pPr>
            <a:lvl5pPr marL="2057400" indent="-228600">
              <a:defRPr kumimoji="1" sz="2400">
                <a:solidFill>
                  <a:schemeClr val="tx1"/>
                </a:solidFill>
                <a:latin typeface="Arial" pitchFamily="34" charset="0"/>
                <a:ea typeface="メイリオ" pitchFamily="50" charset="-128"/>
              </a:defRPr>
            </a:lvl5pPr>
            <a:lvl6pPr marL="2514600" indent="-228600" algn="ctr" fontAlgn="base">
              <a:spcBef>
                <a:spcPct val="0"/>
              </a:spcBef>
              <a:spcAft>
                <a:spcPct val="0"/>
              </a:spcAft>
              <a:defRPr kumimoji="1" sz="2400">
                <a:solidFill>
                  <a:schemeClr val="tx1"/>
                </a:solidFill>
                <a:latin typeface="Arial" pitchFamily="34" charset="0"/>
                <a:ea typeface="メイリオ" pitchFamily="50" charset="-128"/>
              </a:defRPr>
            </a:lvl6pPr>
            <a:lvl7pPr marL="2971800" indent="-228600" algn="ctr" fontAlgn="base">
              <a:spcBef>
                <a:spcPct val="0"/>
              </a:spcBef>
              <a:spcAft>
                <a:spcPct val="0"/>
              </a:spcAft>
              <a:defRPr kumimoji="1" sz="2400">
                <a:solidFill>
                  <a:schemeClr val="tx1"/>
                </a:solidFill>
                <a:latin typeface="Arial" pitchFamily="34" charset="0"/>
                <a:ea typeface="メイリオ" pitchFamily="50" charset="-128"/>
              </a:defRPr>
            </a:lvl7pPr>
            <a:lvl8pPr marL="3429000" indent="-228600" algn="ctr" fontAlgn="base">
              <a:spcBef>
                <a:spcPct val="0"/>
              </a:spcBef>
              <a:spcAft>
                <a:spcPct val="0"/>
              </a:spcAft>
              <a:defRPr kumimoji="1" sz="2400">
                <a:solidFill>
                  <a:schemeClr val="tx1"/>
                </a:solidFill>
                <a:latin typeface="Arial" pitchFamily="34" charset="0"/>
                <a:ea typeface="メイリオ" pitchFamily="50" charset="-128"/>
              </a:defRPr>
            </a:lvl8pPr>
            <a:lvl9pPr marL="3886200" indent="-228600" algn="ctr" fontAlgn="base">
              <a:spcBef>
                <a:spcPct val="0"/>
              </a:spcBef>
              <a:spcAft>
                <a:spcPct val="0"/>
              </a:spcAft>
              <a:defRPr kumimoji="1" sz="2400">
                <a:solidFill>
                  <a:schemeClr val="tx1"/>
                </a:solidFill>
                <a:latin typeface="Arial" pitchFamily="34" charset="0"/>
                <a:ea typeface="メイリオ" pitchFamily="50" charset="-128"/>
              </a:defRPr>
            </a:lvl9pPr>
          </a:lstStyle>
          <a:p>
            <a:pPr fontAlgn="auto">
              <a:spcBef>
                <a:spcPts val="0"/>
              </a:spcBef>
              <a:spcAft>
                <a:spcPts val="0"/>
              </a:spcAft>
              <a:defRPr/>
            </a:pPr>
            <a:r>
              <a:rPr lang="en-US" altLang="ja-JP" sz="1200" b="1" dirty="0">
                <a:solidFill>
                  <a:schemeClr val="accent1"/>
                </a:solidFill>
                <a:latin typeface="Times New Roman" pitchFamily="18" charset="0"/>
                <a:ea typeface="Tahoma" pitchFamily="34" charset="0"/>
                <a:cs typeface="Times New Roman" pitchFamily="18" charset="0"/>
              </a:rPr>
              <a:t>Good Relation, Good Solution</a:t>
            </a:r>
          </a:p>
        </p:txBody>
      </p:sp>
      <p:sp>
        <p:nvSpPr>
          <p:cNvPr id="9" name="コンテンツ プレースホルダ 2"/>
          <p:cNvSpPr>
            <a:spLocks noGrp="1"/>
          </p:cNvSpPr>
          <p:nvPr>
            <p:ph idx="1"/>
          </p:nvPr>
        </p:nvSpPr>
        <p:spPr>
          <a:xfrm>
            <a:off x="2120963" y="1371600"/>
            <a:ext cx="6834347" cy="5235910"/>
          </a:xfrm>
          <a:prstGeom prst="rect">
            <a:avLst/>
          </a:prstGeom>
        </p:spPr>
        <p:txBody>
          <a:bodyPr/>
          <a:lstStyle>
            <a:lvl1pPr marL="457200" indent="-457200" defTabSz="444500">
              <a:spcBef>
                <a:spcPts val="300"/>
              </a:spcBef>
              <a:spcAft>
                <a:spcPts val="300"/>
              </a:spcAft>
              <a:buFont typeface="+mj-lt"/>
              <a:buAutoNum type="arabicPeriod"/>
              <a:defRPr sz="2200" b="1">
                <a:solidFill>
                  <a:schemeClr val="accent5"/>
                </a:solidFill>
                <a:latin typeface="+mn-lt"/>
                <a:ea typeface="+mn-ea"/>
                <a:cs typeface="Times New Roman" pitchFamily="18" charset="0"/>
              </a:defRPr>
            </a:lvl1pPr>
            <a:lvl2pPr marL="723900" indent="-279400">
              <a:spcBef>
                <a:spcPts val="300"/>
              </a:spcBef>
              <a:spcAft>
                <a:spcPts val="300"/>
              </a:spcAft>
              <a:buFont typeface="+mj-lt"/>
              <a:buAutoNum type="arabicPeriod"/>
              <a:defRPr sz="1600" b="1">
                <a:latin typeface="+mn-lt"/>
                <a:ea typeface="+mn-ea"/>
                <a:cs typeface="Times New Roman" pitchFamily="18" charset="0"/>
              </a:defRPr>
            </a:lvl2pPr>
            <a:lvl3pPr marL="990600" indent="-266700">
              <a:spcBef>
                <a:spcPts val="300"/>
              </a:spcBef>
              <a:spcAft>
                <a:spcPts val="300"/>
              </a:spcAft>
              <a:buFont typeface="+mj-lt"/>
              <a:buAutoNum type="arabicPeriod"/>
              <a:defRPr sz="1400">
                <a:latin typeface="+mn-lt"/>
                <a:ea typeface="+mn-ea"/>
                <a:cs typeface="Times New Roman" pitchFamily="18" charset="0"/>
              </a:defRPr>
            </a:lvl3pPr>
            <a:lvl4pPr marL="1168400" indent="-177800">
              <a:spcBef>
                <a:spcPts val="300"/>
              </a:spcBef>
              <a:spcAft>
                <a:spcPts val="300"/>
              </a:spcAft>
              <a:buFont typeface="+mj-lt"/>
              <a:buAutoNum type="arabicPeriod"/>
              <a:defRPr sz="1200">
                <a:latin typeface="+mn-lt"/>
                <a:ea typeface="+mn-ea"/>
                <a:cs typeface="Times New Roman" pitchFamily="18" charset="0"/>
              </a:defRPr>
            </a:lvl4pPr>
            <a:lvl5pPr marL="1346200" indent="-177800">
              <a:spcBef>
                <a:spcPts val="300"/>
              </a:spcBef>
              <a:spcAft>
                <a:spcPts val="300"/>
              </a:spcAft>
              <a:buFont typeface="+mj-lt"/>
              <a:buAutoNum type="arabicPeriod"/>
              <a:defRPr sz="1000">
                <a:latin typeface="+mn-lt"/>
                <a:ea typeface="+mn-ea"/>
                <a:cs typeface="Times New Roman" pitchFamily="18" charset="0"/>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14" name="タイトル 1"/>
          <p:cNvSpPr>
            <a:spLocks noGrp="1"/>
          </p:cNvSpPr>
          <p:nvPr>
            <p:ph type="title"/>
          </p:nvPr>
        </p:nvSpPr>
        <p:spPr>
          <a:xfrm>
            <a:off x="2070100" y="167159"/>
            <a:ext cx="5374910" cy="683743"/>
          </a:xfrm>
        </p:spPr>
        <p:txBody>
          <a:bodyPr/>
          <a:lstStyle>
            <a:lvl1pPr>
              <a:defRPr b="1">
                <a:solidFill>
                  <a:schemeClr val="accent5">
                    <a:lumMod val="75000"/>
                  </a:schemeClr>
                </a:solidFill>
                <a:latin typeface="+mj-lt"/>
              </a:defRPr>
            </a:lvl1pPr>
          </a:lstStyle>
          <a:p>
            <a:r>
              <a:rPr lang="ja-JP" altLang="en-US"/>
              <a:t>マスタ タイトルの書式設定</a:t>
            </a:r>
            <a:endParaRPr lang="ja-JP" altLang="en-US" dirty="0"/>
          </a:p>
        </p:txBody>
      </p:sp>
      <p:sp>
        <p:nvSpPr>
          <p:cNvPr id="12" name="正方形/長方形 11"/>
          <p:cNvSpPr/>
          <p:nvPr userDrawn="1"/>
        </p:nvSpPr>
        <p:spPr>
          <a:xfrm>
            <a:off x="0" y="0"/>
            <a:ext cx="9144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13" name="Rectangle 141"/>
          <p:cNvSpPr>
            <a:spLocks noChangeArrowheads="1"/>
          </p:cNvSpPr>
          <p:nvPr userDrawn="1"/>
        </p:nvSpPr>
        <p:spPr bwMode="auto">
          <a:xfrm>
            <a:off x="-12699" y="0"/>
            <a:ext cx="1524000" cy="6858000"/>
          </a:xfrm>
          <a:prstGeom prst="rect">
            <a:avLst/>
          </a:prstGeom>
          <a:gradFill flip="none" rotWithShape="1">
            <a:gsLst>
              <a:gs pos="0">
                <a:srgbClr val="00589A"/>
              </a:gs>
              <a:gs pos="100000">
                <a:srgbClr val="8FCFFF"/>
              </a:gs>
              <a:gs pos="75000">
                <a:srgbClr val="008DF6"/>
              </a:gs>
            </a:gsLst>
            <a:lin ang="5400000" scaled="1"/>
            <a:tileRect/>
          </a:gradFill>
          <a:effectLst>
            <a:outerShdw blurRad="76200" dist="76200" dir="2700000" rotWithShape="0">
              <a:srgbClr val="000000">
                <a:alpha val="50000"/>
              </a:srgbClr>
            </a:outerShdw>
          </a:effectLst>
          <a:scene3d>
            <a:camera prst="orthographicFront"/>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sz="1400" b="1">
              <a:solidFill>
                <a:schemeClr val="bg1"/>
              </a:solidFill>
            </a:endParaRPr>
          </a:p>
        </p:txBody>
      </p:sp>
      <p:sp>
        <p:nvSpPr>
          <p:cNvPr id="15" name="正方形/長方形 13"/>
          <p:cNvSpPr/>
          <p:nvPr userDrawn="1"/>
        </p:nvSpPr>
        <p:spPr>
          <a:xfrm>
            <a:off x="0" y="-12700"/>
            <a:ext cx="9144000" cy="1079500"/>
          </a:xfrm>
          <a:prstGeom prst="rect">
            <a:avLst/>
          </a:prstGeom>
          <a:gradFill flip="none" rotWithShape="1">
            <a:gsLst>
              <a:gs pos="100000">
                <a:srgbClr val="5AC5FE"/>
              </a:gs>
              <a:gs pos="21000">
                <a:srgbClr val="FFFFFF"/>
              </a:gs>
            </a:gsLst>
            <a:lin ang="0" scaled="1"/>
            <a:tileRect/>
          </a:gradFill>
          <a:ln>
            <a:noFill/>
          </a:ln>
          <a:effectLst>
            <a:outerShdw blurRad="76200" dist="76200" dir="2700000" algn="tl" rotWithShape="0">
              <a:prstClr val="black">
                <a:alpha val="40000"/>
              </a:prstClr>
            </a:outerShdw>
          </a:effectLst>
        </p:spPr>
        <p:txBody>
          <a:bodyPr anchor="ctr"/>
          <a:lstStyle/>
          <a:p>
            <a:pPr algn="ctr" fontAlgn="auto">
              <a:spcBef>
                <a:spcPts val="0"/>
              </a:spcBef>
              <a:spcAft>
                <a:spcPts val="0"/>
              </a:spcAft>
              <a:defRPr/>
            </a:pPr>
            <a:endParaRPr lang="ja-JP" altLang="en-US">
              <a:solidFill>
                <a:srgbClr val="FFFFFF"/>
              </a:solidFill>
              <a:latin typeface="Calibri" pitchFamily="34" charset="0"/>
              <a:ea typeface="+mn-ea"/>
            </a:endParaRPr>
          </a:p>
        </p:txBody>
      </p:sp>
      <p:sp>
        <p:nvSpPr>
          <p:cNvPr id="18" name="Text Box 9"/>
          <p:cNvSpPr txBox="1">
            <a:spLocks noChangeArrowheads="1"/>
          </p:cNvSpPr>
          <p:nvPr userDrawn="1"/>
        </p:nvSpPr>
        <p:spPr bwMode="auto">
          <a:xfrm>
            <a:off x="8653724" y="6613981"/>
            <a:ext cx="301365" cy="215444"/>
          </a:xfrm>
          <a:prstGeom prst="rect">
            <a:avLst/>
          </a:prstGeom>
          <a:noFill/>
          <a:ln w="9525">
            <a:noFill/>
            <a:miter lim="800000"/>
            <a:headEnd/>
            <a:tailEnd/>
          </a:ln>
          <a:effectLst/>
        </p:spPr>
        <p:txBody>
          <a:bodyPr wrap="none" lIns="0" tIns="0" rIns="0" bIns="0" anchor="b">
            <a:spAutoFit/>
          </a:bodyPr>
          <a:lstStyle>
            <a:lvl1pPr>
              <a:defRPr kumimoji="1">
                <a:solidFill>
                  <a:schemeClr val="tx1"/>
                </a:solidFill>
                <a:latin typeface="Tahoma" pitchFamily="34" charset="0"/>
                <a:ea typeface="MS UI Gothic" pitchFamily="50" charset="-128"/>
              </a:defRPr>
            </a:lvl1pPr>
            <a:lvl2pPr marL="742950" indent="-285750">
              <a:defRPr kumimoji="1">
                <a:solidFill>
                  <a:schemeClr val="tx1"/>
                </a:solidFill>
                <a:latin typeface="Tahoma" pitchFamily="34" charset="0"/>
                <a:ea typeface="MS UI Gothic" pitchFamily="50" charset="-128"/>
              </a:defRPr>
            </a:lvl2pPr>
            <a:lvl3pPr marL="1143000" indent="-228600">
              <a:defRPr kumimoji="1">
                <a:solidFill>
                  <a:schemeClr val="tx1"/>
                </a:solidFill>
                <a:latin typeface="Tahoma" pitchFamily="34" charset="0"/>
                <a:ea typeface="MS UI Gothic" pitchFamily="50" charset="-128"/>
              </a:defRPr>
            </a:lvl3pPr>
            <a:lvl4pPr marL="1600200" indent="-228600">
              <a:defRPr kumimoji="1">
                <a:solidFill>
                  <a:schemeClr val="tx1"/>
                </a:solidFill>
                <a:latin typeface="Tahoma" pitchFamily="34" charset="0"/>
                <a:ea typeface="MS UI Gothic" pitchFamily="50" charset="-128"/>
              </a:defRPr>
            </a:lvl4pPr>
            <a:lvl5pPr marL="2057400" indent="-228600">
              <a:defRPr kumimoji="1">
                <a:solidFill>
                  <a:schemeClr val="tx1"/>
                </a:solidFill>
                <a:latin typeface="Tahoma" pitchFamily="34" charset="0"/>
                <a:ea typeface="MS UI Gothic" pitchFamily="50" charset="-128"/>
              </a:defRPr>
            </a:lvl5pPr>
            <a:lvl6pPr marL="2514600" indent="-228600" fontAlgn="base">
              <a:spcBef>
                <a:spcPct val="0"/>
              </a:spcBef>
              <a:spcAft>
                <a:spcPct val="0"/>
              </a:spcAft>
              <a:defRPr kumimoji="1">
                <a:solidFill>
                  <a:schemeClr val="tx1"/>
                </a:solidFill>
                <a:latin typeface="Tahoma" pitchFamily="34" charset="0"/>
                <a:ea typeface="MS UI Gothic" pitchFamily="50" charset="-128"/>
              </a:defRPr>
            </a:lvl6pPr>
            <a:lvl7pPr marL="2971800" indent="-228600" fontAlgn="base">
              <a:spcBef>
                <a:spcPct val="0"/>
              </a:spcBef>
              <a:spcAft>
                <a:spcPct val="0"/>
              </a:spcAft>
              <a:defRPr kumimoji="1">
                <a:solidFill>
                  <a:schemeClr val="tx1"/>
                </a:solidFill>
                <a:latin typeface="Tahoma" pitchFamily="34" charset="0"/>
                <a:ea typeface="MS UI Gothic" pitchFamily="50" charset="-128"/>
              </a:defRPr>
            </a:lvl7pPr>
            <a:lvl8pPr marL="3429000" indent="-228600" fontAlgn="base">
              <a:spcBef>
                <a:spcPct val="0"/>
              </a:spcBef>
              <a:spcAft>
                <a:spcPct val="0"/>
              </a:spcAft>
              <a:defRPr kumimoji="1">
                <a:solidFill>
                  <a:schemeClr val="tx1"/>
                </a:solidFill>
                <a:latin typeface="Tahoma" pitchFamily="34" charset="0"/>
                <a:ea typeface="MS UI Gothic" pitchFamily="50" charset="-128"/>
              </a:defRPr>
            </a:lvl8pPr>
            <a:lvl9pPr marL="3886200" indent="-228600" fontAlgn="base">
              <a:spcBef>
                <a:spcPct val="0"/>
              </a:spcBef>
              <a:spcAft>
                <a:spcPct val="0"/>
              </a:spcAft>
              <a:defRPr kumimoji="1">
                <a:solidFill>
                  <a:schemeClr val="tx1"/>
                </a:solidFill>
                <a:latin typeface="Tahoma" pitchFamily="34" charset="0"/>
                <a:ea typeface="MS UI Gothic" pitchFamily="50" charset="-128"/>
              </a:defRPr>
            </a:lvl9pPr>
          </a:lstStyle>
          <a:p>
            <a:pPr algn="r">
              <a:defRPr/>
            </a:pPr>
            <a:fld id="{F9909E34-A0F9-4031-BAD9-4AC8F82C2915}" type="slidenum">
              <a:rPr lang="en-US" altLang="ja-JP" sz="1400" b="1" smtClean="0">
                <a:solidFill>
                  <a:srgbClr val="7F7F7F"/>
                </a:solidFill>
                <a:cs typeface="Tahoma" pitchFamily="34" charset="0"/>
              </a:rPr>
              <a:pPr algn="r">
                <a:defRPr/>
              </a:pPr>
              <a:t>‹#›</a:t>
            </a:fld>
            <a:endParaRPr lang="en-US" altLang="ja-JP" sz="1400" b="1">
              <a:solidFill>
                <a:srgbClr val="7F7F7F"/>
              </a:solidFill>
              <a:cs typeface="Tahoma"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見出し">
    <p:spTree>
      <p:nvGrpSpPr>
        <p:cNvPr id="1" name=""/>
        <p:cNvGrpSpPr/>
        <p:nvPr/>
      </p:nvGrpSpPr>
      <p:grpSpPr>
        <a:xfrm>
          <a:off x="0" y="0"/>
          <a:ext cx="0" cy="0"/>
          <a:chOff x="0" y="0"/>
          <a:chExt cx="0" cy="0"/>
        </a:xfrm>
      </p:grpSpPr>
      <p:sp>
        <p:nvSpPr>
          <p:cNvPr id="3" name="正方形/長方形 4"/>
          <p:cNvSpPr/>
          <p:nvPr/>
        </p:nvSpPr>
        <p:spPr>
          <a:xfrm>
            <a:off x="0" y="0"/>
            <a:ext cx="9144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 name="Rectangle 141"/>
          <p:cNvSpPr>
            <a:spLocks noChangeArrowheads="1"/>
          </p:cNvSpPr>
          <p:nvPr/>
        </p:nvSpPr>
        <p:spPr bwMode="auto">
          <a:xfrm>
            <a:off x="-12699" y="0"/>
            <a:ext cx="1524000" cy="6858000"/>
          </a:xfrm>
          <a:prstGeom prst="rect">
            <a:avLst/>
          </a:prstGeom>
          <a:gradFill flip="none" rotWithShape="1">
            <a:gsLst>
              <a:gs pos="0">
                <a:srgbClr val="00589A"/>
              </a:gs>
              <a:gs pos="100000">
                <a:srgbClr val="8FCFFF"/>
              </a:gs>
              <a:gs pos="75000">
                <a:srgbClr val="008DF6"/>
              </a:gs>
            </a:gsLst>
            <a:lin ang="5400000" scaled="1"/>
            <a:tileRect/>
          </a:gradFill>
          <a:effectLst>
            <a:outerShdw blurRad="76200" dist="76200" dir="2700000" rotWithShape="0">
              <a:srgbClr val="000000">
                <a:alpha val="50000"/>
              </a:srgbClr>
            </a:outerShdw>
          </a:effectLst>
          <a:scene3d>
            <a:camera prst="orthographicFront"/>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sz="1400" b="1">
              <a:solidFill>
                <a:schemeClr val="bg1"/>
              </a:solidFill>
            </a:endParaRPr>
          </a:p>
        </p:txBody>
      </p:sp>
      <p:sp>
        <p:nvSpPr>
          <p:cNvPr id="5" name="正方形/長方形 5"/>
          <p:cNvSpPr/>
          <p:nvPr/>
        </p:nvSpPr>
        <p:spPr>
          <a:xfrm>
            <a:off x="0" y="2336800"/>
            <a:ext cx="9144000" cy="1079500"/>
          </a:xfrm>
          <a:prstGeom prst="rect">
            <a:avLst/>
          </a:prstGeom>
          <a:solidFill>
            <a:schemeClr val="bg1"/>
          </a:solidFill>
          <a:ln>
            <a:noFill/>
          </a:ln>
          <a:effectLst>
            <a:outerShdw blurRad="76200" dist="76200" dir="2700000" algn="tl" rotWithShape="0">
              <a:prstClr val="black">
                <a:alpha val="40000"/>
              </a:prstClr>
            </a:outerShdw>
          </a:effectLst>
        </p:spPr>
        <p:txBody>
          <a:bodyPr anchor="ctr"/>
          <a:lstStyle/>
          <a:p>
            <a:pPr algn="ctr" fontAlgn="auto">
              <a:spcBef>
                <a:spcPts val="0"/>
              </a:spcBef>
              <a:spcAft>
                <a:spcPts val="0"/>
              </a:spcAft>
              <a:defRPr/>
            </a:pPr>
            <a:endParaRPr lang="ja-JP" altLang="en-US">
              <a:solidFill>
                <a:srgbClr val="FFFFFF"/>
              </a:solidFill>
              <a:latin typeface="Calibri" pitchFamily="34" charset="0"/>
              <a:ea typeface="+mn-ea"/>
            </a:endParaRPr>
          </a:p>
        </p:txBody>
      </p:sp>
      <p:sp>
        <p:nvSpPr>
          <p:cNvPr id="8" name="Text Box 9"/>
          <p:cNvSpPr txBox="1">
            <a:spLocks noChangeArrowheads="1"/>
          </p:cNvSpPr>
          <p:nvPr/>
        </p:nvSpPr>
        <p:spPr bwMode="auto">
          <a:xfrm>
            <a:off x="8653724" y="6613981"/>
            <a:ext cx="301365" cy="215444"/>
          </a:xfrm>
          <a:prstGeom prst="rect">
            <a:avLst/>
          </a:prstGeom>
          <a:noFill/>
          <a:ln w="9525">
            <a:noFill/>
            <a:miter lim="800000"/>
            <a:headEnd/>
            <a:tailEnd/>
          </a:ln>
          <a:effectLst/>
        </p:spPr>
        <p:txBody>
          <a:bodyPr wrap="none" lIns="0" tIns="0" rIns="0" bIns="0" anchor="b">
            <a:spAutoFit/>
          </a:bodyPr>
          <a:lstStyle/>
          <a:p>
            <a:pPr algn="r">
              <a:defRPr/>
            </a:pPr>
            <a:fld id="{320E4A1C-30C3-488B-9F80-66DB3AED0927}" type="slidenum">
              <a:rPr lang="en-US" altLang="ja-JP" sz="1400" b="1">
                <a:solidFill>
                  <a:srgbClr val="7F7F7F"/>
                </a:solidFill>
                <a:latin typeface="Tahoma" pitchFamily="34" charset="0"/>
                <a:ea typeface="MS UI Gothic" pitchFamily="50" charset="-128"/>
                <a:cs typeface="Tahoma" pitchFamily="34" charset="0"/>
              </a:rPr>
              <a:pPr algn="r">
                <a:defRPr/>
              </a:pPr>
              <a:t>‹#›</a:t>
            </a:fld>
            <a:endParaRPr lang="en-US" altLang="ja-JP" sz="1400" b="1">
              <a:solidFill>
                <a:srgbClr val="7F7F7F"/>
              </a:solidFill>
              <a:latin typeface="Tahoma" pitchFamily="34" charset="0"/>
              <a:ea typeface="MS UI Gothic" pitchFamily="50" charset="-128"/>
              <a:cs typeface="Tahoma" pitchFamily="34" charset="0"/>
            </a:endParaRPr>
          </a:p>
        </p:txBody>
      </p:sp>
      <p:cxnSp>
        <p:nvCxnSpPr>
          <p:cNvPr id="10" name="直線コネクタ 2"/>
          <p:cNvCxnSpPr/>
          <p:nvPr/>
        </p:nvCxnSpPr>
        <p:spPr>
          <a:xfrm>
            <a:off x="-12700" y="2336800"/>
            <a:ext cx="91567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タイトル 1"/>
          <p:cNvSpPr>
            <a:spLocks noGrp="1"/>
          </p:cNvSpPr>
          <p:nvPr>
            <p:ph type="title"/>
          </p:nvPr>
        </p:nvSpPr>
        <p:spPr>
          <a:xfrm>
            <a:off x="1793875" y="2516659"/>
            <a:ext cx="7105650" cy="683743"/>
          </a:xfrm>
        </p:spPr>
        <p:txBody>
          <a:bodyPr/>
          <a:lstStyle>
            <a:lvl1pPr>
              <a:defRPr b="1">
                <a:solidFill>
                  <a:schemeClr val="accent5">
                    <a:lumMod val="75000"/>
                  </a:schemeClr>
                </a:solidFill>
                <a:latin typeface="+mj-lt"/>
              </a:defRPr>
            </a:lvl1pPr>
          </a:lstStyle>
          <a:p>
            <a:r>
              <a:rPr lang="ja-JP" altLang="en-US"/>
              <a:t>マスタ タイトルの書式設定</a:t>
            </a:r>
            <a:endParaRPr lang="ja-JP"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連絡先">
    <p:spTree>
      <p:nvGrpSpPr>
        <p:cNvPr id="1" name=""/>
        <p:cNvGrpSpPr/>
        <p:nvPr/>
      </p:nvGrpSpPr>
      <p:grpSpPr>
        <a:xfrm>
          <a:off x="0" y="0"/>
          <a:ext cx="0" cy="0"/>
          <a:chOff x="0" y="0"/>
          <a:chExt cx="0" cy="0"/>
        </a:xfrm>
      </p:grpSpPr>
      <p:sp>
        <p:nvSpPr>
          <p:cNvPr id="5" name="Rectangle 141"/>
          <p:cNvSpPr>
            <a:spLocks noChangeArrowheads="1"/>
          </p:cNvSpPr>
          <p:nvPr/>
        </p:nvSpPr>
        <p:spPr bwMode="auto">
          <a:xfrm>
            <a:off x="0" y="0"/>
            <a:ext cx="9144000" cy="2705100"/>
          </a:xfrm>
          <a:prstGeom prst="rect">
            <a:avLst/>
          </a:prstGeom>
          <a:gradFill rotWithShape="1">
            <a:gsLst>
              <a:gs pos="0">
                <a:schemeClr val="accent5">
                  <a:lumMod val="60000"/>
                  <a:lumOff val="40000"/>
                </a:schemeClr>
              </a:gs>
              <a:gs pos="100000">
                <a:srgbClr val="FFFFFF"/>
              </a:gs>
            </a:gsLst>
            <a:lin ang="5400000"/>
          </a:gradFill>
          <a:ln>
            <a:noFill/>
          </a:ln>
        </p:spPr>
        <p:txBody>
          <a:bodyPr anchor="ctr"/>
          <a:lstStyle/>
          <a:p>
            <a:pPr algn="ctr" fontAlgn="auto">
              <a:spcBef>
                <a:spcPts val="0"/>
              </a:spcBef>
              <a:spcAft>
                <a:spcPts val="0"/>
              </a:spcAft>
              <a:defRPr/>
            </a:pPr>
            <a:endParaRPr lang="en-US">
              <a:solidFill>
                <a:srgbClr val="FFFFFF"/>
              </a:solidFill>
              <a:latin typeface="Calibri" pitchFamily="34" charset="0"/>
              <a:ea typeface="+mn-ea"/>
            </a:endParaRPr>
          </a:p>
        </p:txBody>
      </p:sp>
      <p:sp>
        <p:nvSpPr>
          <p:cNvPr id="7" name="正方形/長方形 4"/>
          <p:cNvSpPr/>
          <p:nvPr/>
        </p:nvSpPr>
        <p:spPr>
          <a:xfrm>
            <a:off x="165102" y="127003"/>
            <a:ext cx="7391056" cy="888999"/>
          </a:xfrm>
          <a:prstGeom prst="rect">
            <a:avLst/>
          </a:prstGeom>
          <a:gradFill flip="none" rotWithShape="1">
            <a:gsLst>
              <a:gs pos="0">
                <a:srgbClr val="00589A"/>
              </a:gs>
              <a:gs pos="100000">
                <a:srgbClr val="8FCFFF"/>
              </a:gs>
              <a:gs pos="75000">
                <a:srgbClr val="008DF6"/>
              </a:gs>
            </a:gsLst>
            <a:lin ang="5400000" scaled="1"/>
            <a:tileRect/>
          </a:gradFill>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ja-JP" altLang="en-US" sz="1400" b="1">
              <a:solidFill>
                <a:schemeClr val="bg1"/>
              </a:solidFill>
            </a:endParaRPr>
          </a:p>
        </p:txBody>
      </p:sp>
      <p:sp>
        <p:nvSpPr>
          <p:cNvPr id="9" name="正方形/長方形 6"/>
          <p:cNvSpPr/>
          <p:nvPr/>
        </p:nvSpPr>
        <p:spPr bwMode="auto">
          <a:xfrm>
            <a:off x="1665085" y="2434107"/>
            <a:ext cx="5791782" cy="3871846"/>
          </a:xfrm>
          <a:prstGeom prst="rect">
            <a:avLst/>
          </a:prstGeom>
          <a:solidFill>
            <a:schemeClr val="bg1"/>
          </a:solidFill>
          <a:ln w="19050">
            <a:solidFill>
              <a:schemeClr val="bg1">
                <a:lumMod val="50000"/>
              </a:schemeClr>
            </a:solidFill>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txBody>
          <a:bodyPr lIns="108000" tIns="108000" rIns="108000" bIns="108000" anchor="ctr"/>
          <a:lstStyle/>
          <a:p>
            <a:pPr fontAlgn="auto">
              <a:spcBef>
                <a:spcPts val="0"/>
              </a:spcBef>
              <a:spcAft>
                <a:spcPts val="0"/>
              </a:spcAft>
              <a:defRPr/>
            </a:pPr>
            <a:endParaRPr lang="ja-JP" altLang="en-US" sz="1400" b="1" dirty="0">
              <a:solidFill>
                <a:schemeClr val="tx1">
                  <a:lumMod val="65000"/>
                  <a:lumOff val="35000"/>
                </a:schemeClr>
              </a:solidFill>
            </a:endParaRPr>
          </a:p>
        </p:txBody>
      </p:sp>
      <p:sp>
        <p:nvSpPr>
          <p:cNvPr id="2" name="タイトル 1"/>
          <p:cNvSpPr>
            <a:spLocks noGrp="1"/>
          </p:cNvSpPr>
          <p:nvPr>
            <p:ph type="title"/>
          </p:nvPr>
        </p:nvSpPr>
        <p:spPr/>
        <p:txBody>
          <a:bodyPr/>
          <a:lstStyle>
            <a:lvl1pPr>
              <a:defRPr>
                <a:solidFill>
                  <a:schemeClr val="bg1"/>
                </a:solidFill>
                <a:latin typeface="+mj-lt"/>
              </a:defRPr>
            </a:lvl1pPr>
          </a:lstStyle>
          <a:p>
            <a:r>
              <a:rPr lang="ja-JP" altLang="en-US"/>
              <a:t>マスタ タイトルの書式設定</a:t>
            </a:r>
            <a:endParaRPr lang="ja-JP" altLang="en-US" dirty="0"/>
          </a:p>
        </p:txBody>
      </p:sp>
      <p:sp>
        <p:nvSpPr>
          <p:cNvPr id="10" name="テキスト プレースホルダー 9"/>
          <p:cNvSpPr>
            <a:spLocks noGrp="1"/>
          </p:cNvSpPr>
          <p:nvPr>
            <p:ph type="body" sz="quarter" idx="10"/>
          </p:nvPr>
        </p:nvSpPr>
        <p:spPr>
          <a:xfrm>
            <a:off x="2316163" y="3800477"/>
            <a:ext cx="4749800" cy="2017713"/>
          </a:xfrm>
          <a:prstGeom prst="rect">
            <a:avLst/>
          </a:prstGeom>
        </p:spPr>
        <p:txBody>
          <a:bodyPr/>
          <a:lstStyle>
            <a:lvl1pPr marL="0" indent="0">
              <a:buNone/>
              <a:defRPr sz="1600"/>
            </a:lvl1pPr>
          </a:lstStyle>
          <a:p>
            <a:pPr lvl="0"/>
            <a:r>
              <a:rPr lang="ja-JP" altLang="en-US"/>
              <a:t>マスタ テキストの書式設定</a:t>
            </a:r>
          </a:p>
        </p:txBody>
      </p:sp>
      <p:sp>
        <p:nvSpPr>
          <p:cNvPr id="11" name="テキスト プレースホルダー 9"/>
          <p:cNvSpPr>
            <a:spLocks noGrp="1"/>
          </p:cNvSpPr>
          <p:nvPr>
            <p:ph type="body" sz="quarter" idx="11"/>
          </p:nvPr>
        </p:nvSpPr>
        <p:spPr>
          <a:xfrm>
            <a:off x="794155" y="1233427"/>
            <a:ext cx="6845756" cy="939758"/>
          </a:xfrm>
          <a:prstGeom prst="rect">
            <a:avLst/>
          </a:prstGeom>
        </p:spPr>
        <p:txBody>
          <a:bodyPr/>
          <a:lstStyle>
            <a:lvl1pPr marL="0" indent="0">
              <a:buNone/>
              <a:defRPr sz="1600"/>
            </a:lvl1pPr>
          </a:lstStyle>
          <a:p>
            <a:pPr lvl="0"/>
            <a:r>
              <a:rPr lang="ja-JP" altLang="en-US"/>
              <a:t>マスタ テキストの書式設定</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41"/>
          <p:cNvSpPr>
            <a:spLocks noChangeArrowheads="1"/>
          </p:cNvSpPr>
          <p:nvPr/>
        </p:nvSpPr>
        <p:spPr bwMode="auto">
          <a:xfrm>
            <a:off x="0" y="0"/>
            <a:ext cx="9144000" cy="1346200"/>
          </a:xfrm>
          <a:prstGeom prst="rect">
            <a:avLst/>
          </a:prstGeom>
          <a:gradFill rotWithShape="1">
            <a:gsLst>
              <a:gs pos="0">
                <a:srgbClr val="DDDDDD"/>
              </a:gs>
              <a:gs pos="100000">
                <a:srgbClr val="FFFFFF"/>
              </a:gs>
            </a:gsLst>
            <a:lin ang="5400000"/>
          </a:gradFill>
          <a:ln>
            <a:noFill/>
          </a:ln>
        </p:spPr>
        <p:txBody>
          <a:bodyPr anchor="ctr"/>
          <a:lstStyle/>
          <a:p>
            <a:pPr algn="ctr" fontAlgn="auto">
              <a:spcBef>
                <a:spcPts val="0"/>
              </a:spcBef>
              <a:spcAft>
                <a:spcPts val="0"/>
              </a:spcAft>
              <a:defRPr/>
            </a:pPr>
            <a:endParaRPr lang="en-US">
              <a:solidFill>
                <a:srgbClr val="FFFFFF"/>
              </a:solidFill>
              <a:latin typeface="Calibri" pitchFamily="34" charset="0"/>
              <a:ea typeface="+mn-ea"/>
            </a:endParaRPr>
          </a:p>
        </p:txBody>
      </p:sp>
      <p:sp>
        <p:nvSpPr>
          <p:cNvPr id="17" name="正方形/長方形 16"/>
          <p:cNvSpPr/>
          <p:nvPr/>
        </p:nvSpPr>
        <p:spPr>
          <a:xfrm>
            <a:off x="165102" y="127003"/>
            <a:ext cx="7391056" cy="888999"/>
          </a:xfrm>
          <a:prstGeom prst="rect">
            <a:avLst/>
          </a:prstGeom>
          <a:gradFill>
            <a:gsLst>
              <a:gs pos="0">
                <a:schemeClr val="bg1"/>
              </a:gs>
              <a:gs pos="89000">
                <a:schemeClr val="bg1">
                  <a:lumMod val="80000"/>
                </a:schemeClr>
              </a:gs>
              <a:gs pos="100000">
                <a:schemeClr val="bg1">
                  <a:lumMod val="85000"/>
                </a:schemeClr>
              </a:gs>
            </a:gsLst>
          </a:gradFill>
        </p:spPr>
        <p:style>
          <a:lnRef idx="0">
            <a:schemeClr val="accent2"/>
          </a:lnRef>
          <a:fillRef idx="3">
            <a:schemeClr val="accent2"/>
          </a:fillRef>
          <a:effectRef idx="3">
            <a:schemeClr val="accent2"/>
          </a:effectRef>
          <a:fontRef idx="minor">
            <a:schemeClr val="lt1"/>
          </a:fontRef>
        </p:style>
        <p:txBody>
          <a:bodyPr anchor="ctr"/>
          <a:lstStyle/>
          <a:p>
            <a:pPr algn="ctr" fontAlgn="auto">
              <a:spcBef>
                <a:spcPts val="0"/>
              </a:spcBef>
              <a:spcAft>
                <a:spcPts val="0"/>
              </a:spcAft>
              <a:defRPr/>
            </a:pPr>
            <a:endParaRPr lang="ja-JP" altLang="en-US"/>
          </a:p>
        </p:txBody>
      </p:sp>
      <p:sp>
        <p:nvSpPr>
          <p:cNvPr id="1030" name="Rectangle 2"/>
          <p:cNvSpPr>
            <a:spLocks noGrp="1" noChangeArrowheads="1"/>
          </p:cNvSpPr>
          <p:nvPr>
            <p:ph type="title"/>
          </p:nvPr>
        </p:nvSpPr>
        <p:spPr bwMode="auto">
          <a:xfrm>
            <a:off x="260351" y="217488"/>
            <a:ext cx="7185025" cy="684212"/>
          </a:xfrm>
          <a:prstGeom prst="rect">
            <a:avLst/>
          </a:prstGeom>
          <a:noFill/>
          <a:ln w="9525">
            <a:noFill/>
            <a:miter lim="800000"/>
            <a:headEnd/>
            <a:tailEnd/>
          </a:ln>
        </p:spPr>
        <p:txBody>
          <a:bodyPr vert="horz" wrap="square" lIns="0" tIns="45720" rIns="45720" bIns="45720" numCol="1" anchor="ctr" anchorCtr="0" compatLnSpc="1">
            <a:prstTxWarp prst="textNoShape">
              <a:avLst/>
            </a:prstTxWarp>
          </a:bodyPr>
          <a:lstStyle/>
          <a:p>
            <a:pPr lvl="0"/>
            <a:r>
              <a:rPr lang="ja-JP" altLang="en-US"/>
              <a:t>マスター タイトルの書式設定</a:t>
            </a:r>
            <a:endParaRPr lang="en-US" altLang="ja-JP"/>
          </a:p>
        </p:txBody>
      </p:sp>
      <p:sp>
        <p:nvSpPr>
          <p:cNvPr id="11" name="Text Box 9"/>
          <p:cNvSpPr txBox="1">
            <a:spLocks noChangeArrowheads="1"/>
          </p:cNvSpPr>
          <p:nvPr/>
        </p:nvSpPr>
        <p:spPr bwMode="auto">
          <a:xfrm>
            <a:off x="8653724" y="6613981"/>
            <a:ext cx="301365" cy="215444"/>
          </a:xfrm>
          <a:prstGeom prst="rect">
            <a:avLst/>
          </a:prstGeom>
          <a:noFill/>
          <a:ln w="9525">
            <a:noFill/>
            <a:miter lim="800000"/>
            <a:headEnd/>
            <a:tailEnd/>
          </a:ln>
          <a:effectLst/>
        </p:spPr>
        <p:txBody>
          <a:bodyPr wrap="none" lIns="0" tIns="0" rIns="0" bIns="0" anchor="b">
            <a:spAutoFit/>
          </a:bodyPr>
          <a:lstStyle/>
          <a:p>
            <a:pPr algn="r">
              <a:defRPr/>
            </a:pPr>
            <a:fld id="{92ADC29E-BA80-497E-B333-56E00B4F86B2}" type="slidenum">
              <a:rPr lang="en-US" altLang="ja-JP" sz="1400" b="1">
                <a:solidFill>
                  <a:srgbClr val="7F7F7F"/>
                </a:solidFill>
                <a:latin typeface="Tahoma" pitchFamily="34" charset="0"/>
                <a:ea typeface="MS UI Gothic" pitchFamily="50" charset="-128"/>
                <a:cs typeface="Tahoma" pitchFamily="34" charset="0"/>
              </a:rPr>
              <a:pPr algn="r">
                <a:defRPr/>
              </a:pPr>
              <a:t>‹#›</a:t>
            </a:fld>
            <a:endParaRPr lang="en-US" altLang="ja-JP" sz="1400" b="1">
              <a:solidFill>
                <a:srgbClr val="7F7F7F"/>
              </a:solidFill>
              <a:latin typeface="Tahoma" pitchFamily="34" charset="0"/>
              <a:ea typeface="MS UI Gothic" pitchFamily="50" charset="-128"/>
              <a:cs typeface="Tahoma" pitchFamily="34" charset="0"/>
            </a:endParaRPr>
          </a:p>
        </p:txBody>
      </p:sp>
      <p:sp>
        <p:nvSpPr>
          <p:cNvPr id="3" name="正方形/長方形 2"/>
          <p:cNvSpPr/>
          <p:nvPr/>
        </p:nvSpPr>
        <p:spPr>
          <a:xfrm>
            <a:off x="7639911" y="127002"/>
            <a:ext cx="1380524" cy="888998"/>
          </a:xfrm>
          <a:prstGeom prst="rect">
            <a:avLst/>
          </a:prstGeom>
          <a:solidFill>
            <a:schemeClr val="bg1"/>
          </a:solidFill>
          <a:ln w="3175">
            <a:solidFill>
              <a:schemeClr val="bg1">
                <a:lumMod val="75000"/>
              </a:schemeClr>
            </a:solidFill>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a:sp3d>
            <a:bevelT w="0" h="0"/>
          </a:sp3d>
        </p:spPr>
        <p:style>
          <a:lnRef idx="0">
            <a:schemeClr val="accent2"/>
          </a:lnRef>
          <a:fillRef idx="3">
            <a:schemeClr val="accent2"/>
          </a:fillRef>
          <a:effectRef idx="3">
            <a:schemeClr val="accent2"/>
          </a:effectRef>
          <a:fontRef idx="minor">
            <a:schemeClr val="lt1"/>
          </a:fontRef>
        </p:style>
        <p:txBody>
          <a:bodyPr anchor="ctr"/>
          <a:lstStyle/>
          <a:p>
            <a:pPr algn="ctr" fontAlgn="auto">
              <a:spcBef>
                <a:spcPts val="0"/>
              </a:spcBef>
              <a:spcAft>
                <a:spcPts val="0"/>
              </a:spcAft>
              <a:defRPr/>
            </a:pPr>
            <a:endParaRPr lang="ja-JP" altLang="en-US"/>
          </a:p>
        </p:txBody>
      </p:sp>
      <p:pic>
        <p:nvPicPr>
          <p:cNvPr id="1036" name="Picture 9" descr="jfelogo_systems_e16"/>
          <p:cNvPicPr>
            <a:picLocks noChangeAspect="1" noChangeArrowheads="1"/>
          </p:cNvPicPr>
          <p:nvPr/>
        </p:nvPicPr>
        <p:blipFill>
          <a:blip r:embed="rId9" cstate="print"/>
          <a:srcRect/>
          <a:stretch>
            <a:fillRect/>
          </a:stretch>
        </p:blipFill>
        <p:spPr bwMode="auto">
          <a:xfrm>
            <a:off x="7739063" y="241302"/>
            <a:ext cx="1209675" cy="696913"/>
          </a:xfrm>
          <a:prstGeom prst="rect">
            <a:avLst/>
          </a:prstGeom>
          <a:noFill/>
          <a:ln w="9525">
            <a:noFill/>
            <a:miter lim="800000"/>
            <a:headEnd/>
            <a:tailEnd/>
          </a:ln>
        </p:spPr>
      </p:pic>
      <p:sp>
        <p:nvSpPr>
          <p:cNvPr id="12" name="Rectangle 141"/>
          <p:cNvSpPr>
            <a:spLocks noChangeArrowheads="1"/>
          </p:cNvSpPr>
          <p:nvPr userDrawn="1"/>
        </p:nvSpPr>
        <p:spPr bwMode="auto">
          <a:xfrm>
            <a:off x="28378" y="0"/>
            <a:ext cx="9144000" cy="1346200"/>
          </a:xfrm>
          <a:prstGeom prst="rect">
            <a:avLst/>
          </a:prstGeom>
          <a:gradFill rotWithShape="1">
            <a:gsLst>
              <a:gs pos="0">
                <a:srgbClr val="DDDDDD"/>
              </a:gs>
              <a:gs pos="100000">
                <a:srgbClr val="FFFFFF"/>
              </a:gs>
            </a:gsLst>
            <a:lin ang="5400000"/>
          </a:gradFill>
          <a:ln w="9525">
            <a:noFill/>
            <a:miter lim="800000"/>
            <a:headEnd/>
            <a:tailEnd/>
          </a:ln>
        </p:spPr>
        <p:txBody>
          <a:bodyPr anchor="ctr"/>
          <a:lstStyle/>
          <a:p>
            <a:pPr algn="ctr"/>
            <a:endParaRPr lang="en-US" altLang="ja-JP">
              <a:solidFill>
                <a:srgbClr val="FFFFFF"/>
              </a:solidFill>
              <a:latin typeface="Calibri" pitchFamily="34" charset="0"/>
              <a:ea typeface="MS UI Gothic" pitchFamily="50" charset="-128"/>
            </a:endParaRPr>
          </a:p>
        </p:txBody>
      </p:sp>
      <p:sp>
        <p:nvSpPr>
          <p:cNvPr id="13" name="正方形/長方形 12"/>
          <p:cNvSpPr/>
          <p:nvPr userDrawn="1"/>
        </p:nvSpPr>
        <p:spPr>
          <a:xfrm>
            <a:off x="165102" y="127003"/>
            <a:ext cx="7391056" cy="888999"/>
          </a:xfrm>
          <a:prstGeom prst="rect">
            <a:avLst/>
          </a:prstGeom>
          <a:gradFill>
            <a:gsLst>
              <a:gs pos="0">
                <a:schemeClr val="bg1"/>
              </a:gs>
              <a:gs pos="89000">
                <a:schemeClr val="bg1">
                  <a:lumMod val="80000"/>
                </a:schemeClr>
              </a:gs>
              <a:gs pos="100000">
                <a:schemeClr val="bg1">
                  <a:lumMod val="85000"/>
                </a:schemeClr>
              </a:gs>
            </a:gsLst>
          </a:gradFill>
        </p:spPr>
        <p:style>
          <a:lnRef idx="0">
            <a:schemeClr val="accent2"/>
          </a:lnRef>
          <a:fillRef idx="3">
            <a:schemeClr val="accent2"/>
          </a:fillRef>
          <a:effectRef idx="3">
            <a:schemeClr val="accent2"/>
          </a:effectRef>
          <a:fontRef idx="minor">
            <a:schemeClr val="lt1"/>
          </a:fontRef>
        </p:style>
        <p:txBody>
          <a:bodyPr anchor="ctr"/>
          <a:lstStyle/>
          <a:p>
            <a:pPr algn="ctr" fontAlgn="auto">
              <a:spcBef>
                <a:spcPts val="0"/>
              </a:spcBef>
              <a:spcAft>
                <a:spcPts val="0"/>
              </a:spcAft>
              <a:defRPr/>
            </a:pPr>
            <a:endParaRPr lang="ja-JP" altLang="en-US"/>
          </a:p>
        </p:txBody>
      </p:sp>
      <p:sp>
        <p:nvSpPr>
          <p:cNvPr id="15" name="Text Box 9"/>
          <p:cNvSpPr txBox="1">
            <a:spLocks noChangeArrowheads="1"/>
          </p:cNvSpPr>
          <p:nvPr userDrawn="1"/>
        </p:nvSpPr>
        <p:spPr bwMode="auto">
          <a:xfrm>
            <a:off x="8653724" y="6613981"/>
            <a:ext cx="301365" cy="215444"/>
          </a:xfrm>
          <a:prstGeom prst="rect">
            <a:avLst/>
          </a:prstGeom>
          <a:noFill/>
          <a:ln w="9525">
            <a:noFill/>
            <a:miter lim="800000"/>
            <a:headEnd/>
            <a:tailEnd/>
          </a:ln>
          <a:effectLst/>
        </p:spPr>
        <p:txBody>
          <a:bodyPr wrap="none" lIns="0" tIns="0" rIns="0" bIns="0" anchor="b">
            <a:spAutoFit/>
          </a:bodyPr>
          <a:lstStyle>
            <a:lvl1pPr>
              <a:defRPr kumimoji="1">
                <a:solidFill>
                  <a:schemeClr val="tx1"/>
                </a:solidFill>
                <a:latin typeface="Tahoma" pitchFamily="34" charset="0"/>
                <a:ea typeface="MS UI Gothic" pitchFamily="50" charset="-128"/>
              </a:defRPr>
            </a:lvl1pPr>
            <a:lvl2pPr marL="742950" indent="-285750">
              <a:defRPr kumimoji="1">
                <a:solidFill>
                  <a:schemeClr val="tx1"/>
                </a:solidFill>
                <a:latin typeface="Tahoma" pitchFamily="34" charset="0"/>
                <a:ea typeface="MS UI Gothic" pitchFamily="50" charset="-128"/>
              </a:defRPr>
            </a:lvl2pPr>
            <a:lvl3pPr marL="1143000" indent="-228600">
              <a:defRPr kumimoji="1">
                <a:solidFill>
                  <a:schemeClr val="tx1"/>
                </a:solidFill>
                <a:latin typeface="Tahoma" pitchFamily="34" charset="0"/>
                <a:ea typeface="MS UI Gothic" pitchFamily="50" charset="-128"/>
              </a:defRPr>
            </a:lvl3pPr>
            <a:lvl4pPr marL="1600200" indent="-228600">
              <a:defRPr kumimoji="1">
                <a:solidFill>
                  <a:schemeClr val="tx1"/>
                </a:solidFill>
                <a:latin typeface="Tahoma" pitchFamily="34" charset="0"/>
                <a:ea typeface="MS UI Gothic" pitchFamily="50" charset="-128"/>
              </a:defRPr>
            </a:lvl4pPr>
            <a:lvl5pPr marL="2057400" indent="-228600">
              <a:defRPr kumimoji="1">
                <a:solidFill>
                  <a:schemeClr val="tx1"/>
                </a:solidFill>
                <a:latin typeface="Tahoma" pitchFamily="34" charset="0"/>
                <a:ea typeface="MS UI Gothic" pitchFamily="50" charset="-128"/>
              </a:defRPr>
            </a:lvl5pPr>
            <a:lvl6pPr marL="2514600" indent="-228600" fontAlgn="base">
              <a:spcBef>
                <a:spcPct val="0"/>
              </a:spcBef>
              <a:spcAft>
                <a:spcPct val="0"/>
              </a:spcAft>
              <a:defRPr kumimoji="1">
                <a:solidFill>
                  <a:schemeClr val="tx1"/>
                </a:solidFill>
                <a:latin typeface="Tahoma" pitchFamily="34" charset="0"/>
                <a:ea typeface="MS UI Gothic" pitchFamily="50" charset="-128"/>
              </a:defRPr>
            </a:lvl6pPr>
            <a:lvl7pPr marL="2971800" indent="-228600" fontAlgn="base">
              <a:spcBef>
                <a:spcPct val="0"/>
              </a:spcBef>
              <a:spcAft>
                <a:spcPct val="0"/>
              </a:spcAft>
              <a:defRPr kumimoji="1">
                <a:solidFill>
                  <a:schemeClr val="tx1"/>
                </a:solidFill>
                <a:latin typeface="Tahoma" pitchFamily="34" charset="0"/>
                <a:ea typeface="MS UI Gothic" pitchFamily="50" charset="-128"/>
              </a:defRPr>
            </a:lvl7pPr>
            <a:lvl8pPr marL="3429000" indent="-228600" fontAlgn="base">
              <a:spcBef>
                <a:spcPct val="0"/>
              </a:spcBef>
              <a:spcAft>
                <a:spcPct val="0"/>
              </a:spcAft>
              <a:defRPr kumimoji="1">
                <a:solidFill>
                  <a:schemeClr val="tx1"/>
                </a:solidFill>
                <a:latin typeface="Tahoma" pitchFamily="34" charset="0"/>
                <a:ea typeface="MS UI Gothic" pitchFamily="50" charset="-128"/>
              </a:defRPr>
            </a:lvl8pPr>
            <a:lvl9pPr marL="3886200" indent="-228600" fontAlgn="base">
              <a:spcBef>
                <a:spcPct val="0"/>
              </a:spcBef>
              <a:spcAft>
                <a:spcPct val="0"/>
              </a:spcAft>
              <a:defRPr kumimoji="1">
                <a:solidFill>
                  <a:schemeClr val="tx1"/>
                </a:solidFill>
                <a:latin typeface="Tahoma" pitchFamily="34" charset="0"/>
                <a:ea typeface="MS UI Gothic" pitchFamily="50" charset="-128"/>
              </a:defRPr>
            </a:lvl9pPr>
          </a:lstStyle>
          <a:p>
            <a:pPr algn="r">
              <a:defRPr/>
            </a:pPr>
            <a:fld id="{71EC0D64-9B34-4596-AC2F-DCFB2973B6C9}" type="slidenum">
              <a:rPr lang="en-US" altLang="ja-JP" sz="1400" b="1" smtClean="0">
                <a:solidFill>
                  <a:srgbClr val="7F7F7F"/>
                </a:solidFill>
                <a:cs typeface="Tahoma" pitchFamily="34" charset="0"/>
              </a:rPr>
              <a:pPr algn="r">
                <a:defRPr/>
              </a:pPr>
              <a:t>‹#›</a:t>
            </a:fld>
            <a:endParaRPr lang="en-US" altLang="ja-JP" sz="1400" b="1">
              <a:solidFill>
                <a:srgbClr val="7F7F7F"/>
              </a:solidFill>
              <a:cs typeface="Tahoma" pitchFamily="34" charset="0"/>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Lst>
  <p:txStyles>
    <p:titleStyle>
      <a:lvl1pPr marL="177800" algn="l" rtl="0" eaLnBrk="1" fontAlgn="base" hangingPunct="1">
        <a:spcBef>
          <a:spcPct val="0"/>
        </a:spcBef>
        <a:spcAft>
          <a:spcPts val="1200"/>
        </a:spcAft>
        <a:defRPr kumimoji="1" lang="ja-JP" altLang="en-US" sz="2400" b="1" kern="1200">
          <a:solidFill>
            <a:srgbClr val="0191DE"/>
          </a:solidFill>
          <a:latin typeface="+mj-lt"/>
          <a:ea typeface="+mj-ea"/>
          <a:cs typeface="+mj-cs"/>
        </a:defRPr>
      </a:lvl1pPr>
      <a:lvl2pPr marL="177800" algn="l" rtl="0" eaLnBrk="1" fontAlgn="base" hangingPunct="1">
        <a:spcBef>
          <a:spcPct val="0"/>
        </a:spcBef>
        <a:spcAft>
          <a:spcPts val="1200"/>
        </a:spcAft>
        <a:defRPr kumimoji="1" sz="2400" b="1">
          <a:solidFill>
            <a:srgbClr val="0191DE"/>
          </a:solidFill>
          <a:latin typeface="Tahoma" pitchFamily="34" charset="0"/>
          <a:ea typeface="MS UI Gothic" pitchFamily="50" charset="-128"/>
        </a:defRPr>
      </a:lvl2pPr>
      <a:lvl3pPr marL="177800" algn="l" rtl="0" eaLnBrk="1" fontAlgn="base" hangingPunct="1">
        <a:spcBef>
          <a:spcPct val="0"/>
        </a:spcBef>
        <a:spcAft>
          <a:spcPts val="1200"/>
        </a:spcAft>
        <a:defRPr kumimoji="1" sz="2400" b="1">
          <a:solidFill>
            <a:srgbClr val="0191DE"/>
          </a:solidFill>
          <a:latin typeface="Tahoma" pitchFamily="34" charset="0"/>
          <a:ea typeface="MS UI Gothic" pitchFamily="50" charset="-128"/>
        </a:defRPr>
      </a:lvl3pPr>
      <a:lvl4pPr marL="177800" algn="l" rtl="0" eaLnBrk="1" fontAlgn="base" hangingPunct="1">
        <a:spcBef>
          <a:spcPct val="0"/>
        </a:spcBef>
        <a:spcAft>
          <a:spcPts val="1200"/>
        </a:spcAft>
        <a:defRPr kumimoji="1" sz="2400" b="1">
          <a:solidFill>
            <a:srgbClr val="0191DE"/>
          </a:solidFill>
          <a:latin typeface="Tahoma" pitchFamily="34" charset="0"/>
          <a:ea typeface="MS UI Gothic" pitchFamily="50" charset="-128"/>
        </a:defRPr>
      </a:lvl4pPr>
      <a:lvl5pPr marL="177800" algn="l" rtl="0" eaLnBrk="1" fontAlgn="base" hangingPunct="1">
        <a:spcBef>
          <a:spcPct val="0"/>
        </a:spcBef>
        <a:spcAft>
          <a:spcPts val="1200"/>
        </a:spcAft>
        <a:defRPr kumimoji="1" sz="2400" b="1">
          <a:solidFill>
            <a:srgbClr val="0191DE"/>
          </a:solidFill>
          <a:latin typeface="Tahoma" pitchFamily="34" charset="0"/>
          <a:ea typeface="MS UI Gothic" pitchFamily="50" charset="-128"/>
        </a:defRPr>
      </a:lvl5pPr>
      <a:lvl6pPr marL="635000" algn="l" rtl="0" eaLnBrk="1" fontAlgn="base" hangingPunct="1">
        <a:spcBef>
          <a:spcPct val="0"/>
        </a:spcBef>
        <a:spcAft>
          <a:spcPts val="1200"/>
        </a:spcAft>
        <a:defRPr kumimoji="1" sz="2400" b="1">
          <a:solidFill>
            <a:srgbClr val="0191DE"/>
          </a:solidFill>
          <a:latin typeface="Tahoma" pitchFamily="34" charset="0"/>
          <a:ea typeface="MS UI Gothic" pitchFamily="50" charset="-128"/>
        </a:defRPr>
      </a:lvl6pPr>
      <a:lvl7pPr marL="1092200" algn="l" rtl="0" eaLnBrk="1" fontAlgn="base" hangingPunct="1">
        <a:spcBef>
          <a:spcPct val="0"/>
        </a:spcBef>
        <a:spcAft>
          <a:spcPts val="1200"/>
        </a:spcAft>
        <a:defRPr kumimoji="1" sz="2400" b="1">
          <a:solidFill>
            <a:srgbClr val="0191DE"/>
          </a:solidFill>
          <a:latin typeface="Tahoma" pitchFamily="34" charset="0"/>
          <a:ea typeface="MS UI Gothic" pitchFamily="50" charset="-128"/>
        </a:defRPr>
      </a:lvl7pPr>
      <a:lvl8pPr marL="1549400" algn="l" rtl="0" eaLnBrk="1" fontAlgn="base" hangingPunct="1">
        <a:spcBef>
          <a:spcPct val="0"/>
        </a:spcBef>
        <a:spcAft>
          <a:spcPts val="1200"/>
        </a:spcAft>
        <a:defRPr kumimoji="1" sz="2400" b="1">
          <a:solidFill>
            <a:srgbClr val="0191DE"/>
          </a:solidFill>
          <a:latin typeface="Tahoma" pitchFamily="34" charset="0"/>
          <a:ea typeface="MS UI Gothic" pitchFamily="50" charset="-128"/>
        </a:defRPr>
      </a:lvl8pPr>
      <a:lvl9pPr marL="2006600" algn="l" rtl="0" eaLnBrk="1" fontAlgn="base" hangingPunct="1">
        <a:spcBef>
          <a:spcPct val="0"/>
        </a:spcBef>
        <a:spcAft>
          <a:spcPts val="1200"/>
        </a:spcAft>
        <a:defRPr kumimoji="1" sz="2400" b="1">
          <a:solidFill>
            <a:srgbClr val="0191DE"/>
          </a:solidFill>
          <a:latin typeface="Tahoma" pitchFamily="34" charset="0"/>
          <a:ea typeface="MS UI Gothic" pitchFamily="50" charset="-128"/>
        </a:defRPr>
      </a:lvl9pPr>
    </p:titleStyle>
    <p:bodyStyle>
      <a:lvl1pPr marL="342900" indent="-342900" algn="l" rtl="0" eaLnBrk="1" fontAlgn="base" hangingPunct="1">
        <a:spcBef>
          <a:spcPts val="600"/>
        </a:spcBef>
        <a:spcAft>
          <a:spcPts val="1200"/>
        </a:spcAft>
        <a:buFont typeface="Arial" charset="0"/>
        <a:buChar char="•"/>
        <a:defRPr kumimoji="1" lang="en-US" altLang="ja-JP" sz="2400" kern="1200" dirty="0">
          <a:solidFill>
            <a:schemeClr val="tx1"/>
          </a:solidFill>
          <a:latin typeface="+mn-ea"/>
          <a:ea typeface="+mn-ea"/>
          <a:cs typeface="+mn-cs"/>
        </a:defRPr>
      </a:lvl1pPr>
      <a:lvl2pPr marL="742950" indent="-285750" algn="l" rtl="0" eaLnBrk="1" fontAlgn="base" hangingPunct="1">
        <a:spcBef>
          <a:spcPts val="600"/>
        </a:spcBef>
        <a:spcAft>
          <a:spcPts val="1200"/>
        </a:spcAft>
        <a:buFont typeface="Arial" charset="0"/>
        <a:buChar char="–"/>
        <a:defRPr kumimoji="1" lang="en-US" altLang="ja-JP" sz="2200" kern="1200" dirty="0">
          <a:solidFill>
            <a:schemeClr val="tx1"/>
          </a:solidFill>
          <a:latin typeface="+mn-ea"/>
          <a:ea typeface="+mn-ea"/>
          <a:cs typeface="+mn-cs"/>
        </a:defRPr>
      </a:lvl2pPr>
      <a:lvl3pPr marL="1143000" indent="-228600" algn="l" rtl="0" eaLnBrk="1" fontAlgn="base" hangingPunct="1">
        <a:spcBef>
          <a:spcPts val="600"/>
        </a:spcBef>
        <a:spcAft>
          <a:spcPts val="1200"/>
        </a:spcAft>
        <a:buFont typeface="Arial" charset="0"/>
        <a:buChar char="•"/>
        <a:defRPr kumimoji="1" lang="en-US" altLang="ja-JP" sz="2000" kern="1200" dirty="0">
          <a:solidFill>
            <a:schemeClr val="tx1"/>
          </a:solidFill>
          <a:latin typeface="+mn-ea"/>
          <a:ea typeface="+mn-ea"/>
          <a:cs typeface="+mn-cs"/>
        </a:defRPr>
      </a:lvl3pPr>
      <a:lvl4pPr marL="1600200" indent="-228600" algn="l" rtl="0" eaLnBrk="1" fontAlgn="base" hangingPunct="1">
        <a:spcBef>
          <a:spcPts val="600"/>
        </a:spcBef>
        <a:spcAft>
          <a:spcPts val="1200"/>
        </a:spcAft>
        <a:buFont typeface="Arial" charset="0"/>
        <a:buChar char="–"/>
        <a:defRPr kumimoji="1" lang="en-US" altLang="ja-JP" kern="1200" dirty="0">
          <a:solidFill>
            <a:schemeClr val="tx1"/>
          </a:solidFill>
          <a:latin typeface="+mn-ea"/>
          <a:ea typeface="+mn-ea"/>
          <a:cs typeface="+mn-cs"/>
        </a:defRPr>
      </a:lvl4pPr>
      <a:lvl5pPr marL="2057400" indent="-228600" algn="l" rtl="0" eaLnBrk="1" fontAlgn="base" hangingPunct="1">
        <a:spcBef>
          <a:spcPts val="600"/>
        </a:spcBef>
        <a:spcAft>
          <a:spcPts val="1200"/>
        </a:spcAft>
        <a:buFont typeface="Arial" charset="0"/>
        <a:buChar char="»"/>
        <a:defRPr kumimoji="1" lang="en-US" altLang="ja-JP" sz="1600" kern="1200" dirty="0">
          <a:solidFill>
            <a:schemeClr val="tx1"/>
          </a:solidFill>
          <a:latin typeface="+mn-ea"/>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50.png"/></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6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63.png"/></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65.png"/></Relationships>
</file>

<file path=ppt/slides/_rels/slide6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66.png"/></Relationships>
</file>

<file path=ppt/slides/_rels/slide6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6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7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70.png"/><Relationship Id="rId4" Type="http://schemas.openxmlformats.org/officeDocument/2006/relationships/image" Target="../media/image73.png"/></Relationships>
</file>

<file path=ppt/slides/_rels/slide7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70.png"/><Relationship Id="rId4" Type="http://schemas.openxmlformats.org/officeDocument/2006/relationships/image" Target="../media/image7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77.png"/></Relationships>
</file>

<file path=ppt/slides/_rels/slide8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77.png"/></Relationships>
</file>

<file path=ppt/slides/_rels/slide8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77.png"/></Relationships>
</file>

<file path=ppt/slides/_rels/slide8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8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テキスト プレースホルダー 3"/>
          <p:cNvSpPr>
            <a:spLocks noGrp="1"/>
          </p:cNvSpPr>
          <p:nvPr>
            <p:ph type="body" sz="quarter" idx="13"/>
          </p:nvPr>
        </p:nvSpPr>
        <p:spPr bwMode="auto">
          <a:xfrm>
            <a:off x="341037" y="2187066"/>
            <a:ext cx="8461926" cy="2166571"/>
          </a:xfrm>
          <a:noFill/>
          <a:ln>
            <a:miter lim="800000"/>
            <a:headEnd/>
            <a:tailEnd/>
          </a:ln>
        </p:spPr>
        <p:txBody>
          <a:bodyPr vert="horz" wrap="square" lIns="91440" tIns="45720" rIns="91440" bIns="45720" numCol="1" anchor="t" anchorCtr="0" compatLnSpc="1">
            <a:prstTxWarp prst="textNoShape">
              <a:avLst/>
            </a:prstTxWarp>
          </a:bodyPr>
          <a:lstStyle/>
          <a:p>
            <a:pPr algn="ctr">
              <a:spcBef>
                <a:spcPct val="0"/>
              </a:spcBef>
            </a:pPr>
            <a:r>
              <a:rPr kumimoji="0" lang="en-US" altLang="ja-JP" dirty="0">
                <a:latin typeface="Meiryo UI" pitchFamily="50" charset="-128"/>
                <a:ea typeface="Meiryo UI" pitchFamily="50" charset="-128"/>
                <a:cs typeface="Meiryo UI" pitchFamily="50" charset="-128"/>
              </a:rPr>
              <a:t>SAP</a:t>
            </a:r>
            <a:r>
              <a:rPr kumimoji="0" lang="ja-JP" altLang="en-US" dirty="0">
                <a:latin typeface="Meiryo UI" pitchFamily="50" charset="-128"/>
                <a:ea typeface="Meiryo UI" pitchFamily="50" charset="-128"/>
                <a:cs typeface="Meiryo UI" pitchFamily="50" charset="-128"/>
              </a:rPr>
              <a:t> </a:t>
            </a:r>
            <a:r>
              <a:rPr kumimoji="0" lang="en-US" altLang="ja-JP" dirty="0">
                <a:latin typeface="Meiryo UI" pitchFamily="50" charset="-128"/>
                <a:ea typeface="Meiryo UI" pitchFamily="50" charset="-128"/>
                <a:cs typeface="Meiryo UI" pitchFamily="50" charset="-128"/>
              </a:rPr>
              <a:t>S/4HANA</a:t>
            </a:r>
            <a:r>
              <a:rPr kumimoji="0" lang="ja-JP" altLang="en-US" dirty="0">
                <a:latin typeface="Meiryo UI" pitchFamily="50" charset="-128"/>
                <a:ea typeface="Meiryo UI" pitchFamily="50" charset="-128"/>
                <a:cs typeface="Meiryo UI" pitchFamily="50" charset="-128"/>
              </a:rPr>
              <a:t> 購買管理プロセス</a:t>
            </a:r>
            <a:endParaRPr kumimoji="0" lang="en-US" altLang="ja-JP" dirty="0">
              <a:latin typeface="Meiryo UI" pitchFamily="50" charset="-128"/>
              <a:ea typeface="Meiryo UI" pitchFamily="50" charset="-128"/>
              <a:cs typeface="Meiryo UI" pitchFamily="50" charset="-128"/>
            </a:endParaRPr>
          </a:p>
          <a:p>
            <a:pPr algn="ctr">
              <a:spcBef>
                <a:spcPct val="0"/>
              </a:spcBef>
            </a:pPr>
            <a:r>
              <a:rPr kumimoji="0" lang="ja-JP" altLang="en-US" dirty="0">
                <a:latin typeface="Meiryo UI" pitchFamily="50" charset="-128"/>
                <a:ea typeface="Meiryo UI" pitchFamily="50" charset="-128"/>
                <a:cs typeface="Meiryo UI" pitchFamily="50" charset="-128"/>
              </a:rPr>
              <a:t>トレーニングマテリアル ④</a:t>
            </a:r>
            <a:endParaRPr kumimoji="0" lang="en-US" altLang="ja-JP" dirty="0">
              <a:latin typeface="Meiryo UI" pitchFamily="50" charset="-128"/>
              <a:ea typeface="Meiryo UI" pitchFamily="50" charset="-128"/>
              <a:cs typeface="Meiryo UI" pitchFamily="5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latin typeface="Meiryo UI" pitchFamily="50" charset="-128"/>
                <a:ea typeface="Meiryo UI" pitchFamily="50" charset="-128"/>
                <a:cs typeface="Meiryo UI" pitchFamily="50" charset="-128"/>
              </a:rPr>
              <a:t>本トレーニングの目的</a:t>
            </a:r>
          </a:p>
        </p:txBody>
      </p:sp>
      <p:sp>
        <p:nvSpPr>
          <p:cNvPr id="12" name="Rectangle 15"/>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marL="342900" indent="-342900" eaLnBrk="0" hangingPunct="0">
              <a:lnSpc>
                <a:spcPct val="150000"/>
              </a:lnSpc>
              <a:spcBef>
                <a:spcPct val="20000"/>
              </a:spcBef>
              <a:buClr>
                <a:srgbClr val="002289"/>
              </a:buClr>
              <a:buSzPct val="113000"/>
              <a:buBlip>
                <a:blip r:embed="rId2"/>
              </a:buBlip>
            </a:pPr>
            <a:r>
              <a:rPr lang="ja-JP" altLang="en-US" dirty="0">
                <a:latin typeface="Meiryo UI" pitchFamily="50" charset="-128"/>
                <a:ea typeface="Meiryo UI" pitchFamily="50" charset="-128"/>
                <a:cs typeface="Meiryo UI" pitchFamily="50" charset="-128"/>
              </a:rPr>
              <a:t>本トレーニングでは、トレーニングを受講することにより、受講者の方が、</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以下のレベルに達成できることを目的としております。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Blip>
                <a:blip r:embed="rId2"/>
              </a:buBlip>
            </a:pPr>
            <a:endParaRPr lang="en-US" altLang="ja-JP" dirty="0">
              <a:latin typeface="Meiryo UI" pitchFamily="50" charset="-128"/>
              <a:ea typeface="Meiryo UI" pitchFamily="50" charset="-128"/>
              <a:cs typeface="Meiryo UI" pitchFamily="50" charset="-128"/>
            </a:endParaRPr>
          </a:p>
          <a:p>
            <a:pPr marL="800100" lvl="1" indent="-342900" eaLnBrk="0" hangingPunct="0">
              <a:lnSpc>
                <a:spcPct val="150000"/>
              </a:lnSpc>
              <a:spcBef>
                <a:spcPct val="20000"/>
              </a:spcBef>
              <a:buClr>
                <a:srgbClr val="002289"/>
              </a:buClr>
              <a:buSzPct val="113000"/>
              <a:buFont typeface="Arial" panose="020B0604020202020204" pitchFamily="34" charset="0"/>
              <a:buChar char="•"/>
            </a:pPr>
            <a:r>
              <a:rPr lang="en-US" altLang="ja-JP" dirty="0">
                <a:latin typeface="Meiryo UI" pitchFamily="50" charset="-128"/>
                <a:ea typeface="Meiryo UI" pitchFamily="50" charset="-128"/>
                <a:cs typeface="Meiryo UI" pitchFamily="50" charset="-128"/>
              </a:rPr>
              <a:t>SAP</a:t>
            </a:r>
            <a:r>
              <a:rPr lang="ja-JP" altLang="en-US" dirty="0">
                <a:latin typeface="Meiryo UI" pitchFamily="50" charset="-128"/>
                <a:ea typeface="Meiryo UI" pitchFamily="50" charset="-128"/>
                <a:cs typeface="Meiryo UI" pitchFamily="50" charset="-128"/>
              </a:rPr>
              <a:t> </a:t>
            </a:r>
            <a:r>
              <a:rPr lang="en-US" altLang="ja-JP" dirty="0">
                <a:latin typeface="Meiryo UI" pitchFamily="50" charset="-128"/>
                <a:ea typeface="Meiryo UI" pitchFamily="50" charset="-128"/>
                <a:cs typeface="Meiryo UI" pitchFamily="50" charset="-128"/>
              </a:rPr>
              <a:t>ERP</a:t>
            </a:r>
            <a:r>
              <a:rPr lang="ja-JP" altLang="en-US" dirty="0">
                <a:latin typeface="Meiryo UI" pitchFamily="50" charset="-128"/>
                <a:ea typeface="Meiryo UI" pitchFamily="50" charset="-128"/>
                <a:cs typeface="Meiryo UI" pitchFamily="50" charset="-128"/>
              </a:rPr>
              <a:t>における標準的な購買管理プロセスを理解する</a:t>
            </a:r>
            <a:endParaRPr lang="en-US" altLang="ja-JP" dirty="0">
              <a:latin typeface="Meiryo UI" pitchFamily="50" charset="-128"/>
              <a:ea typeface="Meiryo UI" pitchFamily="50" charset="-128"/>
              <a:cs typeface="Meiryo UI" pitchFamily="50" charset="-128"/>
            </a:endParaRPr>
          </a:p>
          <a:p>
            <a:pPr marL="800100" lvl="1" indent="-342900" eaLnBrk="0" hangingPunct="0">
              <a:lnSpc>
                <a:spcPct val="150000"/>
              </a:lnSpc>
              <a:spcBef>
                <a:spcPct val="20000"/>
              </a:spcBef>
              <a:buClr>
                <a:srgbClr val="002289"/>
              </a:buClr>
              <a:buSzPct val="113000"/>
              <a:buFont typeface="Arial" panose="020B0604020202020204" pitchFamily="34" charset="0"/>
              <a:buChar char="•"/>
            </a:pPr>
            <a:r>
              <a:rPr lang="en-US" altLang="ja-JP" dirty="0">
                <a:latin typeface="Meiryo UI" pitchFamily="50" charset="-128"/>
                <a:ea typeface="Meiryo UI" pitchFamily="50" charset="-128"/>
                <a:cs typeface="Meiryo UI" pitchFamily="50" charset="-128"/>
              </a:rPr>
              <a:t>(XXXX)</a:t>
            </a:r>
            <a:r>
              <a:rPr lang="ja-JP" altLang="en-US" dirty="0">
                <a:latin typeface="Meiryo UI" pitchFamily="50" charset="-128"/>
                <a:ea typeface="Meiryo UI" pitchFamily="50" charset="-128"/>
                <a:cs typeface="Meiryo UI" pitchFamily="50" charset="-128"/>
              </a:rPr>
              <a:t>様の購買管理業務を</a:t>
            </a:r>
            <a:r>
              <a:rPr lang="en-US" altLang="ja-JP" dirty="0">
                <a:latin typeface="Meiryo UI" pitchFamily="50" charset="-128"/>
                <a:ea typeface="Meiryo UI" pitchFamily="50" charset="-128"/>
                <a:cs typeface="Meiryo UI" pitchFamily="50" charset="-128"/>
              </a:rPr>
              <a:t>SAP</a:t>
            </a:r>
            <a:r>
              <a:rPr lang="ja-JP" altLang="en-US" dirty="0">
                <a:latin typeface="Meiryo UI" pitchFamily="50" charset="-128"/>
                <a:ea typeface="Meiryo UI" pitchFamily="50" charset="-128"/>
                <a:cs typeface="Meiryo UI" pitchFamily="50" charset="-128"/>
              </a:rPr>
              <a:t>で実施する際の購買管理プロセスを理解する</a:t>
            </a: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Clr>
                <a:srgbClr val="002289"/>
              </a:buClr>
              <a:buSzPct val="113000"/>
              <a:buBlip>
                <a:blip r:embed="rId2"/>
              </a:buBlip>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Clr>
                <a:srgbClr val="002289"/>
              </a:buClr>
              <a:buSzPct val="113000"/>
              <a:buBlip>
                <a:blip r:embed="rId2"/>
              </a:buBlip>
            </a:pPr>
            <a:endParaRPr kumimoji="0" lang="en-US" altLang="ja-JP" dirty="0">
              <a:latin typeface="Meiryo UI" panose="020B0604030504040204" pitchFamily="50" charset="-128"/>
              <a:ea typeface="Meiryo UI" panose="020B0604030504040204" pitchFamily="50" charset="-128"/>
              <a:cs typeface="Meiryo UI" panose="020B0604030504040204" pitchFamily="50" charset="-128"/>
            </a:endParaRPr>
          </a:p>
          <a:p>
            <a:pPr marL="800100" lvl="1" indent="-342900" eaLnBrk="0" hangingPunct="0">
              <a:spcBef>
                <a:spcPct val="20000"/>
              </a:spcBef>
              <a:buClr>
                <a:schemeClr val="tx1"/>
              </a:buClr>
              <a:buSzPct val="113000"/>
            </a:pPr>
            <a:endParaRPr kumimoji="0" lang="ja-JP" altLang="en-US" dirty="0">
              <a:latin typeface="Meiryo UI" pitchFamily="50" charset="-128"/>
              <a:ea typeface="Meiryo UI" pitchFamily="50" charset="-128"/>
              <a:cs typeface="Meiryo UI" pitchFamily="50" charset="-128"/>
            </a:endParaRPr>
          </a:p>
          <a:p>
            <a:pPr marL="1257300" lvl="2" indent="-342900" eaLnBrk="0" hangingPunct="0">
              <a:spcBef>
                <a:spcPct val="20000"/>
              </a:spcBef>
              <a:buClr>
                <a:schemeClr val="tx1"/>
              </a:buClr>
              <a:buSzPct val="113000"/>
              <a:buFont typeface="Arial" pitchFamily="34" charset="0"/>
              <a:buChar char="•"/>
            </a:pPr>
            <a:endParaRPr kumimoji="0" lang="ja-JP" altLang="en-US" dirty="0">
              <a:latin typeface="Meiryo UI" pitchFamily="50" charset="-128"/>
              <a:ea typeface="Meiryo UI" pitchFamily="50" charset="-128"/>
              <a:cs typeface="Meiryo UI" pitchFamily="50" charset="-128"/>
            </a:endParaRPr>
          </a:p>
          <a:p>
            <a:pPr marL="800100" lvl="1" indent="-342900" eaLnBrk="0" hangingPunct="0">
              <a:spcBef>
                <a:spcPct val="20000"/>
              </a:spcBef>
              <a:buClr>
                <a:schemeClr val="tx1"/>
              </a:buClr>
              <a:buSzPct val="113000"/>
              <a:buBlip>
                <a:blip r:embed="rId3"/>
              </a:buBlip>
            </a:pPr>
            <a:endParaRPr kumimoji="0" lang="en-US" altLang="ja-JP" dirty="0">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4272793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latin typeface="Meiryo UI" pitchFamily="50" charset="-128"/>
                <a:ea typeface="Meiryo UI" pitchFamily="50" charset="-128"/>
                <a:cs typeface="Meiryo UI" pitchFamily="50" charset="-128"/>
              </a:rPr>
              <a:t>目次</a:t>
            </a:r>
          </a:p>
        </p:txBody>
      </p:sp>
      <p:sp>
        <p:nvSpPr>
          <p:cNvPr id="5" name="Rectangle 15">
            <a:extLst>
              <a:ext uri="{FF2B5EF4-FFF2-40B4-BE49-F238E27FC236}">
                <a16:creationId xmlns:a16="http://schemas.microsoft.com/office/drawing/2014/main" id="{8668F5EC-8C25-4BDD-B08B-0D9CA5F9CD1B}"/>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購買管理プロセス分野における確認日程①</a:t>
            </a: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74833" y="1584960"/>
          <a:ext cx="8794335" cy="3383280"/>
        </p:xfrm>
        <a:graphic>
          <a:graphicData uri="http://schemas.openxmlformats.org/drawingml/2006/table">
            <a:tbl>
              <a:tblPr firstRow="1" bandRow="1">
                <a:tableStyleId>{7DF18680-E054-41AD-8BC1-D1AEF772440D}</a:tableStyleId>
              </a:tblPr>
              <a:tblGrid>
                <a:gridCol w="406800">
                  <a:extLst>
                    <a:ext uri="{9D8B030D-6E8A-4147-A177-3AD203B41FA5}">
                      <a16:colId xmlns:a16="http://schemas.microsoft.com/office/drawing/2014/main" val="2830627375"/>
                    </a:ext>
                  </a:extLst>
                </a:gridCol>
                <a:gridCol w="798593">
                  <a:extLst>
                    <a:ext uri="{9D8B030D-6E8A-4147-A177-3AD203B41FA5}">
                      <a16:colId xmlns:a16="http://schemas.microsoft.com/office/drawing/2014/main" val="110046248"/>
                    </a:ext>
                  </a:extLst>
                </a:gridCol>
                <a:gridCol w="5271812">
                  <a:extLst>
                    <a:ext uri="{9D8B030D-6E8A-4147-A177-3AD203B41FA5}">
                      <a16:colId xmlns:a16="http://schemas.microsoft.com/office/drawing/2014/main" val="1691918992"/>
                    </a:ext>
                  </a:extLst>
                </a:gridCol>
                <a:gridCol w="1370330">
                  <a:extLst>
                    <a:ext uri="{9D8B030D-6E8A-4147-A177-3AD203B41FA5}">
                      <a16:colId xmlns:a16="http://schemas.microsoft.com/office/drawing/2014/main" val="2414193826"/>
                    </a:ext>
                  </a:extLst>
                </a:gridCol>
                <a:gridCol w="946800">
                  <a:extLst>
                    <a:ext uri="{9D8B030D-6E8A-4147-A177-3AD203B41FA5}">
                      <a16:colId xmlns:a16="http://schemas.microsoft.com/office/drawing/2014/main" val="3501090484"/>
                    </a:ext>
                  </a:extLst>
                </a:gridCol>
              </a:tblGrid>
              <a:tr h="297399">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1</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10">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MM-1</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0.</a:t>
                      </a:r>
                      <a:r>
                        <a:rPr kumimoji="1" lang="ja-JP" altLang="en-US" sz="1400" dirty="0">
                          <a:latin typeface="Meiryo UI" pitchFamily="50" charset="-128"/>
                          <a:ea typeface="Meiryo UI" pitchFamily="50" charset="-128"/>
                          <a:cs typeface="Meiryo UI" pitchFamily="50" charset="-128"/>
                        </a:rPr>
                        <a:t>イントロダクション</a:t>
                      </a:r>
                      <a:endParaRPr kumimoji="1" lang="en-US" altLang="ja-JP"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講義</a:t>
                      </a:r>
                      <a:r>
                        <a:rPr kumimoji="1" lang="en-US" altLang="ja-JP" sz="1400" dirty="0">
                          <a:latin typeface="Meiryo UI" pitchFamily="50" charset="-128"/>
                          <a:ea typeface="Meiryo UI" pitchFamily="50" charset="-128"/>
                          <a:cs typeface="Meiryo UI" pitchFamily="50" charset="-128"/>
                        </a:rPr>
                        <a:t>/</a:t>
                      </a:r>
                      <a:r>
                        <a:rPr kumimoji="1" lang="ja-JP" altLang="en-US" sz="1400" dirty="0">
                          <a:latin typeface="Meiryo UI" pitchFamily="50" charset="-128"/>
                          <a:ea typeface="Meiryo UI" pitchFamily="50" charset="-128"/>
                          <a:cs typeface="Meiryo UI" pitchFamily="50" charset="-128"/>
                        </a:rPr>
                        <a:t>ハンズオン</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 </a:t>
                      </a:r>
                      <a:r>
                        <a:rPr kumimoji="1" lang="ja-JP" altLang="en-US" sz="1400" dirty="0">
                          <a:latin typeface="Meiryo UI" pitchFamily="50" charset="-128"/>
                          <a:ea typeface="Meiryo UI" pitchFamily="50" charset="-128"/>
                          <a:cs typeface="Meiryo UI" pitchFamily="50" charset="-128"/>
                        </a:rPr>
                        <a:t>調達におけるプロセスおよび企業構造</a:t>
                      </a:r>
                      <a:endParaRPr kumimoji="1" lang="en-US" altLang="ja-JP"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73040453"/>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1.1 </a:t>
                      </a:r>
                      <a:r>
                        <a:rPr kumimoji="1" lang="ja-JP" altLang="en-US" sz="1400" dirty="0">
                          <a:latin typeface="Meiryo UI" pitchFamily="50" charset="-128"/>
                          <a:ea typeface="Meiryo UI" pitchFamily="50" charset="-128"/>
                          <a:cs typeface="Meiryo UI" pitchFamily="50" charset="-128"/>
                        </a:rPr>
                        <a:t>調達プロセスの描写</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講義</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07887512"/>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4</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ja-JP" altLang="en-US" sz="1400" dirty="0">
                          <a:latin typeface="Meiryo UI" pitchFamily="50" charset="-128"/>
                          <a:ea typeface="Meiryo UI" pitchFamily="50" charset="-128"/>
                          <a:cs typeface="Meiryo UI" pitchFamily="50" charset="-128"/>
                        </a:rPr>
                        <a:t> </a:t>
                      </a:r>
                      <a:r>
                        <a:rPr kumimoji="1" lang="en-US" altLang="ja-JP" sz="1400" dirty="0">
                          <a:latin typeface="Meiryo UI" pitchFamily="50" charset="-128"/>
                          <a:ea typeface="Meiryo UI" pitchFamily="50" charset="-128"/>
                          <a:cs typeface="Meiryo UI" pitchFamily="50" charset="-128"/>
                        </a:rPr>
                        <a:t>1.2 </a:t>
                      </a:r>
                      <a:r>
                        <a:rPr kumimoji="1" lang="ja-JP" altLang="en-US" sz="1400" dirty="0">
                          <a:latin typeface="Meiryo UI" pitchFamily="50" charset="-128"/>
                          <a:ea typeface="Meiryo UI" pitchFamily="50" charset="-128"/>
                          <a:cs typeface="Meiryo UI" pitchFamily="50" charset="-128"/>
                        </a:rPr>
                        <a:t>調達における組織ユニットの確認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講義</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01401915"/>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5</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2. </a:t>
                      </a:r>
                      <a:r>
                        <a:rPr kumimoji="1" lang="ja-JP" altLang="en-US" sz="1400" dirty="0">
                          <a:latin typeface="Meiryo UI" pitchFamily="50" charset="-128"/>
                          <a:ea typeface="Meiryo UI" pitchFamily="50" charset="-128"/>
                          <a:cs typeface="Meiryo UI" pitchFamily="50" charset="-128"/>
                        </a:rPr>
                        <a:t>調達のマスタデータ</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42027873"/>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6</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 2.1 </a:t>
                      </a:r>
                      <a:r>
                        <a:rPr kumimoji="1" lang="ja-JP" altLang="en-US" sz="1400" dirty="0">
                          <a:latin typeface="Meiryo UI" pitchFamily="50" charset="-128"/>
                          <a:ea typeface="Meiryo UI" pitchFamily="50" charset="-128"/>
                          <a:cs typeface="Meiryo UI" pitchFamily="50" charset="-128"/>
                        </a:rPr>
                        <a:t>マスタ概要</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algn="l">
                        <a:buFontTx/>
                        <a:buNone/>
                      </a:pPr>
                      <a:r>
                        <a:rPr kumimoji="1" lang="ja-JP" altLang="en-US" sz="1400" baseline="0" dirty="0">
                          <a:latin typeface="Meiryo UI" pitchFamily="50" charset="-128"/>
                          <a:ea typeface="Meiryo UI" pitchFamily="50" charset="-128"/>
                          <a:cs typeface="Meiryo UI" pitchFamily="50" charset="-128"/>
                        </a:rPr>
                        <a:t> </a:t>
                      </a:r>
                      <a:r>
                        <a:rPr kumimoji="1" lang="en-US" altLang="ja-JP" sz="1400" dirty="0">
                          <a:latin typeface="Meiryo UI" pitchFamily="50" charset="-128"/>
                          <a:ea typeface="Meiryo UI" pitchFamily="50" charset="-128"/>
                          <a:cs typeface="Meiryo UI" pitchFamily="50" charset="-128"/>
                        </a:rPr>
                        <a:t>2.2 </a:t>
                      </a:r>
                      <a:r>
                        <a:rPr kumimoji="1" lang="ja-JP" altLang="en-US" sz="1400" dirty="0">
                          <a:latin typeface="Meiryo UI" pitchFamily="50" charset="-128"/>
                          <a:ea typeface="Meiryo UI" pitchFamily="50" charset="-128"/>
                          <a:cs typeface="Meiryo UI" pitchFamily="50" charset="-128"/>
                        </a:rPr>
                        <a:t>ビジネスパートナーマスタデータの更新</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2.3 </a:t>
                      </a:r>
                      <a:r>
                        <a:rPr kumimoji="1" lang="ja-JP" altLang="en-US" sz="1400" dirty="0">
                          <a:latin typeface="Meiryo UI" pitchFamily="50" charset="-128"/>
                          <a:ea typeface="Meiryo UI" pitchFamily="50" charset="-128"/>
                          <a:cs typeface="Meiryo UI" pitchFamily="50" charset="-128"/>
                        </a:rPr>
                        <a:t>品目マスタデータの更新</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8"/>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2.4 </a:t>
                      </a:r>
                      <a:r>
                        <a:rPr kumimoji="1" lang="ja-JP" altLang="en-US" sz="1400" dirty="0">
                          <a:latin typeface="Meiryo UI" pitchFamily="50" charset="-128"/>
                          <a:ea typeface="Meiryo UI" pitchFamily="50" charset="-128"/>
                          <a:cs typeface="Meiryo UI" pitchFamily="50" charset="-128"/>
                        </a:rPr>
                        <a:t>購買情報の更新</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68070">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 </a:t>
                      </a:r>
                      <a:r>
                        <a:rPr kumimoji="1" lang="en-US" altLang="ja-JP" sz="1400" baseline="0" dirty="0">
                          <a:latin typeface="Meiryo UI" pitchFamily="50" charset="-128"/>
                          <a:ea typeface="Meiryo UI" pitchFamily="50" charset="-128"/>
                          <a:cs typeface="Meiryo UI" pitchFamily="50" charset="-128"/>
                        </a:rPr>
                        <a:t>2</a:t>
                      </a:r>
                      <a:r>
                        <a:rPr kumimoji="1" lang="en-US" altLang="ja-JP" sz="1400" dirty="0">
                          <a:latin typeface="Meiryo UI" pitchFamily="50" charset="-128"/>
                          <a:ea typeface="Meiryo UI" pitchFamily="50" charset="-128"/>
                          <a:cs typeface="Meiryo UI" pitchFamily="50" charset="-128"/>
                        </a:rPr>
                        <a:t>.5 </a:t>
                      </a:r>
                      <a:r>
                        <a:rPr kumimoji="1" lang="ja-JP" altLang="en-US" sz="1400" dirty="0">
                          <a:latin typeface="Meiryo UI" pitchFamily="50" charset="-128"/>
                          <a:ea typeface="Meiryo UI" pitchFamily="50" charset="-128"/>
                          <a:cs typeface="Meiryo UI" pitchFamily="50" charset="-128"/>
                        </a:rPr>
                        <a:t>品目評価の分析</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307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sp>
        <p:nvSpPr>
          <p:cNvPr id="5" name="Rectangle 15">
            <a:extLst>
              <a:ext uri="{FF2B5EF4-FFF2-40B4-BE49-F238E27FC236}">
                <a16:creationId xmlns:a16="http://schemas.microsoft.com/office/drawing/2014/main" id="{8668F5EC-8C25-4BDD-B08B-0D9CA5F9CD1B}"/>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購買管理プロセス分野における確認日程②</a:t>
            </a:r>
            <a:endParaRPr lang="en-US" altLang="ja-JP"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2" y="1543798"/>
          <a:ext cx="8600022" cy="3073025"/>
        </p:xfrm>
        <a:graphic>
          <a:graphicData uri="http://schemas.openxmlformats.org/drawingml/2006/table">
            <a:tbl>
              <a:tblPr firstRow="1" bandRow="1">
                <a:tableStyleId>{7DF18680-E054-41AD-8BC1-D1AEF772440D}</a:tableStyleId>
              </a:tblPr>
              <a:tblGrid>
                <a:gridCol w="435838">
                  <a:extLst>
                    <a:ext uri="{9D8B030D-6E8A-4147-A177-3AD203B41FA5}">
                      <a16:colId xmlns:a16="http://schemas.microsoft.com/office/drawing/2014/main" val="2830627375"/>
                    </a:ext>
                  </a:extLst>
                </a:gridCol>
                <a:gridCol w="739361">
                  <a:extLst>
                    <a:ext uri="{9D8B030D-6E8A-4147-A177-3AD203B41FA5}">
                      <a16:colId xmlns:a16="http://schemas.microsoft.com/office/drawing/2014/main" val="110046248"/>
                    </a:ext>
                  </a:extLst>
                </a:gridCol>
                <a:gridCol w="4939974">
                  <a:extLst>
                    <a:ext uri="{9D8B030D-6E8A-4147-A177-3AD203B41FA5}">
                      <a16:colId xmlns:a16="http://schemas.microsoft.com/office/drawing/2014/main" val="1691918992"/>
                    </a:ext>
                  </a:extLst>
                </a:gridCol>
                <a:gridCol w="1469052">
                  <a:extLst>
                    <a:ext uri="{9D8B030D-6E8A-4147-A177-3AD203B41FA5}">
                      <a16:colId xmlns:a16="http://schemas.microsoft.com/office/drawing/2014/main" val="2414193826"/>
                    </a:ext>
                  </a:extLst>
                </a:gridCol>
                <a:gridCol w="1015797">
                  <a:extLst>
                    <a:ext uri="{9D8B030D-6E8A-4147-A177-3AD203B41FA5}">
                      <a16:colId xmlns:a16="http://schemas.microsoft.com/office/drawing/2014/main" val="3501090484"/>
                    </a:ext>
                  </a:extLst>
                </a:gridCol>
              </a:tblGrid>
              <a:tr h="371465">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37695">
                <a:tc>
                  <a:txBody>
                    <a:bodyPr/>
                    <a:lstStyle/>
                    <a:p>
                      <a:pPr algn="ctr">
                        <a:buFontTx/>
                        <a:buNone/>
                      </a:pPr>
                      <a:r>
                        <a:rPr kumimoji="1" lang="en-US" altLang="ja-JP" sz="1400" dirty="0">
                          <a:latin typeface="Meiryo UI" pitchFamily="50" charset="-128"/>
                          <a:ea typeface="Meiryo UI" pitchFamily="50" charset="-128"/>
                          <a:cs typeface="Meiryo UI" pitchFamily="50" charset="-128"/>
                        </a:rPr>
                        <a:t>11</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MM-2</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3.</a:t>
                      </a:r>
                      <a:r>
                        <a:rPr kumimoji="1" lang="ja-JP" altLang="en-US" sz="1400" dirty="0">
                          <a:latin typeface="Meiryo UI" pitchFamily="50" charset="-128"/>
                          <a:ea typeface="Meiryo UI" pitchFamily="50" charset="-128"/>
                          <a:cs typeface="Meiryo UI" pitchFamily="50" charset="-128"/>
                        </a:rPr>
                        <a:t>在庫品目と消費品目の比較</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337695">
                <a:tc>
                  <a:txBody>
                    <a:bodyPr/>
                    <a:lstStyle/>
                    <a:p>
                      <a:pPr algn="ctr">
                        <a:buFontTx/>
                        <a:buNone/>
                      </a:pPr>
                      <a:r>
                        <a:rPr kumimoji="1" lang="en-US" altLang="ja-JP" sz="1400" dirty="0">
                          <a:latin typeface="Meiryo UI" pitchFamily="50" charset="-128"/>
                          <a:ea typeface="Meiryo UI" pitchFamily="50" charset="-128"/>
                          <a:cs typeface="Meiryo UI" pitchFamily="50" charset="-128"/>
                        </a:rPr>
                        <a:t>12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 3.1 </a:t>
                      </a:r>
                      <a:r>
                        <a:rPr kumimoji="1" lang="ja-JP" altLang="en-US" sz="1400" dirty="0">
                          <a:latin typeface="Meiryo UI" pitchFamily="50" charset="-128"/>
                          <a:ea typeface="Meiryo UI" pitchFamily="50" charset="-128"/>
                          <a:cs typeface="Meiryo UI" pitchFamily="50" charset="-128"/>
                        </a:rPr>
                        <a:t>在庫品目と消耗品の比較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講義</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337695">
                <a:tc>
                  <a:txBody>
                    <a:bodyPr/>
                    <a:lstStyle/>
                    <a:p>
                      <a:pPr algn="ctr">
                        <a:buFontTx/>
                        <a:buNone/>
                      </a:pPr>
                      <a:r>
                        <a:rPr kumimoji="1" lang="en-US" altLang="ja-JP" sz="1400" dirty="0">
                          <a:latin typeface="Meiryo UI" pitchFamily="50" charset="-128"/>
                          <a:ea typeface="Meiryo UI" pitchFamily="50" charset="-128"/>
                          <a:cs typeface="Meiryo UI" pitchFamily="50" charset="-128"/>
                        </a:rPr>
                        <a:t>13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 3.2 </a:t>
                      </a:r>
                      <a:r>
                        <a:rPr kumimoji="1" lang="ja-JP" altLang="en-US" sz="1400" dirty="0">
                          <a:latin typeface="Meiryo UI" pitchFamily="50" charset="-128"/>
                          <a:ea typeface="Meiryo UI" pitchFamily="50" charset="-128"/>
                          <a:cs typeface="Meiryo UI" pitchFamily="50" charset="-128"/>
                        </a:rPr>
                        <a:t>購買依頼の登録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endParaRPr kumimoji="1" lang="en-US" altLang="ja-JP"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337695">
                <a:tc>
                  <a:txBody>
                    <a:bodyPr/>
                    <a:lstStyle/>
                    <a:p>
                      <a:pPr algn="ctr">
                        <a:buFontTx/>
                        <a:buNone/>
                      </a:pPr>
                      <a:r>
                        <a:rPr kumimoji="1" lang="en-US" altLang="ja-JP" sz="1400" dirty="0">
                          <a:latin typeface="Meiryo UI" pitchFamily="50" charset="-128"/>
                          <a:ea typeface="Meiryo UI" pitchFamily="50" charset="-128"/>
                          <a:cs typeface="Meiryo UI" pitchFamily="50" charset="-128"/>
                        </a:rPr>
                        <a:t>14</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3.3 </a:t>
                      </a:r>
                      <a:r>
                        <a:rPr kumimoji="1" lang="ja-JP" altLang="en-US" sz="1400" dirty="0">
                          <a:latin typeface="Meiryo UI" pitchFamily="50" charset="-128"/>
                          <a:ea typeface="Meiryo UI" pitchFamily="50" charset="-128"/>
                          <a:cs typeface="Meiryo UI" pitchFamily="50" charset="-128"/>
                        </a:rPr>
                        <a:t>購買依頼を参照した購買発注登録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337695">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4.</a:t>
                      </a:r>
                      <a:r>
                        <a:rPr kumimoji="1" lang="ja-JP" altLang="en-US" sz="1400" dirty="0">
                          <a:latin typeface="Meiryo UI" pitchFamily="50" charset="-128"/>
                          <a:ea typeface="Meiryo UI" pitchFamily="50" charset="-128"/>
                          <a:cs typeface="Meiryo UI" pitchFamily="50" charset="-128"/>
                        </a:rPr>
                        <a:t>一般調達プロセス</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337695">
                <a:tc>
                  <a:txBody>
                    <a:bodyPr/>
                    <a:lstStyle/>
                    <a:p>
                      <a:pPr algn="ctr">
                        <a:buFontTx/>
                        <a:buNone/>
                      </a:pPr>
                      <a:r>
                        <a:rPr kumimoji="1" lang="en-US" altLang="ja-JP" sz="1400" dirty="0">
                          <a:latin typeface="Meiryo UI" pitchFamily="50" charset="-128"/>
                          <a:ea typeface="Meiryo UI" pitchFamily="50" charset="-128"/>
                          <a:cs typeface="Meiryo UI" pitchFamily="50" charset="-128"/>
                        </a:rPr>
                        <a:t>16</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4.1</a:t>
                      </a:r>
                      <a:r>
                        <a:rPr kumimoji="1" lang="en-US" altLang="ja-JP" sz="1400" baseline="0" dirty="0">
                          <a:latin typeface="Meiryo UI" pitchFamily="50" charset="-128"/>
                          <a:ea typeface="Meiryo UI" pitchFamily="50" charset="-128"/>
                          <a:cs typeface="Meiryo UI" pitchFamily="50" charset="-128"/>
                        </a:rPr>
                        <a:t> </a:t>
                      </a:r>
                      <a:r>
                        <a:rPr kumimoji="1" lang="ja-JP" altLang="en-US" sz="1400" baseline="0" dirty="0">
                          <a:latin typeface="Meiryo UI" pitchFamily="50" charset="-128"/>
                          <a:ea typeface="Meiryo UI" pitchFamily="50" charset="-128"/>
                          <a:cs typeface="Meiryo UI" pitchFamily="50" charset="-128"/>
                        </a:rPr>
                        <a:t>購買発注の登録</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337695">
                <a:tc>
                  <a:txBody>
                    <a:bodyPr/>
                    <a:lstStyle/>
                    <a:p>
                      <a:pPr algn="ctr">
                        <a:buFontTx/>
                        <a:buNone/>
                      </a:pPr>
                      <a:r>
                        <a:rPr kumimoji="1" lang="en-US" altLang="ja-JP" sz="1400" dirty="0">
                          <a:latin typeface="Meiryo UI" pitchFamily="50" charset="-128"/>
                          <a:ea typeface="Meiryo UI" pitchFamily="50" charset="-128"/>
                          <a:cs typeface="Meiryo UI" pitchFamily="50" charset="-128"/>
                        </a:rPr>
                        <a:t>17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 4.2</a:t>
                      </a:r>
                      <a:r>
                        <a:rPr kumimoji="1" lang="en-US" altLang="ja-JP" sz="1400" baseline="0" dirty="0">
                          <a:latin typeface="Meiryo UI" pitchFamily="50" charset="-128"/>
                          <a:ea typeface="Meiryo UI" pitchFamily="50" charset="-128"/>
                          <a:cs typeface="Meiryo UI" pitchFamily="50" charset="-128"/>
                        </a:rPr>
                        <a:t> </a:t>
                      </a:r>
                      <a:r>
                        <a:rPr kumimoji="1" lang="ja-JP" altLang="en-US" sz="1400" baseline="0" dirty="0">
                          <a:latin typeface="Meiryo UI" pitchFamily="50" charset="-128"/>
                          <a:ea typeface="Meiryo UI" pitchFamily="50" charset="-128"/>
                          <a:cs typeface="Meiryo UI" pitchFamily="50" charset="-128"/>
                        </a:rPr>
                        <a:t>入庫の転記</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337695">
                <a:tc>
                  <a:txBody>
                    <a:bodyPr/>
                    <a:lstStyle/>
                    <a:p>
                      <a:pPr algn="ctr">
                        <a:buFontTx/>
                        <a:buNone/>
                      </a:pPr>
                      <a:r>
                        <a:rPr kumimoji="1" lang="en-US" altLang="ja-JP" sz="1400" dirty="0">
                          <a:latin typeface="Meiryo UI" pitchFamily="50" charset="-128"/>
                          <a:ea typeface="Meiryo UI" pitchFamily="50" charset="-128"/>
                          <a:cs typeface="Meiryo UI" pitchFamily="50" charset="-128"/>
                        </a:rPr>
                        <a:t>18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 </a:t>
                      </a:r>
                      <a:r>
                        <a:rPr kumimoji="1" lang="en-US" altLang="ja-JP" sz="1400" baseline="0" dirty="0">
                          <a:latin typeface="Meiryo UI" pitchFamily="50" charset="-128"/>
                          <a:ea typeface="Meiryo UI" pitchFamily="50" charset="-128"/>
                          <a:cs typeface="Meiryo UI" pitchFamily="50" charset="-128"/>
                        </a:rPr>
                        <a:t>4.3 </a:t>
                      </a:r>
                      <a:r>
                        <a:rPr kumimoji="1" lang="ja-JP" altLang="en-US" sz="1400" baseline="0" dirty="0">
                          <a:latin typeface="Meiryo UI" pitchFamily="50" charset="-128"/>
                          <a:ea typeface="Meiryo UI" pitchFamily="50" charset="-128"/>
                          <a:cs typeface="Meiryo UI" pitchFamily="50" charset="-128"/>
                        </a:rPr>
                        <a:t>請求書の入力</a:t>
                      </a:r>
                      <a:endParaRPr kumimoji="1" lang="en-US" altLang="ja-JP" sz="1400" baseline="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04819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購買管理プロセス分野における確認日程③</a:t>
            </a: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13"/>
          <a:ext cx="8383982" cy="2797457"/>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79902">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45365">
                <a:tc>
                  <a:txBody>
                    <a:bodyPr/>
                    <a:lstStyle/>
                    <a:p>
                      <a:pPr algn="ctr">
                        <a:buFontTx/>
                        <a:buNone/>
                      </a:pPr>
                      <a:r>
                        <a:rPr kumimoji="1" lang="en-US" altLang="ja-JP" sz="1400" dirty="0">
                          <a:latin typeface="Meiryo UI" pitchFamily="50" charset="-128"/>
                          <a:ea typeface="Meiryo UI" pitchFamily="50" charset="-128"/>
                          <a:cs typeface="Meiryo UI" pitchFamily="50" charset="-128"/>
                        </a:rPr>
                        <a:t>19</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rowSpan="7">
                  <a:txBody>
                    <a:bodyPr/>
                    <a:lstStyle/>
                    <a:p>
                      <a:pPr algn="ctr">
                        <a:buFontTx/>
                        <a:buNone/>
                      </a:pPr>
                      <a:r>
                        <a:rPr kumimoji="1" lang="en-US" altLang="ja-JP" sz="1400" dirty="0">
                          <a:latin typeface="Meiryo UI" pitchFamily="50" charset="-128"/>
                          <a:ea typeface="Meiryo UI" pitchFamily="50" charset="-128"/>
                          <a:cs typeface="Meiryo UI" pitchFamily="50" charset="-128"/>
                        </a:rPr>
                        <a:t>MM-3</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4.</a:t>
                      </a:r>
                      <a:r>
                        <a:rPr kumimoji="1" lang="ja-JP" altLang="en-US" sz="1400" dirty="0">
                          <a:latin typeface="Meiryo UI" pitchFamily="50" charset="-128"/>
                          <a:ea typeface="Meiryo UI" pitchFamily="50" charset="-128"/>
                          <a:cs typeface="Meiryo UI" pitchFamily="50" charset="-128"/>
                        </a:rPr>
                        <a:t>一般調達プロセス</a:t>
                      </a: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345365">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baseline="0" dirty="0">
                          <a:latin typeface="Meiryo UI" pitchFamily="50" charset="-128"/>
                          <a:ea typeface="Meiryo UI" pitchFamily="50" charset="-128"/>
                          <a:cs typeface="Meiryo UI" pitchFamily="50" charset="-128"/>
                        </a:rPr>
                        <a:t> 4.4 </a:t>
                      </a:r>
                      <a:r>
                        <a:rPr kumimoji="1" lang="ja-JP" altLang="en-US" sz="1400" baseline="0" dirty="0">
                          <a:latin typeface="Meiryo UI" pitchFamily="50" charset="-128"/>
                          <a:ea typeface="Meiryo UI" pitchFamily="50" charset="-128"/>
                          <a:cs typeface="Meiryo UI" pitchFamily="50" charset="-128"/>
                        </a:rPr>
                        <a:t>評価入庫と非評価入庫の入力</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r>
                        <a:rPr kumimoji="1" lang="ja-JP" altLang="en-US" sz="1400" dirty="0">
                          <a:latin typeface="Meiryo UI" pitchFamily="50" charset="-128"/>
                          <a:ea typeface="Meiryo UI" pitchFamily="50" charset="-128"/>
                          <a:cs typeface="Meiryo UI" pitchFamily="50" charset="-128"/>
                        </a:rPr>
                        <a:t>分</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45365">
                <a:tc>
                  <a:txBody>
                    <a:bodyPr/>
                    <a:lstStyle/>
                    <a:p>
                      <a:pPr algn="ctr">
                        <a:buFontTx/>
                        <a:buNone/>
                      </a:pPr>
                      <a:r>
                        <a:rPr kumimoji="1" lang="en-US" altLang="ja-JP" sz="1400" dirty="0">
                          <a:latin typeface="Meiryo UI" pitchFamily="50" charset="-128"/>
                          <a:ea typeface="Meiryo UI" pitchFamily="50" charset="-128"/>
                          <a:cs typeface="Meiryo UI" pitchFamily="50" charset="-128"/>
                        </a:rPr>
                        <a:t>21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5.</a:t>
                      </a:r>
                      <a:r>
                        <a:rPr kumimoji="1" lang="ja-JP" altLang="en-US" sz="1400" dirty="0">
                          <a:latin typeface="Meiryo UI" pitchFamily="50" charset="-128"/>
                          <a:ea typeface="Meiryo UI" pitchFamily="50" charset="-128"/>
                          <a:cs typeface="Meiryo UI" pitchFamily="50" charset="-128"/>
                        </a:rPr>
                        <a:t>調達における高度なトランザクション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45365">
                <a:tc>
                  <a:txBody>
                    <a:bodyPr/>
                    <a:lstStyle/>
                    <a:p>
                      <a:pPr algn="ctr">
                        <a:buFontTx/>
                        <a:buNone/>
                      </a:pPr>
                      <a:r>
                        <a:rPr kumimoji="1" lang="en-US" altLang="ja-JP" sz="1400" dirty="0">
                          <a:latin typeface="Meiryo UI" pitchFamily="50" charset="-128"/>
                          <a:ea typeface="Meiryo UI" pitchFamily="50" charset="-128"/>
                          <a:cs typeface="Meiryo UI" pitchFamily="50" charset="-128"/>
                        </a:rPr>
                        <a:t>22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5.1 </a:t>
                      </a:r>
                      <a:r>
                        <a:rPr kumimoji="1" lang="ja-JP" altLang="en-US" sz="1400" dirty="0">
                          <a:latin typeface="Meiryo UI" pitchFamily="50" charset="-128"/>
                          <a:ea typeface="Meiryo UI" pitchFamily="50" charset="-128"/>
                          <a:cs typeface="Meiryo UI" pitchFamily="50" charset="-128"/>
                        </a:rPr>
                        <a:t>購買契約の更新</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45365">
                <a:tc>
                  <a:txBody>
                    <a:bodyPr/>
                    <a:lstStyle/>
                    <a:p>
                      <a:pPr algn="ctr">
                        <a:buFontTx/>
                        <a:buNone/>
                      </a:pPr>
                      <a:r>
                        <a:rPr kumimoji="1" lang="en-US" altLang="ja-JP" sz="1400" dirty="0">
                          <a:latin typeface="Meiryo UI" pitchFamily="50" charset="-128"/>
                          <a:ea typeface="Meiryo UI" pitchFamily="50" charset="-128"/>
                          <a:cs typeface="Meiryo UI" pitchFamily="50" charset="-128"/>
                        </a:rPr>
                        <a:t>23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5.2 </a:t>
                      </a:r>
                      <a:r>
                        <a:rPr kumimoji="1" lang="ja-JP" altLang="en-US" sz="1400" dirty="0">
                          <a:latin typeface="Meiryo UI" pitchFamily="50" charset="-128"/>
                          <a:ea typeface="Meiryo UI" pitchFamily="50" charset="-128"/>
                          <a:cs typeface="Meiryo UI" pitchFamily="50" charset="-128"/>
                        </a:rPr>
                        <a:t>購買発注登録のための拡張トランザクション使用</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45365">
                <a:tc>
                  <a:txBody>
                    <a:bodyPr/>
                    <a:lstStyle/>
                    <a:p>
                      <a:pPr algn="ctr">
                        <a:buFontTx/>
                        <a:buNone/>
                      </a:pPr>
                      <a:r>
                        <a:rPr kumimoji="1" lang="en-US" altLang="ja-JP" sz="1400" dirty="0">
                          <a:latin typeface="Meiryo UI" pitchFamily="50" charset="-128"/>
                          <a:ea typeface="Meiryo UI" pitchFamily="50" charset="-128"/>
                          <a:cs typeface="Meiryo UI" pitchFamily="50" charset="-128"/>
                        </a:rPr>
                        <a:t>24</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5.3 </a:t>
                      </a:r>
                      <a:r>
                        <a:rPr kumimoji="1" lang="ja-JP" altLang="en-US" sz="1400" dirty="0">
                          <a:latin typeface="Meiryo UI" pitchFamily="50" charset="-128"/>
                          <a:ea typeface="Meiryo UI" pitchFamily="50" charset="-128"/>
                          <a:cs typeface="Meiryo UI" pitchFamily="50" charset="-128"/>
                        </a:rPr>
                        <a:t>入庫のための拡張トランザクションの使用</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45365">
                <a:tc>
                  <a:txBody>
                    <a:bodyPr/>
                    <a:lstStyle/>
                    <a:p>
                      <a:pPr algn="ctr">
                        <a:buFontTx/>
                        <a:buNone/>
                      </a:pPr>
                      <a:r>
                        <a:rPr kumimoji="1" lang="en-US" altLang="ja-JP" sz="1400" dirty="0">
                          <a:latin typeface="Meiryo UI" pitchFamily="50" charset="-128"/>
                          <a:ea typeface="Meiryo UI" pitchFamily="50" charset="-128"/>
                          <a:cs typeface="Meiryo UI" pitchFamily="50" charset="-128"/>
                        </a:rPr>
                        <a:t>25</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5.4 </a:t>
                      </a:r>
                      <a:r>
                        <a:rPr kumimoji="1" lang="ja-JP" altLang="en-US" sz="1400" dirty="0">
                          <a:latin typeface="Meiryo UI" pitchFamily="50" charset="-128"/>
                          <a:ea typeface="Meiryo UI" pitchFamily="50" charset="-128"/>
                          <a:cs typeface="Meiryo UI" pitchFamily="50" charset="-128"/>
                        </a:rPr>
                        <a:t>拡張トランザクションを使用した請求書照合</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20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bl>
          </a:graphicData>
        </a:graphic>
      </p:graphicFrame>
    </p:spTree>
    <p:extLst>
      <p:ext uri="{BB962C8B-B14F-4D97-AF65-F5344CB8AC3E}">
        <p14:creationId xmlns:p14="http://schemas.microsoft.com/office/powerpoint/2010/main" val="245744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購買管理プロセス分野における確認日程④</a:t>
            </a: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09"/>
          <a:ext cx="8383982" cy="2989978"/>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61426">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26</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MM-4</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6. (XXXX)</a:t>
                      </a:r>
                      <a:r>
                        <a:rPr kumimoji="1" lang="ja-JP" altLang="en-US" sz="1400" dirty="0">
                          <a:latin typeface="Meiryo UI" pitchFamily="50" charset="-128"/>
                          <a:ea typeface="Meiryo UI" pitchFamily="50" charset="-128"/>
                          <a:cs typeface="Meiryo UI" pitchFamily="50" charset="-128"/>
                        </a:rPr>
                        <a:t>様における業務プロセスの確認</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633467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6.1 </a:t>
                      </a:r>
                      <a:r>
                        <a:rPr kumimoji="1" lang="ja-JP" altLang="en-US" sz="1400" dirty="0">
                          <a:latin typeface="Meiryo UI" pitchFamily="50" charset="-128"/>
                          <a:ea typeface="Meiryo UI" pitchFamily="50" charset="-128"/>
                          <a:cs typeface="Meiryo UI" pitchFamily="50" charset="-128"/>
                        </a:rPr>
                        <a:t>購買依頼の登録・承認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6.2 </a:t>
                      </a:r>
                      <a:r>
                        <a:rPr kumimoji="1" lang="ja-JP" altLang="en-US" sz="1400" dirty="0">
                          <a:latin typeface="Meiryo UI" pitchFamily="50" charset="-128"/>
                          <a:ea typeface="Meiryo UI" pitchFamily="50" charset="-128"/>
                          <a:cs typeface="Meiryo UI" pitchFamily="50" charset="-128"/>
                        </a:rPr>
                        <a:t>見積依頼の登録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6.3 </a:t>
                      </a:r>
                      <a:r>
                        <a:rPr kumimoji="1" lang="ja-JP" altLang="en-US" sz="1400" dirty="0">
                          <a:latin typeface="Meiryo UI" pitchFamily="50" charset="-128"/>
                          <a:ea typeface="Meiryo UI" pitchFamily="50" charset="-128"/>
                          <a:cs typeface="Meiryo UI" pitchFamily="50" charset="-128"/>
                        </a:rPr>
                        <a:t>見積回答の登録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6.4 </a:t>
                      </a:r>
                      <a:r>
                        <a:rPr kumimoji="1" lang="ja-JP" altLang="en-US" sz="1400" dirty="0">
                          <a:latin typeface="Meiryo UI" pitchFamily="50" charset="-128"/>
                          <a:ea typeface="Meiryo UI" pitchFamily="50" charset="-128"/>
                          <a:cs typeface="Meiryo UI" pitchFamily="50" charset="-128"/>
                        </a:rPr>
                        <a:t>見積結果の比較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6.5 </a:t>
                      </a:r>
                      <a:r>
                        <a:rPr kumimoji="1" lang="ja-JP" altLang="en-US" sz="1400" dirty="0">
                          <a:latin typeface="Meiryo UI" pitchFamily="50" charset="-128"/>
                          <a:ea typeface="Meiryo UI" pitchFamily="50" charset="-128"/>
                          <a:cs typeface="Meiryo UI" pitchFamily="50" charset="-128"/>
                        </a:rPr>
                        <a:t>購買発注の登録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6.6 </a:t>
                      </a:r>
                      <a:r>
                        <a:rPr kumimoji="1" lang="ja-JP" altLang="en-US" sz="1400" dirty="0">
                          <a:latin typeface="Meiryo UI" pitchFamily="50" charset="-128"/>
                          <a:ea typeface="Meiryo UI" pitchFamily="50" charset="-128"/>
                          <a:cs typeface="Meiryo UI" pitchFamily="50" charset="-128"/>
                        </a:rPr>
                        <a:t>購買発注の入庫</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6.7 </a:t>
                      </a:r>
                      <a:r>
                        <a:rPr kumimoji="1" lang="ja-JP" altLang="en-US" sz="1400" dirty="0">
                          <a:latin typeface="Meiryo UI" pitchFamily="50" charset="-128"/>
                          <a:ea typeface="Meiryo UI" pitchFamily="50" charset="-128"/>
                          <a:cs typeface="Meiryo UI" pitchFamily="50" charset="-128"/>
                        </a:rPr>
                        <a:t>自動請求書照合</a:t>
                      </a:r>
                      <a:r>
                        <a:rPr kumimoji="1" lang="en-US" altLang="ja-JP" sz="1400" dirty="0">
                          <a:latin typeface="Meiryo UI" pitchFamily="50" charset="-128"/>
                          <a:ea typeface="Meiryo UI" pitchFamily="50" charset="-128"/>
                          <a:cs typeface="Meiryo UI" pitchFamily="50" charset="-128"/>
                        </a:rPr>
                        <a:t>(ERS)</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70965439"/>
                  </a:ext>
                </a:extLst>
              </a:tr>
            </a:tbl>
          </a:graphicData>
        </a:graphic>
      </p:graphicFrame>
    </p:spTree>
    <p:extLst>
      <p:ext uri="{BB962C8B-B14F-4D97-AF65-F5344CB8AC3E}">
        <p14:creationId xmlns:p14="http://schemas.microsoft.com/office/powerpoint/2010/main" val="2453297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フローチャート: 書類 251"/>
          <p:cNvSpPr/>
          <p:nvPr/>
        </p:nvSpPr>
        <p:spPr>
          <a:xfrm>
            <a:off x="5746649" y="6303143"/>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251" name="フローチャート: 書類 250"/>
          <p:cNvSpPr/>
          <p:nvPr/>
        </p:nvSpPr>
        <p:spPr>
          <a:xfrm>
            <a:off x="5653174" y="5537028"/>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伝票フロー</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endParaRPr kumimoji="1" lang="ja-JP" altLang="en-US" sz="2000" dirty="0">
              <a:latin typeface="Meiryo UI" pitchFamily="50" charset="-128"/>
              <a:ea typeface="Meiryo UI" pitchFamily="50" charset="-128"/>
              <a:cs typeface="Meiryo UI" pitchFamily="50" charset="-128"/>
            </a:endParaRPr>
          </a:p>
        </p:txBody>
      </p:sp>
      <p:sp>
        <p:nvSpPr>
          <p:cNvPr id="169" name="正方形/長方形 168"/>
          <p:cNvSpPr/>
          <p:nvPr/>
        </p:nvSpPr>
        <p:spPr>
          <a:xfrm>
            <a:off x="3690998" y="5990872"/>
            <a:ext cx="1635566" cy="61724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自動請求書照合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(ERS)</a:t>
            </a:r>
            <a:endParaRPr lang="ja-JP" altLang="en-US" sz="1600" dirty="0">
              <a:latin typeface="Meiryo UI" panose="020B0604030504040204" pitchFamily="50" charset="-128"/>
              <a:ea typeface="Meiryo UI" panose="020B0604030504040204" pitchFamily="50" charset="-128"/>
            </a:endParaRPr>
          </a:p>
        </p:txBody>
      </p:sp>
      <p:sp>
        <p:nvSpPr>
          <p:cNvPr id="170" name="フローチャート: 判断 169"/>
          <p:cNvSpPr/>
          <p:nvPr/>
        </p:nvSpPr>
        <p:spPr>
          <a:xfrm>
            <a:off x="4046538" y="1892364"/>
            <a:ext cx="914400" cy="612648"/>
          </a:xfrm>
          <a:prstGeom prst="flowChartDecision">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承認</a:t>
            </a:r>
          </a:p>
        </p:txBody>
      </p:sp>
      <p:sp>
        <p:nvSpPr>
          <p:cNvPr id="182" name="正方形/長方形 181"/>
          <p:cNvSpPr/>
          <p:nvPr/>
        </p:nvSpPr>
        <p:spPr>
          <a:xfrm>
            <a:off x="3690998" y="129410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購買依頼</a:t>
            </a:r>
            <a:endParaRPr lang="en-US" altLang="ja-JP" sz="1600" dirty="0">
              <a:latin typeface="Meiryo UI" panose="020B0604030504040204" pitchFamily="50" charset="-128"/>
              <a:ea typeface="Meiryo UI" panose="020B0604030504040204" pitchFamily="50" charset="-128"/>
            </a:endParaRPr>
          </a:p>
        </p:txBody>
      </p:sp>
      <p:sp>
        <p:nvSpPr>
          <p:cNvPr id="183" name="正方形/長方形 182"/>
          <p:cNvSpPr/>
          <p:nvPr/>
        </p:nvSpPr>
        <p:spPr>
          <a:xfrm>
            <a:off x="3685955" y="2687040"/>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見積依頼</a:t>
            </a:r>
            <a:endParaRPr lang="en-US" altLang="ja-JP" sz="1600" dirty="0">
              <a:latin typeface="Meiryo UI" panose="020B0604030504040204" pitchFamily="50" charset="-128"/>
              <a:ea typeface="Meiryo UI" panose="020B0604030504040204" pitchFamily="50" charset="-128"/>
            </a:endParaRPr>
          </a:p>
        </p:txBody>
      </p:sp>
      <p:sp>
        <p:nvSpPr>
          <p:cNvPr id="184" name="正方形/長方形 183"/>
          <p:cNvSpPr/>
          <p:nvPr/>
        </p:nvSpPr>
        <p:spPr>
          <a:xfrm>
            <a:off x="3685955" y="335007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見積回答</a:t>
            </a:r>
            <a:endParaRPr lang="en-US" altLang="ja-JP" sz="1600" dirty="0">
              <a:latin typeface="Meiryo UI" panose="020B0604030504040204" pitchFamily="50" charset="-128"/>
              <a:ea typeface="Meiryo UI" panose="020B0604030504040204" pitchFamily="50" charset="-128"/>
            </a:endParaRPr>
          </a:p>
        </p:txBody>
      </p:sp>
      <p:sp>
        <p:nvSpPr>
          <p:cNvPr id="185" name="正方形/長方形 184"/>
          <p:cNvSpPr/>
          <p:nvPr/>
        </p:nvSpPr>
        <p:spPr>
          <a:xfrm>
            <a:off x="3685955" y="4027243"/>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見積結果比較</a:t>
            </a:r>
            <a:endParaRPr lang="en-US" altLang="ja-JP" sz="1600" dirty="0">
              <a:latin typeface="Meiryo UI" panose="020B0604030504040204" pitchFamily="50" charset="-128"/>
              <a:ea typeface="Meiryo UI" panose="020B0604030504040204" pitchFamily="50" charset="-128"/>
            </a:endParaRPr>
          </a:p>
        </p:txBody>
      </p:sp>
      <p:sp>
        <p:nvSpPr>
          <p:cNvPr id="187" name="正方形/長方形 186"/>
          <p:cNvSpPr/>
          <p:nvPr/>
        </p:nvSpPr>
        <p:spPr>
          <a:xfrm>
            <a:off x="3678590" y="471966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購買発注</a:t>
            </a:r>
            <a:endParaRPr lang="en-US" altLang="ja-JP" sz="1600" dirty="0">
              <a:latin typeface="Meiryo UI" panose="020B0604030504040204" pitchFamily="50" charset="-128"/>
              <a:ea typeface="Meiryo UI" panose="020B0604030504040204" pitchFamily="50" charset="-128"/>
            </a:endParaRPr>
          </a:p>
        </p:txBody>
      </p:sp>
      <p:sp>
        <p:nvSpPr>
          <p:cNvPr id="188" name="正方形/長方形 187"/>
          <p:cNvSpPr/>
          <p:nvPr/>
        </p:nvSpPr>
        <p:spPr>
          <a:xfrm>
            <a:off x="3690463" y="537703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発注入庫</a:t>
            </a:r>
            <a:endParaRPr lang="en-US" altLang="ja-JP" sz="1600" dirty="0">
              <a:latin typeface="Meiryo UI" panose="020B0604030504040204" pitchFamily="50" charset="-128"/>
              <a:ea typeface="Meiryo UI" panose="020B0604030504040204" pitchFamily="50" charset="-128"/>
            </a:endParaRPr>
          </a:p>
        </p:txBody>
      </p:sp>
      <p:cxnSp>
        <p:nvCxnSpPr>
          <p:cNvPr id="190" name="直線矢印コネクタ 189"/>
          <p:cNvCxnSpPr>
            <a:stCxn id="182" idx="2"/>
            <a:endCxn id="170" idx="0"/>
          </p:cNvCxnSpPr>
          <p:nvPr/>
        </p:nvCxnSpPr>
        <p:spPr>
          <a:xfrm flipH="1">
            <a:off x="4503738" y="1723733"/>
            <a:ext cx="5043" cy="1686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矢印コネクタ 194"/>
          <p:cNvCxnSpPr>
            <a:stCxn id="170" idx="2"/>
            <a:endCxn id="183" idx="0"/>
          </p:cNvCxnSpPr>
          <p:nvPr/>
        </p:nvCxnSpPr>
        <p:spPr>
          <a:xfrm>
            <a:off x="4503738" y="2505012"/>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矢印コネクタ 199"/>
          <p:cNvCxnSpPr/>
          <p:nvPr/>
        </p:nvCxnSpPr>
        <p:spPr>
          <a:xfrm>
            <a:off x="4496373" y="3148547"/>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矢印コネクタ 200"/>
          <p:cNvCxnSpPr>
            <a:stCxn id="184" idx="2"/>
            <a:endCxn id="185" idx="0"/>
          </p:cNvCxnSpPr>
          <p:nvPr/>
        </p:nvCxnSpPr>
        <p:spPr>
          <a:xfrm>
            <a:off x="4503738" y="3779706"/>
            <a:ext cx="0" cy="247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矢印コネクタ 202"/>
          <p:cNvCxnSpPr>
            <a:endCxn id="187" idx="0"/>
          </p:cNvCxnSpPr>
          <p:nvPr/>
        </p:nvCxnSpPr>
        <p:spPr>
          <a:xfrm flipH="1">
            <a:off x="4496373" y="4468194"/>
            <a:ext cx="10644" cy="25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a:endCxn id="188" idx="0"/>
          </p:cNvCxnSpPr>
          <p:nvPr/>
        </p:nvCxnSpPr>
        <p:spPr>
          <a:xfrm flipH="1">
            <a:off x="4508246" y="5178223"/>
            <a:ext cx="2050" cy="1988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p:cNvCxnSpPr>
            <a:stCxn id="188" idx="2"/>
            <a:endCxn id="169" idx="0"/>
          </p:cNvCxnSpPr>
          <p:nvPr/>
        </p:nvCxnSpPr>
        <p:spPr>
          <a:xfrm>
            <a:off x="4508246" y="5806663"/>
            <a:ext cx="535" cy="184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角丸四角形 212"/>
          <p:cNvSpPr/>
          <p:nvPr/>
        </p:nvSpPr>
        <p:spPr>
          <a:xfrm>
            <a:off x="713289" y="2687040"/>
            <a:ext cx="1212884" cy="3951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A</a:t>
            </a:r>
            <a:endParaRPr kumimoji="1" lang="ja-JP" altLang="en-US" dirty="0"/>
          </a:p>
        </p:txBody>
      </p:sp>
      <p:sp>
        <p:nvSpPr>
          <p:cNvPr id="215" name="角丸四角形 214"/>
          <p:cNvSpPr/>
          <p:nvPr/>
        </p:nvSpPr>
        <p:spPr>
          <a:xfrm>
            <a:off x="7039941" y="2683844"/>
            <a:ext cx="1212884" cy="1749073"/>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B</a:t>
            </a:r>
            <a:endParaRPr kumimoji="1" lang="ja-JP" altLang="en-US" dirty="0"/>
          </a:p>
        </p:txBody>
      </p:sp>
      <p:cxnSp>
        <p:nvCxnSpPr>
          <p:cNvPr id="216" name="直線矢印コネクタ 215"/>
          <p:cNvCxnSpPr>
            <a:stCxn id="183" idx="1"/>
          </p:cNvCxnSpPr>
          <p:nvPr/>
        </p:nvCxnSpPr>
        <p:spPr>
          <a:xfrm flipH="1" flipV="1">
            <a:off x="1951038" y="2898900"/>
            <a:ext cx="1734917" cy="2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p:cNvCxnSpPr/>
          <p:nvPr/>
        </p:nvCxnSpPr>
        <p:spPr>
          <a:xfrm flipH="1" flipV="1">
            <a:off x="1951038" y="4905375"/>
            <a:ext cx="1708693" cy="24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矢印コネクタ 219"/>
          <p:cNvCxnSpPr>
            <a:stCxn id="215" idx="1"/>
          </p:cNvCxnSpPr>
          <p:nvPr/>
        </p:nvCxnSpPr>
        <p:spPr>
          <a:xfrm flipH="1">
            <a:off x="5310374" y="3558381"/>
            <a:ext cx="1729567" cy="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矢印コネクタ 220"/>
          <p:cNvCxnSpPr>
            <a:endCxn id="184" idx="1"/>
          </p:cNvCxnSpPr>
          <p:nvPr/>
        </p:nvCxnSpPr>
        <p:spPr>
          <a:xfrm>
            <a:off x="1951038" y="3558380"/>
            <a:ext cx="1734917" cy="65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224"/>
          <p:cNvCxnSpPr/>
          <p:nvPr/>
        </p:nvCxnSpPr>
        <p:spPr>
          <a:xfrm flipV="1">
            <a:off x="1935163" y="5475889"/>
            <a:ext cx="1743427" cy="70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矢印コネクタ 230"/>
          <p:cNvCxnSpPr/>
          <p:nvPr/>
        </p:nvCxnSpPr>
        <p:spPr>
          <a:xfrm flipH="1">
            <a:off x="1939671" y="5718175"/>
            <a:ext cx="1752696" cy="401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矢印コネクタ 234"/>
          <p:cNvCxnSpPr>
            <a:stCxn id="183" idx="3"/>
          </p:cNvCxnSpPr>
          <p:nvPr/>
        </p:nvCxnSpPr>
        <p:spPr>
          <a:xfrm flipV="1">
            <a:off x="5321521" y="2889047"/>
            <a:ext cx="1741563" cy="128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フローチャート: 書類 244"/>
          <p:cNvSpPr/>
          <p:nvPr/>
        </p:nvSpPr>
        <p:spPr>
          <a:xfrm>
            <a:off x="5166677" y="6258001"/>
            <a:ext cx="646510" cy="471757"/>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請求書</a:t>
            </a:r>
            <a:endParaRPr lang="en-US" altLang="ja-JP" sz="1200" dirty="0">
              <a:latin typeface="Meiryo UI" panose="020B0604030504040204" pitchFamily="50" charset="-128"/>
              <a:ea typeface="Meiryo UI" panose="020B0604030504040204" pitchFamily="50" charset="-128"/>
            </a:endParaRPr>
          </a:p>
        </p:txBody>
      </p:sp>
      <p:sp>
        <p:nvSpPr>
          <p:cNvPr id="246" name="フローチャート: 書類 245"/>
          <p:cNvSpPr/>
          <p:nvPr/>
        </p:nvSpPr>
        <p:spPr>
          <a:xfrm>
            <a:off x="5126426" y="5464485"/>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入庫</a:t>
            </a:r>
            <a:endParaRPr kumimoji="1" lang="ja-JP" altLang="en-US" sz="1200" dirty="0">
              <a:latin typeface="Meiryo UI" panose="020B0604030504040204" pitchFamily="50" charset="-128"/>
              <a:ea typeface="Meiryo UI" panose="020B0604030504040204" pitchFamily="50" charset="-128"/>
            </a:endParaRPr>
          </a:p>
        </p:txBody>
      </p:sp>
      <p:sp>
        <p:nvSpPr>
          <p:cNvPr id="247" name="フローチャート: 書類 246"/>
          <p:cNvSpPr/>
          <p:nvPr/>
        </p:nvSpPr>
        <p:spPr>
          <a:xfrm>
            <a:off x="2466603" y="4689290"/>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発注</a:t>
            </a:r>
            <a:endParaRPr kumimoji="1" lang="ja-JP" altLang="en-US" sz="1200" dirty="0">
              <a:latin typeface="Meiryo UI" panose="020B0604030504040204" pitchFamily="50" charset="-128"/>
              <a:ea typeface="Meiryo UI" panose="020B0604030504040204" pitchFamily="50" charset="-128"/>
            </a:endParaRPr>
          </a:p>
        </p:txBody>
      </p:sp>
      <p:sp>
        <p:nvSpPr>
          <p:cNvPr id="248" name="フローチャート: 書類 247"/>
          <p:cNvSpPr/>
          <p:nvPr/>
        </p:nvSpPr>
        <p:spPr>
          <a:xfrm>
            <a:off x="2472332" y="271392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latin typeface="Meiryo UI" panose="020B0604030504040204" pitchFamily="50" charset="-128"/>
                <a:ea typeface="Meiryo UI" panose="020B0604030504040204" pitchFamily="50" charset="-128"/>
              </a:rPr>
              <a:t>見積</a:t>
            </a: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49" name="フローチャート: 書類 248"/>
          <p:cNvSpPr/>
          <p:nvPr/>
        </p:nvSpPr>
        <p:spPr>
          <a:xfrm>
            <a:off x="5857476" y="2674237"/>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見積</a:t>
            </a:r>
            <a:r>
              <a:rPr lang="en-US" altLang="ja-JP" sz="1200" dirty="0">
                <a:latin typeface="Meiryo UI" panose="020B0604030504040204" pitchFamily="50" charset="-128"/>
                <a:ea typeface="Meiryo UI" panose="020B0604030504040204" pitchFamily="50" charset="-128"/>
              </a:rPr>
              <a:t>2</a:t>
            </a:r>
            <a:endParaRPr kumimoji="1" lang="ja-JP" altLang="en-US" sz="1200" dirty="0">
              <a:latin typeface="Meiryo UI" panose="020B0604030504040204" pitchFamily="50" charset="-128"/>
              <a:ea typeface="Meiryo UI" panose="020B0604030504040204" pitchFamily="50" charset="-128"/>
            </a:endParaRPr>
          </a:p>
        </p:txBody>
      </p:sp>
      <p:sp>
        <p:nvSpPr>
          <p:cNvPr id="250" name="フローチャート: 書類 249"/>
          <p:cNvSpPr/>
          <p:nvPr/>
        </p:nvSpPr>
        <p:spPr>
          <a:xfrm>
            <a:off x="4957867" y="151954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依頼</a:t>
            </a:r>
            <a:endParaRPr kumimoji="1" lang="ja-JP" altLang="en-US" sz="1200" dirty="0">
              <a:latin typeface="Meiryo UI" panose="020B0604030504040204" pitchFamily="50" charset="-128"/>
              <a:ea typeface="Meiryo UI" panose="020B0604030504040204" pitchFamily="50" charset="-128"/>
            </a:endParaRPr>
          </a:p>
        </p:txBody>
      </p:sp>
      <p:sp>
        <p:nvSpPr>
          <p:cNvPr id="265" name="1 つの角を切り取った四角形 264"/>
          <p:cNvSpPr/>
          <p:nvPr/>
        </p:nvSpPr>
        <p:spPr>
          <a:xfrm>
            <a:off x="2472497" y="3423022"/>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6" name="1 つの角を切り取った四角形 265"/>
          <p:cNvSpPr/>
          <p:nvPr/>
        </p:nvSpPr>
        <p:spPr>
          <a:xfrm>
            <a:off x="5851003" y="3453053"/>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7" name="1 つの角を切り取った四角形 266"/>
          <p:cNvSpPr/>
          <p:nvPr/>
        </p:nvSpPr>
        <p:spPr>
          <a:xfrm>
            <a:off x="2461882" y="5319657"/>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品目</a:t>
            </a:r>
          </a:p>
        </p:txBody>
      </p:sp>
      <p:sp>
        <p:nvSpPr>
          <p:cNvPr id="269" name="1 つの角を切り取った四角形 268"/>
          <p:cNvSpPr/>
          <p:nvPr/>
        </p:nvSpPr>
        <p:spPr>
          <a:xfrm>
            <a:off x="2458374" y="5751024"/>
            <a:ext cx="670276" cy="33411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検収書</a:t>
            </a:r>
          </a:p>
        </p:txBody>
      </p:sp>
    </p:spTree>
    <p:extLst>
      <p:ext uri="{BB962C8B-B14F-4D97-AF65-F5344CB8AC3E}">
        <p14:creationId xmlns:p14="http://schemas.microsoft.com/office/powerpoint/2010/main" val="662752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購買管理プロセス分野における確認日程④</a:t>
            </a:r>
            <a:endParaRPr lang="en-US" altLang="ja-JP" dirty="0">
              <a:latin typeface="Meiryo UI" pitchFamily="50" charset="-128"/>
              <a:ea typeface="Meiryo UI" pitchFamily="50" charset="-128"/>
              <a:cs typeface="Meiryo UI" pitchFamily="50" charset="-128"/>
            </a:endParaRPr>
          </a:p>
          <a:p>
            <a:pPr eaLnBrk="0" hangingPunct="0">
              <a:spcBef>
                <a:spcPct val="20000"/>
              </a:spcBef>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09"/>
          <a:ext cx="8383982" cy="2989978"/>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61426">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26</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MM-4</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6. (XXXX)</a:t>
                      </a:r>
                      <a:r>
                        <a:rPr kumimoji="1" lang="ja-JP" altLang="en-US" sz="1400" dirty="0">
                          <a:latin typeface="Meiryo UI" pitchFamily="50" charset="-128"/>
                          <a:ea typeface="Meiryo UI" pitchFamily="50" charset="-128"/>
                          <a:cs typeface="Meiryo UI" pitchFamily="50" charset="-128"/>
                        </a:rPr>
                        <a:t>様における業務プロセスの確認</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633467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6.1 </a:t>
                      </a:r>
                      <a:r>
                        <a:rPr kumimoji="1" lang="ja-JP" altLang="en-US" sz="1400" dirty="0">
                          <a:latin typeface="Meiryo UI" pitchFamily="50" charset="-128"/>
                          <a:ea typeface="Meiryo UI" pitchFamily="50" charset="-128"/>
                          <a:cs typeface="Meiryo UI" pitchFamily="50" charset="-128"/>
                        </a:rPr>
                        <a:t>購買依頼の登録・承認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6.2 </a:t>
                      </a:r>
                      <a:r>
                        <a:rPr kumimoji="1" lang="ja-JP" altLang="en-US" sz="1400" dirty="0">
                          <a:latin typeface="Meiryo UI" pitchFamily="50" charset="-128"/>
                          <a:ea typeface="Meiryo UI" pitchFamily="50" charset="-128"/>
                          <a:cs typeface="Meiryo UI" pitchFamily="50" charset="-128"/>
                        </a:rPr>
                        <a:t>見積依頼の登録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6.3 </a:t>
                      </a:r>
                      <a:r>
                        <a:rPr kumimoji="1" lang="ja-JP" altLang="en-US" sz="1400" dirty="0">
                          <a:latin typeface="Meiryo UI" pitchFamily="50" charset="-128"/>
                          <a:ea typeface="Meiryo UI" pitchFamily="50" charset="-128"/>
                          <a:cs typeface="Meiryo UI" pitchFamily="50" charset="-128"/>
                        </a:rPr>
                        <a:t>見積回答の登録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6.4 </a:t>
                      </a:r>
                      <a:r>
                        <a:rPr kumimoji="1" lang="ja-JP" altLang="en-US" sz="1400" dirty="0">
                          <a:latin typeface="Meiryo UI" pitchFamily="50" charset="-128"/>
                          <a:ea typeface="Meiryo UI" pitchFamily="50" charset="-128"/>
                          <a:cs typeface="Meiryo UI" pitchFamily="50" charset="-128"/>
                        </a:rPr>
                        <a:t>見積結果の比較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6.5 </a:t>
                      </a:r>
                      <a:r>
                        <a:rPr kumimoji="1" lang="ja-JP" altLang="en-US" sz="1400" dirty="0">
                          <a:latin typeface="Meiryo UI" pitchFamily="50" charset="-128"/>
                          <a:ea typeface="Meiryo UI" pitchFamily="50" charset="-128"/>
                          <a:cs typeface="Meiryo UI" pitchFamily="50" charset="-128"/>
                        </a:rPr>
                        <a:t>購買発注の登録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6.6 </a:t>
                      </a:r>
                      <a:r>
                        <a:rPr kumimoji="1" lang="ja-JP" altLang="en-US" sz="1400" dirty="0">
                          <a:latin typeface="Meiryo UI" pitchFamily="50" charset="-128"/>
                          <a:ea typeface="Meiryo UI" pitchFamily="50" charset="-128"/>
                          <a:cs typeface="Meiryo UI" pitchFamily="50" charset="-128"/>
                        </a:rPr>
                        <a:t>購買発注の入庫</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6.7 </a:t>
                      </a:r>
                      <a:r>
                        <a:rPr kumimoji="1" lang="ja-JP" altLang="en-US" sz="1400" dirty="0">
                          <a:latin typeface="Meiryo UI" pitchFamily="50" charset="-128"/>
                          <a:ea typeface="Meiryo UI" pitchFamily="50" charset="-128"/>
                          <a:cs typeface="Meiryo UI" pitchFamily="50" charset="-128"/>
                        </a:rPr>
                        <a:t>自動請求書照合</a:t>
                      </a:r>
                      <a:r>
                        <a:rPr kumimoji="1" lang="en-US" altLang="ja-JP" sz="1400" dirty="0">
                          <a:latin typeface="Meiryo UI" pitchFamily="50" charset="-128"/>
                          <a:ea typeface="Meiryo UI" pitchFamily="50" charset="-128"/>
                          <a:cs typeface="Meiryo UI" pitchFamily="50" charset="-128"/>
                        </a:rPr>
                        <a:t>(ERS)</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70965439"/>
                  </a:ext>
                </a:extLst>
              </a:tr>
            </a:tbl>
          </a:graphicData>
        </a:graphic>
      </p:graphicFrame>
      <p:sp>
        <p:nvSpPr>
          <p:cNvPr id="5" name="正方形/長方形 4"/>
          <p:cNvSpPr/>
          <p:nvPr/>
        </p:nvSpPr>
        <p:spPr>
          <a:xfrm>
            <a:off x="198683" y="2176669"/>
            <a:ext cx="8368847" cy="3180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38643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フローチャート: 書類 251"/>
          <p:cNvSpPr/>
          <p:nvPr/>
        </p:nvSpPr>
        <p:spPr>
          <a:xfrm>
            <a:off x="5746649" y="6303143"/>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251" name="フローチャート: 書類 250"/>
          <p:cNvSpPr/>
          <p:nvPr/>
        </p:nvSpPr>
        <p:spPr>
          <a:xfrm>
            <a:off x="5653174" y="5537028"/>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購買依頼の登録・承認</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１ ／ １２ ）</a:t>
            </a:r>
            <a:endParaRPr kumimoji="1" lang="ja-JP" altLang="en-US" sz="2000" dirty="0">
              <a:latin typeface="Meiryo UI" pitchFamily="50" charset="-128"/>
              <a:ea typeface="Meiryo UI" pitchFamily="50" charset="-128"/>
              <a:cs typeface="Meiryo UI" pitchFamily="50" charset="-128"/>
            </a:endParaRPr>
          </a:p>
        </p:txBody>
      </p:sp>
      <p:sp>
        <p:nvSpPr>
          <p:cNvPr id="169" name="正方形/長方形 168"/>
          <p:cNvSpPr/>
          <p:nvPr/>
        </p:nvSpPr>
        <p:spPr>
          <a:xfrm>
            <a:off x="3690998" y="5990872"/>
            <a:ext cx="1635566" cy="61724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自動請求書照合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(ERS)</a:t>
            </a:r>
            <a:endParaRPr lang="ja-JP" altLang="en-US" sz="1600" dirty="0">
              <a:latin typeface="Meiryo UI" panose="020B0604030504040204" pitchFamily="50" charset="-128"/>
              <a:ea typeface="Meiryo UI" panose="020B0604030504040204" pitchFamily="50" charset="-128"/>
            </a:endParaRPr>
          </a:p>
        </p:txBody>
      </p:sp>
      <p:sp>
        <p:nvSpPr>
          <p:cNvPr id="170" name="フローチャート: 判断 169"/>
          <p:cNvSpPr/>
          <p:nvPr/>
        </p:nvSpPr>
        <p:spPr>
          <a:xfrm>
            <a:off x="4046538" y="1892364"/>
            <a:ext cx="914400" cy="612648"/>
          </a:xfrm>
          <a:prstGeom prst="flowChartDecision">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承認</a:t>
            </a:r>
          </a:p>
        </p:txBody>
      </p:sp>
      <p:sp>
        <p:nvSpPr>
          <p:cNvPr id="182" name="正方形/長方形 181"/>
          <p:cNvSpPr/>
          <p:nvPr/>
        </p:nvSpPr>
        <p:spPr>
          <a:xfrm>
            <a:off x="3690998" y="129410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購買依頼</a:t>
            </a:r>
            <a:endParaRPr lang="en-US" altLang="ja-JP" sz="1600" dirty="0">
              <a:latin typeface="Meiryo UI" panose="020B0604030504040204" pitchFamily="50" charset="-128"/>
              <a:ea typeface="Meiryo UI" panose="020B0604030504040204" pitchFamily="50" charset="-128"/>
            </a:endParaRPr>
          </a:p>
        </p:txBody>
      </p:sp>
      <p:sp>
        <p:nvSpPr>
          <p:cNvPr id="183" name="正方形/長方形 182"/>
          <p:cNvSpPr/>
          <p:nvPr/>
        </p:nvSpPr>
        <p:spPr>
          <a:xfrm>
            <a:off x="3685955" y="2687040"/>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見積依頼</a:t>
            </a:r>
            <a:endParaRPr lang="en-US" altLang="ja-JP" sz="1600" dirty="0">
              <a:latin typeface="Meiryo UI" panose="020B0604030504040204" pitchFamily="50" charset="-128"/>
              <a:ea typeface="Meiryo UI" panose="020B0604030504040204" pitchFamily="50" charset="-128"/>
            </a:endParaRPr>
          </a:p>
        </p:txBody>
      </p:sp>
      <p:sp>
        <p:nvSpPr>
          <p:cNvPr id="184" name="正方形/長方形 183"/>
          <p:cNvSpPr/>
          <p:nvPr/>
        </p:nvSpPr>
        <p:spPr>
          <a:xfrm>
            <a:off x="3685955" y="335007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見積回答</a:t>
            </a:r>
            <a:endParaRPr lang="en-US" altLang="ja-JP" sz="1600" dirty="0">
              <a:latin typeface="Meiryo UI" panose="020B0604030504040204" pitchFamily="50" charset="-128"/>
              <a:ea typeface="Meiryo UI" panose="020B0604030504040204" pitchFamily="50" charset="-128"/>
            </a:endParaRPr>
          </a:p>
        </p:txBody>
      </p:sp>
      <p:sp>
        <p:nvSpPr>
          <p:cNvPr id="185" name="正方形/長方形 184"/>
          <p:cNvSpPr/>
          <p:nvPr/>
        </p:nvSpPr>
        <p:spPr>
          <a:xfrm>
            <a:off x="3685955" y="4027243"/>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見積結果比較</a:t>
            </a:r>
            <a:endParaRPr lang="en-US" altLang="ja-JP" sz="1600" dirty="0">
              <a:latin typeface="Meiryo UI" panose="020B0604030504040204" pitchFamily="50" charset="-128"/>
              <a:ea typeface="Meiryo UI" panose="020B0604030504040204" pitchFamily="50" charset="-128"/>
            </a:endParaRPr>
          </a:p>
        </p:txBody>
      </p:sp>
      <p:sp>
        <p:nvSpPr>
          <p:cNvPr id="187" name="正方形/長方形 186"/>
          <p:cNvSpPr/>
          <p:nvPr/>
        </p:nvSpPr>
        <p:spPr>
          <a:xfrm>
            <a:off x="3678590" y="471966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購買発注</a:t>
            </a:r>
            <a:endParaRPr lang="en-US" altLang="ja-JP" sz="1600" dirty="0">
              <a:latin typeface="Meiryo UI" panose="020B0604030504040204" pitchFamily="50" charset="-128"/>
              <a:ea typeface="Meiryo UI" panose="020B0604030504040204" pitchFamily="50" charset="-128"/>
            </a:endParaRPr>
          </a:p>
        </p:txBody>
      </p:sp>
      <p:sp>
        <p:nvSpPr>
          <p:cNvPr id="188" name="正方形/長方形 187"/>
          <p:cNvSpPr/>
          <p:nvPr/>
        </p:nvSpPr>
        <p:spPr>
          <a:xfrm>
            <a:off x="3690463" y="537703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発注入庫</a:t>
            </a:r>
            <a:endParaRPr lang="en-US" altLang="ja-JP" sz="1600" dirty="0">
              <a:latin typeface="Meiryo UI" panose="020B0604030504040204" pitchFamily="50" charset="-128"/>
              <a:ea typeface="Meiryo UI" panose="020B0604030504040204" pitchFamily="50" charset="-128"/>
            </a:endParaRPr>
          </a:p>
        </p:txBody>
      </p:sp>
      <p:cxnSp>
        <p:nvCxnSpPr>
          <p:cNvPr id="190" name="直線矢印コネクタ 189"/>
          <p:cNvCxnSpPr>
            <a:stCxn id="182" idx="2"/>
            <a:endCxn id="170" idx="0"/>
          </p:cNvCxnSpPr>
          <p:nvPr/>
        </p:nvCxnSpPr>
        <p:spPr>
          <a:xfrm flipH="1">
            <a:off x="4503738" y="1723733"/>
            <a:ext cx="5043" cy="1686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矢印コネクタ 194"/>
          <p:cNvCxnSpPr>
            <a:stCxn id="170" idx="2"/>
            <a:endCxn id="183" idx="0"/>
          </p:cNvCxnSpPr>
          <p:nvPr/>
        </p:nvCxnSpPr>
        <p:spPr>
          <a:xfrm>
            <a:off x="4503738" y="2505012"/>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矢印コネクタ 199"/>
          <p:cNvCxnSpPr/>
          <p:nvPr/>
        </p:nvCxnSpPr>
        <p:spPr>
          <a:xfrm>
            <a:off x="4496373" y="3148547"/>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矢印コネクタ 200"/>
          <p:cNvCxnSpPr>
            <a:stCxn id="184" idx="2"/>
            <a:endCxn id="185" idx="0"/>
          </p:cNvCxnSpPr>
          <p:nvPr/>
        </p:nvCxnSpPr>
        <p:spPr>
          <a:xfrm>
            <a:off x="4503738" y="3779706"/>
            <a:ext cx="0" cy="247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矢印コネクタ 202"/>
          <p:cNvCxnSpPr>
            <a:endCxn id="187" idx="0"/>
          </p:cNvCxnSpPr>
          <p:nvPr/>
        </p:nvCxnSpPr>
        <p:spPr>
          <a:xfrm flipH="1">
            <a:off x="4496373" y="4468194"/>
            <a:ext cx="10644" cy="25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a:endCxn id="188" idx="0"/>
          </p:cNvCxnSpPr>
          <p:nvPr/>
        </p:nvCxnSpPr>
        <p:spPr>
          <a:xfrm flipH="1">
            <a:off x="4508246" y="5178223"/>
            <a:ext cx="2050" cy="1988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p:cNvCxnSpPr>
            <a:stCxn id="188" idx="2"/>
            <a:endCxn id="169" idx="0"/>
          </p:cNvCxnSpPr>
          <p:nvPr/>
        </p:nvCxnSpPr>
        <p:spPr>
          <a:xfrm>
            <a:off x="4508246" y="5806663"/>
            <a:ext cx="535" cy="184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角丸四角形 212"/>
          <p:cNvSpPr/>
          <p:nvPr/>
        </p:nvSpPr>
        <p:spPr>
          <a:xfrm>
            <a:off x="713289" y="2687040"/>
            <a:ext cx="1212884" cy="3951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A</a:t>
            </a:r>
            <a:endParaRPr kumimoji="1" lang="ja-JP" altLang="en-US" dirty="0"/>
          </a:p>
        </p:txBody>
      </p:sp>
      <p:sp>
        <p:nvSpPr>
          <p:cNvPr id="215" name="角丸四角形 214"/>
          <p:cNvSpPr/>
          <p:nvPr/>
        </p:nvSpPr>
        <p:spPr>
          <a:xfrm>
            <a:off x="7039941" y="2683844"/>
            <a:ext cx="1212884" cy="1749073"/>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B</a:t>
            </a:r>
            <a:endParaRPr kumimoji="1" lang="ja-JP" altLang="en-US" dirty="0"/>
          </a:p>
        </p:txBody>
      </p:sp>
      <p:cxnSp>
        <p:nvCxnSpPr>
          <p:cNvPr id="216" name="直線矢印コネクタ 215"/>
          <p:cNvCxnSpPr>
            <a:stCxn id="183" idx="1"/>
          </p:cNvCxnSpPr>
          <p:nvPr/>
        </p:nvCxnSpPr>
        <p:spPr>
          <a:xfrm flipH="1" flipV="1">
            <a:off x="1951038" y="2898900"/>
            <a:ext cx="1734917" cy="2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p:cNvCxnSpPr/>
          <p:nvPr/>
        </p:nvCxnSpPr>
        <p:spPr>
          <a:xfrm flipH="1" flipV="1">
            <a:off x="1951038" y="4905375"/>
            <a:ext cx="1708693" cy="24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矢印コネクタ 219"/>
          <p:cNvCxnSpPr>
            <a:stCxn id="215" idx="1"/>
          </p:cNvCxnSpPr>
          <p:nvPr/>
        </p:nvCxnSpPr>
        <p:spPr>
          <a:xfrm flipH="1">
            <a:off x="5310374" y="3558381"/>
            <a:ext cx="1729567" cy="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矢印コネクタ 220"/>
          <p:cNvCxnSpPr>
            <a:endCxn id="184" idx="1"/>
          </p:cNvCxnSpPr>
          <p:nvPr/>
        </p:nvCxnSpPr>
        <p:spPr>
          <a:xfrm>
            <a:off x="1951038" y="3558380"/>
            <a:ext cx="1734917" cy="65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224"/>
          <p:cNvCxnSpPr/>
          <p:nvPr/>
        </p:nvCxnSpPr>
        <p:spPr>
          <a:xfrm flipV="1">
            <a:off x="1935163" y="5475889"/>
            <a:ext cx="1743427" cy="70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矢印コネクタ 230"/>
          <p:cNvCxnSpPr/>
          <p:nvPr/>
        </p:nvCxnSpPr>
        <p:spPr>
          <a:xfrm flipH="1">
            <a:off x="1939671" y="5718175"/>
            <a:ext cx="1752696" cy="401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矢印コネクタ 234"/>
          <p:cNvCxnSpPr>
            <a:stCxn id="183" idx="3"/>
          </p:cNvCxnSpPr>
          <p:nvPr/>
        </p:nvCxnSpPr>
        <p:spPr>
          <a:xfrm flipV="1">
            <a:off x="5321521" y="2889047"/>
            <a:ext cx="1741563" cy="128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フローチャート: 書類 244"/>
          <p:cNvSpPr/>
          <p:nvPr/>
        </p:nvSpPr>
        <p:spPr>
          <a:xfrm>
            <a:off x="5166677" y="6258001"/>
            <a:ext cx="646510" cy="471757"/>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請求書</a:t>
            </a:r>
            <a:endParaRPr lang="en-US" altLang="ja-JP" sz="1200" dirty="0">
              <a:latin typeface="Meiryo UI" panose="020B0604030504040204" pitchFamily="50" charset="-128"/>
              <a:ea typeface="Meiryo UI" panose="020B0604030504040204" pitchFamily="50" charset="-128"/>
            </a:endParaRPr>
          </a:p>
        </p:txBody>
      </p:sp>
      <p:sp>
        <p:nvSpPr>
          <p:cNvPr id="246" name="フローチャート: 書類 245"/>
          <p:cNvSpPr/>
          <p:nvPr/>
        </p:nvSpPr>
        <p:spPr>
          <a:xfrm>
            <a:off x="5126426" y="5464485"/>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入庫</a:t>
            </a:r>
            <a:endParaRPr kumimoji="1" lang="ja-JP" altLang="en-US" sz="1200" dirty="0">
              <a:latin typeface="Meiryo UI" panose="020B0604030504040204" pitchFamily="50" charset="-128"/>
              <a:ea typeface="Meiryo UI" panose="020B0604030504040204" pitchFamily="50" charset="-128"/>
            </a:endParaRPr>
          </a:p>
        </p:txBody>
      </p:sp>
      <p:sp>
        <p:nvSpPr>
          <p:cNvPr id="247" name="フローチャート: 書類 246"/>
          <p:cNvSpPr/>
          <p:nvPr/>
        </p:nvSpPr>
        <p:spPr>
          <a:xfrm>
            <a:off x="2466603" y="4689290"/>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発注</a:t>
            </a:r>
            <a:endParaRPr kumimoji="1" lang="ja-JP" altLang="en-US" sz="1200" dirty="0">
              <a:latin typeface="Meiryo UI" panose="020B0604030504040204" pitchFamily="50" charset="-128"/>
              <a:ea typeface="Meiryo UI" panose="020B0604030504040204" pitchFamily="50" charset="-128"/>
            </a:endParaRPr>
          </a:p>
        </p:txBody>
      </p:sp>
      <p:sp>
        <p:nvSpPr>
          <p:cNvPr id="248" name="フローチャート: 書類 247"/>
          <p:cNvSpPr/>
          <p:nvPr/>
        </p:nvSpPr>
        <p:spPr>
          <a:xfrm>
            <a:off x="2472332" y="271392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latin typeface="Meiryo UI" panose="020B0604030504040204" pitchFamily="50" charset="-128"/>
                <a:ea typeface="Meiryo UI" panose="020B0604030504040204" pitchFamily="50" charset="-128"/>
              </a:rPr>
              <a:t>見積</a:t>
            </a: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49" name="フローチャート: 書類 248"/>
          <p:cNvSpPr/>
          <p:nvPr/>
        </p:nvSpPr>
        <p:spPr>
          <a:xfrm>
            <a:off x="5857476" y="2674237"/>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見積</a:t>
            </a:r>
            <a:r>
              <a:rPr lang="en-US" altLang="ja-JP" sz="1200" dirty="0">
                <a:latin typeface="Meiryo UI" panose="020B0604030504040204" pitchFamily="50" charset="-128"/>
                <a:ea typeface="Meiryo UI" panose="020B0604030504040204" pitchFamily="50" charset="-128"/>
              </a:rPr>
              <a:t>2</a:t>
            </a:r>
            <a:endParaRPr kumimoji="1" lang="ja-JP" altLang="en-US" sz="1200" dirty="0">
              <a:latin typeface="Meiryo UI" panose="020B0604030504040204" pitchFamily="50" charset="-128"/>
              <a:ea typeface="Meiryo UI" panose="020B0604030504040204" pitchFamily="50" charset="-128"/>
            </a:endParaRPr>
          </a:p>
        </p:txBody>
      </p:sp>
      <p:sp>
        <p:nvSpPr>
          <p:cNvPr id="250" name="フローチャート: 書類 249"/>
          <p:cNvSpPr/>
          <p:nvPr/>
        </p:nvSpPr>
        <p:spPr>
          <a:xfrm>
            <a:off x="4957867" y="151954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依頼</a:t>
            </a:r>
            <a:endParaRPr kumimoji="1" lang="ja-JP" altLang="en-US" sz="1200" dirty="0">
              <a:latin typeface="Meiryo UI" panose="020B0604030504040204" pitchFamily="50" charset="-128"/>
              <a:ea typeface="Meiryo UI" panose="020B0604030504040204" pitchFamily="50" charset="-128"/>
            </a:endParaRPr>
          </a:p>
        </p:txBody>
      </p:sp>
      <p:sp>
        <p:nvSpPr>
          <p:cNvPr id="265" name="1 つの角を切り取った四角形 264"/>
          <p:cNvSpPr/>
          <p:nvPr/>
        </p:nvSpPr>
        <p:spPr>
          <a:xfrm>
            <a:off x="2472497" y="3423022"/>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6" name="1 つの角を切り取った四角形 265"/>
          <p:cNvSpPr/>
          <p:nvPr/>
        </p:nvSpPr>
        <p:spPr>
          <a:xfrm>
            <a:off x="5851003" y="3453053"/>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7" name="1 つの角を切り取った四角形 266"/>
          <p:cNvSpPr/>
          <p:nvPr/>
        </p:nvSpPr>
        <p:spPr>
          <a:xfrm>
            <a:off x="2461882" y="5319657"/>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品目</a:t>
            </a:r>
          </a:p>
        </p:txBody>
      </p:sp>
      <p:sp>
        <p:nvSpPr>
          <p:cNvPr id="269" name="1 つの角を切り取った四角形 268"/>
          <p:cNvSpPr/>
          <p:nvPr/>
        </p:nvSpPr>
        <p:spPr>
          <a:xfrm>
            <a:off x="2458374" y="5751024"/>
            <a:ext cx="670276" cy="33411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検収書</a:t>
            </a:r>
          </a:p>
        </p:txBody>
      </p:sp>
      <p:sp>
        <p:nvSpPr>
          <p:cNvPr id="2" name="正方形/長方形 1"/>
          <p:cNvSpPr/>
          <p:nvPr/>
        </p:nvSpPr>
        <p:spPr>
          <a:xfrm>
            <a:off x="3551786" y="1149587"/>
            <a:ext cx="2194864" cy="14107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1865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購買依頼の登録・承認</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今回のハンズオンでは、登録して頂いた品目コードを使用して購買依頼伝票を作成します。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購買依頼に</a:t>
            </a: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段階承認がかかるので、承認作業も行います。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登録手順</a:t>
            </a:r>
            <a:r>
              <a:rPr lang="en-US" altLang="ja-JP" dirty="0">
                <a:latin typeface="Meiryo UI" pitchFamily="50" charset="-128"/>
                <a:ea typeface="Meiryo UI" pitchFamily="50" charset="-128"/>
                <a:cs typeface="Meiryo UI" pitchFamily="50" charset="-128"/>
              </a:rPr>
              <a:t>】</a:t>
            </a: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11" name="角丸四角形 10"/>
          <p:cNvSpPr/>
          <p:nvPr/>
        </p:nvSpPr>
        <p:spPr>
          <a:xfrm>
            <a:off x="297268" y="3902431"/>
            <a:ext cx="1500949" cy="97582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①伝票起票</a:t>
            </a:r>
            <a:endParaRPr kumimoji="1" lang="ja-JP" altLang="en-US" sz="1400" dirty="0">
              <a:latin typeface="Meiryo UI" panose="020B0604030504040204" pitchFamily="50" charset="-128"/>
              <a:ea typeface="Meiryo UI" panose="020B0604030504040204" pitchFamily="50" charset="-128"/>
            </a:endParaRPr>
          </a:p>
        </p:txBody>
      </p:sp>
      <p:sp>
        <p:nvSpPr>
          <p:cNvPr id="15" name="角丸四角形 14"/>
          <p:cNvSpPr/>
          <p:nvPr/>
        </p:nvSpPr>
        <p:spPr>
          <a:xfrm>
            <a:off x="1879265" y="3915945"/>
            <a:ext cx="1550897" cy="98205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②伝票明細</a:t>
            </a:r>
            <a:endParaRPr lang="en-US" altLang="ja-JP" sz="1400" dirty="0">
              <a:latin typeface="Meiryo UI" panose="020B0604030504040204" pitchFamily="50" charset="-128"/>
              <a:ea typeface="Meiryo UI" panose="020B0604030504040204" pitchFamily="50" charset="-128"/>
            </a:endParaRPr>
          </a:p>
        </p:txBody>
      </p:sp>
      <p:sp>
        <p:nvSpPr>
          <p:cNvPr id="19" name="角丸四角形 18"/>
          <p:cNvSpPr/>
          <p:nvPr/>
        </p:nvSpPr>
        <p:spPr>
          <a:xfrm>
            <a:off x="3550179" y="3899315"/>
            <a:ext cx="1540289" cy="9820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③伝票保存</a:t>
            </a:r>
            <a:endParaRPr kumimoji="1" lang="ja-JP" altLang="en-US" sz="1400" dirty="0">
              <a:latin typeface="Meiryo UI" panose="020B0604030504040204" pitchFamily="50" charset="-128"/>
              <a:ea typeface="Meiryo UI" panose="020B0604030504040204" pitchFamily="50" charset="-128"/>
            </a:endParaRPr>
          </a:p>
        </p:txBody>
      </p:sp>
      <p:sp>
        <p:nvSpPr>
          <p:cNvPr id="20" name="角丸四角形 19"/>
          <p:cNvSpPr/>
          <p:nvPr/>
        </p:nvSpPr>
        <p:spPr>
          <a:xfrm>
            <a:off x="5230687" y="3899315"/>
            <a:ext cx="1571113" cy="99868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④承認待ち依頼照会</a:t>
            </a:r>
            <a:endParaRPr kumimoji="1" lang="en-US" altLang="ja-JP" sz="1400" dirty="0">
              <a:latin typeface="Meiryo UI" panose="020B0604030504040204" pitchFamily="50" charset="-128"/>
              <a:ea typeface="Meiryo UI" panose="020B0604030504040204" pitchFamily="50" charset="-128"/>
            </a:endParaRPr>
          </a:p>
        </p:txBody>
      </p:sp>
      <p:sp>
        <p:nvSpPr>
          <p:cNvPr id="22" name="角丸四角形 21"/>
          <p:cNvSpPr/>
          <p:nvPr/>
        </p:nvSpPr>
        <p:spPr>
          <a:xfrm>
            <a:off x="6926912" y="3909495"/>
            <a:ext cx="1545324" cy="97832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⑤承認</a:t>
            </a:r>
            <a:endParaRPr lang="en-US" altLang="ja-JP" sz="1400" dirty="0">
              <a:latin typeface="Meiryo UI" panose="020B0604030504040204" pitchFamily="50" charset="-128"/>
              <a:ea typeface="Meiryo UI" panose="020B0604030504040204" pitchFamily="50" charset="-128"/>
            </a:endParaRPr>
          </a:p>
        </p:txBody>
      </p:sp>
      <p:cxnSp>
        <p:nvCxnSpPr>
          <p:cNvPr id="7" name="直線矢印コネクタ 6"/>
          <p:cNvCxnSpPr/>
          <p:nvPr/>
        </p:nvCxnSpPr>
        <p:spPr>
          <a:xfrm flipV="1">
            <a:off x="218898" y="3746709"/>
            <a:ext cx="4871570" cy="891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Rectangle 15"/>
          <p:cNvSpPr>
            <a:spLocks noChangeArrowheads="1"/>
          </p:cNvSpPr>
          <p:nvPr/>
        </p:nvSpPr>
        <p:spPr bwMode="auto">
          <a:xfrm>
            <a:off x="2045872" y="3594103"/>
            <a:ext cx="1259961" cy="305212"/>
          </a:xfrm>
          <a:prstGeom prst="rect">
            <a:avLst/>
          </a:prstGeom>
          <a:solidFill>
            <a:schemeClr val="bg1"/>
          </a:solidFill>
          <a:ln w="12700">
            <a:noFill/>
            <a:miter lim="800000"/>
            <a:headEnd/>
            <a:tailEnd/>
          </a:ln>
          <a:effectLst/>
        </p:spPr>
        <p:txBody>
          <a:bodyPr wrap="none" lIns="90488" tIns="44450" rIns="90488" bIns="44450">
            <a:spAutoFit/>
          </a:bodyPr>
          <a:lstStyle/>
          <a:p>
            <a:pPr eaLnBrk="0" hangingPunct="0">
              <a:spcBef>
                <a:spcPct val="20000"/>
              </a:spcBef>
              <a:buClr>
                <a:srgbClr val="002289"/>
              </a:buClr>
              <a:buSzPct val="113000"/>
            </a:pPr>
            <a:r>
              <a:rPr lang="ja-JP" altLang="en-US" sz="1400" dirty="0">
                <a:latin typeface="Meiryo UI" pitchFamily="50" charset="-128"/>
                <a:ea typeface="Meiryo UI" pitchFamily="50" charset="-128"/>
                <a:cs typeface="Meiryo UI" pitchFamily="50" charset="-128"/>
              </a:rPr>
              <a:t>購買依頼作成</a:t>
            </a:r>
            <a:endParaRPr lang="en-US" altLang="ja-JP" sz="1400" dirty="0">
              <a:solidFill>
                <a:schemeClr val="bg1">
                  <a:lumMod val="65000"/>
                </a:schemeClr>
              </a:solidFill>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２ ／ １２ ）</a:t>
            </a:r>
            <a:endParaRPr kumimoji="1" lang="ja-JP" altLang="en-US" sz="2000" dirty="0">
              <a:latin typeface="Meiryo UI" pitchFamily="50" charset="-128"/>
              <a:ea typeface="Meiryo UI" pitchFamily="50" charset="-128"/>
              <a:cs typeface="Meiryo UI" pitchFamily="50" charset="-128"/>
            </a:endParaRPr>
          </a:p>
        </p:txBody>
      </p:sp>
      <p:cxnSp>
        <p:nvCxnSpPr>
          <p:cNvPr id="25" name="直線矢印コネクタ 24"/>
          <p:cNvCxnSpPr/>
          <p:nvPr/>
        </p:nvCxnSpPr>
        <p:spPr>
          <a:xfrm>
            <a:off x="5152963" y="3755621"/>
            <a:ext cx="3422726" cy="148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Rectangle 15"/>
          <p:cNvSpPr>
            <a:spLocks noChangeArrowheads="1"/>
          </p:cNvSpPr>
          <p:nvPr/>
        </p:nvSpPr>
        <p:spPr bwMode="auto">
          <a:xfrm>
            <a:off x="6234375" y="3594103"/>
            <a:ext cx="1259961" cy="305212"/>
          </a:xfrm>
          <a:prstGeom prst="rect">
            <a:avLst/>
          </a:prstGeom>
          <a:solidFill>
            <a:schemeClr val="bg1"/>
          </a:solidFill>
          <a:ln w="12700">
            <a:noFill/>
            <a:miter lim="800000"/>
            <a:headEnd/>
            <a:tailEnd/>
          </a:ln>
          <a:effectLst/>
        </p:spPr>
        <p:txBody>
          <a:bodyPr wrap="none" lIns="90488" tIns="44450" rIns="90488" bIns="44450">
            <a:spAutoFit/>
          </a:bodyPr>
          <a:lstStyle/>
          <a:p>
            <a:pPr eaLnBrk="0" hangingPunct="0">
              <a:spcBef>
                <a:spcPct val="20000"/>
              </a:spcBef>
              <a:buClr>
                <a:srgbClr val="002289"/>
              </a:buClr>
              <a:buSzPct val="113000"/>
            </a:pPr>
            <a:r>
              <a:rPr lang="ja-JP" altLang="en-US" sz="1400" dirty="0">
                <a:latin typeface="Meiryo UI" pitchFamily="50" charset="-128"/>
                <a:ea typeface="Meiryo UI" pitchFamily="50" charset="-128"/>
                <a:cs typeface="Meiryo UI" pitchFamily="50" charset="-128"/>
              </a:rPr>
              <a:t>購買依頼承認</a:t>
            </a:r>
            <a:endParaRPr lang="en-US" altLang="ja-JP" sz="1400" dirty="0">
              <a:solidFill>
                <a:schemeClr val="bg1">
                  <a:lumMod val="65000"/>
                </a:schemeClr>
              </a:solidFill>
              <a:latin typeface="Meiryo UI" pitchFamily="50" charset="-128"/>
              <a:ea typeface="Meiryo UI" pitchFamily="50" charset="-128"/>
              <a:cs typeface="Meiryo UI" pitchFamily="50" charset="-128"/>
            </a:endParaRPr>
          </a:p>
        </p:txBody>
      </p:sp>
      <p:cxnSp>
        <p:nvCxnSpPr>
          <p:cNvPr id="37" name="直線コネクタ 36"/>
          <p:cNvCxnSpPr/>
          <p:nvPr/>
        </p:nvCxnSpPr>
        <p:spPr>
          <a:xfrm flipH="1">
            <a:off x="5152963" y="3688110"/>
            <a:ext cx="60" cy="1329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H="1">
            <a:off x="8575689" y="3688110"/>
            <a:ext cx="60" cy="1329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H="1">
            <a:off x="198683" y="3688110"/>
            <a:ext cx="60" cy="13291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3928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伝票起票</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「購買管理」→「購買依頼」と遷移します。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ME51N –</a:t>
            </a:r>
            <a:r>
              <a:rPr lang="ja-JP" altLang="en-US" dirty="0">
                <a:latin typeface="Meiryo UI" pitchFamily="50" charset="-128"/>
                <a:ea typeface="Meiryo UI" pitchFamily="50" charset="-128"/>
                <a:cs typeface="Meiryo UI" pitchFamily="50" charset="-128"/>
              </a:rPr>
              <a:t> 登録」を選択、</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またはコマンド入力欄に</a:t>
            </a:r>
            <a:r>
              <a:rPr lang="en-US" altLang="ja-JP" dirty="0">
                <a:latin typeface="Meiryo UI" pitchFamily="50" charset="-128"/>
                <a:ea typeface="Meiryo UI" pitchFamily="50" charset="-128"/>
                <a:cs typeface="Meiryo UI" pitchFamily="50" charset="-128"/>
              </a:rPr>
              <a:t>’ME51N’</a:t>
            </a:r>
            <a:r>
              <a:rPr lang="ja-JP" altLang="en-US" dirty="0">
                <a:latin typeface="Meiryo UI" pitchFamily="50" charset="-128"/>
                <a:ea typeface="Meiryo UI" pitchFamily="50" charset="-128"/>
                <a:cs typeface="Meiryo UI" pitchFamily="50" charset="-128"/>
              </a:rPr>
              <a:t>と入力します。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３ ／ １２ ）</a:t>
            </a:r>
            <a:endParaRPr kumimoji="1" lang="ja-JP" altLang="en-US" sz="2000" dirty="0">
              <a:latin typeface="Meiryo UI" pitchFamily="50" charset="-128"/>
              <a:ea typeface="Meiryo UI" pitchFamily="50" charset="-128"/>
              <a:cs typeface="Meiryo UI" pitchFamily="50" charset="-128"/>
            </a:endParaRPr>
          </a:p>
        </p:txBody>
      </p:sp>
      <p:pic>
        <p:nvPicPr>
          <p:cNvPr id="16" name="図 15"/>
          <p:cNvPicPr>
            <a:picLocks noChangeAspect="1"/>
          </p:cNvPicPr>
          <p:nvPr/>
        </p:nvPicPr>
        <p:blipFill rotWithShape="1">
          <a:blip r:embed="rId2"/>
          <a:srcRect b="9744"/>
          <a:stretch/>
        </p:blipFill>
        <p:spPr>
          <a:xfrm>
            <a:off x="5096510" y="2002041"/>
            <a:ext cx="3681729" cy="4525272"/>
          </a:xfrm>
          <a:prstGeom prst="rect">
            <a:avLst/>
          </a:prstGeom>
        </p:spPr>
      </p:pic>
      <p:sp>
        <p:nvSpPr>
          <p:cNvPr id="17" name="正方形/長方形 16"/>
          <p:cNvSpPr/>
          <p:nvPr/>
        </p:nvSpPr>
        <p:spPr>
          <a:xfrm>
            <a:off x="5375993" y="2630277"/>
            <a:ext cx="1705527" cy="2258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p:nvSpPr>
        <p:spPr>
          <a:xfrm>
            <a:off x="6081078" y="5994446"/>
            <a:ext cx="1102041" cy="2437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右カーブ矢印 18"/>
          <p:cNvSpPr/>
          <p:nvPr/>
        </p:nvSpPr>
        <p:spPr>
          <a:xfrm>
            <a:off x="5096509" y="4003040"/>
            <a:ext cx="279483" cy="836174"/>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20" name="右カーブ矢印 19"/>
          <p:cNvSpPr/>
          <p:nvPr/>
        </p:nvSpPr>
        <p:spPr>
          <a:xfrm>
            <a:off x="5233336" y="4850558"/>
            <a:ext cx="210847" cy="462828"/>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21" name="右カーブ矢印 20"/>
          <p:cNvSpPr/>
          <p:nvPr/>
        </p:nvSpPr>
        <p:spPr>
          <a:xfrm>
            <a:off x="5432235" y="5254286"/>
            <a:ext cx="193186" cy="232191"/>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22" name="右カーブ矢印 21"/>
          <p:cNvSpPr/>
          <p:nvPr/>
        </p:nvSpPr>
        <p:spPr>
          <a:xfrm>
            <a:off x="5528828" y="5489455"/>
            <a:ext cx="269627" cy="466695"/>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23" name="右カーブ矢印 22"/>
          <p:cNvSpPr/>
          <p:nvPr/>
        </p:nvSpPr>
        <p:spPr>
          <a:xfrm>
            <a:off x="5762513" y="5918356"/>
            <a:ext cx="270953" cy="306202"/>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pic>
        <p:nvPicPr>
          <p:cNvPr id="3" name="図 2"/>
          <p:cNvPicPr>
            <a:picLocks noChangeAspect="1"/>
          </p:cNvPicPr>
          <p:nvPr/>
        </p:nvPicPr>
        <p:blipFill>
          <a:blip r:embed="rId3"/>
          <a:stretch>
            <a:fillRect/>
          </a:stretch>
        </p:blipFill>
        <p:spPr>
          <a:xfrm>
            <a:off x="6127368" y="1115166"/>
            <a:ext cx="2899402" cy="360000"/>
          </a:xfrm>
          <a:prstGeom prst="rect">
            <a:avLst/>
          </a:prstGeom>
        </p:spPr>
      </p:pic>
      <p:sp>
        <p:nvSpPr>
          <p:cNvPr id="4" name="正方形/長方形 3"/>
          <p:cNvSpPr/>
          <p:nvPr/>
        </p:nvSpPr>
        <p:spPr>
          <a:xfrm>
            <a:off x="6100956"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05781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伝票明細</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赤枠を入力し、エンターキーを押します。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４ ／ １２ ）</a:t>
            </a:r>
            <a:endParaRPr kumimoji="1" lang="ja-JP" altLang="en-US" sz="2000" dirty="0">
              <a:latin typeface="Meiryo UI" pitchFamily="50" charset="-128"/>
              <a:ea typeface="Meiryo UI" pitchFamily="50" charset="-128"/>
              <a:cs typeface="Meiryo UI" pitchFamily="50" charset="-128"/>
            </a:endParaRPr>
          </a:p>
        </p:txBody>
      </p:sp>
      <p:pic>
        <p:nvPicPr>
          <p:cNvPr id="9" name="図 8"/>
          <p:cNvPicPr>
            <a:picLocks noChangeAspect="1"/>
          </p:cNvPicPr>
          <p:nvPr/>
        </p:nvPicPr>
        <p:blipFill>
          <a:blip r:embed="rId3"/>
          <a:stretch>
            <a:fillRect/>
          </a:stretch>
        </p:blipFill>
        <p:spPr>
          <a:xfrm>
            <a:off x="198683" y="2166654"/>
            <a:ext cx="8346936" cy="4228379"/>
          </a:xfrm>
          <a:prstGeom prst="rect">
            <a:avLst/>
          </a:prstGeom>
        </p:spPr>
      </p:pic>
      <p:graphicFrame>
        <p:nvGraphicFramePr>
          <p:cNvPr id="10" name="表 9"/>
          <p:cNvGraphicFramePr>
            <a:graphicFrameLocks noGrp="1"/>
          </p:cNvGraphicFramePr>
          <p:nvPr>
            <p:extLst>
              <p:ext uri="{D42A27DB-BD31-4B8C-83A1-F6EECF244321}">
                <p14:modId xmlns:p14="http://schemas.microsoft.com/office/powerpoint/2010/main" val="1119503196"/>
              </p:ext>
            </p:extLst>
          </p:nvPr>
        </p:nvGraphicFramePr>
        <p:xfrm>
          <a:off x="3406105" y="3952508"/>
          <a:ext cx="5580798" cy="2465213"/>
        </p:xfrm>
        <a:graphic>
          <a:graphicData uri="http://schemas.openxmlformats.org/drawingml/2006/table">
            <a:tbl>
              <a:tblPr firstRow="1" bandRow="1">
                <a:tableStyleId>{7DF18680-E054-41AD-8BC1-D1AEF772440D}</a:tableStyleId>
              </a:tblPr>
              <a:tblGrid>
                <a:gridCol w="2567074">
                  <a:extLst>
                    <a:ext uri="{9D8B030D-6E8A-4147-A177-3AD203B41FA5}">
                      <a16:colId xmlns:a16="http://schemas.microsoft.com/office/drawing/2014/main" val="20000"/>
                    </a:ext>
                  </a:extLst>
                </a:gridCol>
                <a:gridCol w="3013724">
                  <a:extLst>
                    <a:ext uri="{9D8B030D-6E8A-4147-A177-3AD203B41FA5}">
                      <a16:colId xmlns:a16="http://schemas.microsoft.com/office/drawing/2014/main" val="20001"/>
                    </a:ext>
                  </a:extLst>
                </a:gridCol>
              </a:tblGrid>
              <a:tr h="406168">
                <a:tc>
                  <a:txBody>
                    <a:bodyPr/>
                    <a:lstStyle/>
                    <a:p>
                      <a:pPr algn="ctr"/>
                      <a:r>
                        <a:rPr kumimoji="1" lang="ja-JP" altLang="en-US" dirty="0"/>
                        <a:t>項目</a:t>
                      </a:r>
                    </a:p>
                  </a:txBody>
                  <a:tcPr anchor="ctr"/>
                </a:tc>
                <a:tc>
                  <a:txBody>
                    <a:bodyPr/>
                    <a:lstStyle/>
                    <a:p>
                      <a:pPr algn="ctr"/>
                      <a:r>
                        <a:rPr kumimoji="1" lang="ja-JP" altLang="en-US" dirty="0"/>
                        <a:t>入力値</a:t>
                      </a:r>
                    </a:p>
                  </a:txBody>
                  <a:tcPr anchor="ctr"/>
                </a:tc>
                <a:extLst>
                  <a:ext uri="{0D108BD9-81ED-4DB2-BD59-A6C34878D82A}">
                    <a16:rowId xmlns:a16="http://schemas.microsoft.com/office/drawing/2014/main" val="10000"/>
                  </a:ext>
                </a:extLst>
              </a:tr>
              <a:tr h="411809">
                <a:tc>
                  <a:txBody>
                    <a:bodyPr/>
                    <a:lstStyle/>
                    <a:p>
                      <a:pPr algn="ctr"/>
                      <a:r>
                        <a:rPr kumimoji="1" lang="ja-JP" altLang="en-US" dirty="0"/>
                        <a:t>品目</a:t>
                      </a:r>
                    </a:p>
                  </a:txBody>
                  <a:tcPr anchor="ctr"/>
                </a:tc>
                <a:tc>
                  <a:txBody>
                    <a:bodyPr/>
                    <a:lstStyle/>
                    <a:p>
                      <a:pPr algn="ctr"/>
                      <a:r>
                        <a:rPr kumimoji="1" lang="en-US" altLang="ja-JP" dirty="0"/>
                        <a:t>YxxITEM01</a:t>
                      </a:r>
                      <a:endParaRPr kumimoji="1" lang="ja-JP" altLang="en-US" dirty="0"/>
                    </a:p>
                  </a:txBody>
                  <a:tcPr anchor="ctr"/>
                </a:tc>
                <a:extLst>
                  <a:ext uri="{0D108BD9-81ED-4DB2-BD59-A6C34878D82A}">
                    <a16:rowId xmlns:a16="http://schemas.microsoft.com/office/drawing/2014/main" val="10001"/>
                  </a:ext>
                </a:extLst>
              </a:tr>
              <a:tr h="411809">
                <a:tc>
                  <a:txBody>
                    <a:bodyPr/>
                    <a:lstStyle/>
                    <a:p>
                      <a:pPr algn="ctr"/>
                      <a:r>
                        <a:rPr kumimoji="1" lang="ja-JP" altLang="en-US" dirty="0"/>
                        <a:t>依頼数量</a:t>
                      </a:r>
                    </a:p>
                  </a:txBody>
                  <a:tcPr anchor="ctr"/>
                </a:tc>
                <a:tc>
                  <a:txBody>
                    <a:bodyPr/>
                    <a:lstStyle/>
                    <a:p>
                      <a:pPr algn="ctr"/>
                      <a:r>
                        <a:rPr kumimoji="1" lang="en-US" altLang="ja-JP" dirty="0"/>
                        <a:t>5</a:t>
                      </a:r>
                      <a:endParaRPr kumimoji="1" lang="ja-JP" altLang="en-US" dirty="0"/>
                    </a:p>
                  </a:txBody>
                  <a:tcPr anchor="ctr"/>
                </a:tc>
                <a:extLst>
                  <a:ext uri="{0D108BD9-81ED-4DB2-BD59-A6C34878D82A}">
                    <a16:rowId xmlns:a16="http://schemas.microsoft.com/office/drawing/2014/main" val="10002"/>
                  </a:ext>
                </a:extLst>
              </a:tr>
              <a:tr h="411809">
                <a:tc>
                  <a:txBody>
                    <a:bodyPr/>
                    <a:lstStyle/>
                    <a:p>
                      <a:pPr algn="ctr"/>
                      <a:r>
                        <a:rPr kumimoji="1" lang="ja-JP" altLang="en-US" dirty="0"/>
                        <a:t>納入日付</a:t>
                      </a:r>
                    </a:p>
                  </a:txBody>
                  <a:tcPr anchor="ctr"/>
                </a:tc>
                <a:tc>
                  <a:txBody>
                    <a:bodyPr/>
                    <a:lstStyle/>
                    <a:p>
                      <a:pPr algn="ctr"/>
                      <a:r>
                        <a:rPr kumimoji="1" lang="en-US" altLang="ja-JP" baseline="0" dirty="0"/>
                        <a:t>2019/03/29</a:t>
                      </a:r>
                      <a:endParaRPr kumimoji="1" lang="ja-JP" altLang="en-US" baseline="0" dirty="0"/>
                    </a:p>
                  </a:txBody>
                  <a:tcPr anchor="ctr"/>
                </a:tc>
                <a:extLst>
                  <a:ext uri="{0D108BD9-81ED-4DB2-BD59-A6C34878D82A}">
                    <a16:rowId xmlns:a16="http://schemas.microsoft.com/office/drawing/2014/main" val="10003"/>
                  </a:ext>
                </a:extLst>
              </a:tr>
              <a:tr h="411809">
                <a:tc>
                  <a:txBody>
                    <a:bodyPr/>
                    <a:lstStyle/>
                    <a:p>
                      <a:pPr algn="ctr"/>
                      <a:r>
                        <a:rPr kumimoji="1" lang="ja-JP" altLang="en-US" dirty="0"/>
                        <a:t>プラント</a:t>
                      </a:r>
                    </a:p>
                  </a:txBody>
                  <a:tcPr anchor="ctr"/>
                </a:tc>
                <a:tc>
                  <a:txBody>
                    <a:bodyPr/>
                    <a:lstStyle/>
                    <a:p>
                      <a:pPr algn="ctr"/>
                      <a:r>
                        <a:rPr kumimoji="1" lang="en-US" altLang="ja-JP" dirty="0"/>
                        <a:t>1510</a:t>
                      </a:r>
                      <a:endParaRPr kumimoji="1" lang="ja-JP" altLang="en-US" dirty="0"/>
                    </a:p>
                  </a:txBody>
                  <a:tcPr anchor="ctr"/>
                </a:tc>
                <a:extLst>
                  <a:ext uri="{0D108BD9-81ED-4DB2-BD59-A6C34878D82A}">
                    <a16:rowId xmlns:a16="http://schemas.microsoft.com/office/drawing/2014/main" val="10004"/>
                  </a:ext>
                </a:extLst>
              </a:tr>
              <a:tr h="411809">
                <a:tc>
                  <a:txBody>
                    <a:bodyPr/>
                    <a:lstStyle/>
                    <a:p>
                      <a:pPr algn="ctr"/>
                      <a:r>
                        <a:rPr kumimoji="1" lang="ja-JP" altLang="en-US" dirty="0"/>
                        <a:t>購買グループ</a:t>
                      </a:r>
                    </a:p>
                  </a:txBody>
                  <a:tcPr anchor="ctr"/>
                </a:tc>
                <a:tc>
                  <a:txBody>
                    <a:bodyPr/>
                    <a:lstStyle/>
                    <a:p>
                      <a:pPr algn="ctr"/>
                      <a:r>
                        <a:rPr kumimoji="1" lang="en-US" altLang="ja-JP" dirty="0"/>
                        <a:t>003</a:t>
                      </a:r>
                      <a:endParaRPr kumimoji="1" lang="ja-JP" altLang="en-US" dirty="0"/>
                    </a:p>
                  </a:txBody>
                  <a:tcPr anchor="ctr"/>
                </a:tc>
                <a:extLst>
                  <a:ext uri="{0D108BD9-81ED-4DB2-BD59-A6C34878D82A}">
                    <a16:rowId xmlns:a16="http://schemas.microsoft.com/office/drawing/2014/main" val="10005"/>
                  </a:ext>
                </a:extLst>
              </a:tr>
            </a:tbl>
          </a:graphicData>
        </a:graphic>
      </p:graphicFrame>
      <p:sp>
        <p:nvSpPr>
          <p:cNvPr id="11" name="正方形/長方形 10"/>
          <p:cNvSpPr/>
          <p:nvPr/>
        </p:nvSpPr>
        <p:spPr>
          <a:xfrm>
            <a:off x="1436944" y="3373316"/>
            <a:ext cx="586408" cy="397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6181223" y="3373316"/>
            <a:ext cx="215347" cy="397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3152823" y="3373316"/>
            <a:ext cx="445604" cy="397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4995153" y="3373316"/>
            <a:ext cx="665922" cy="397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3901440" y="3373316"/>
            <a:ext cx="563626" cy="397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p:cNvPicPr>
            <a:picLocks noChangeAspect="1"/>
          </p:cNvPicPr>
          <p:nvPr/>
        </p:nvPicPr>
        <p:blipFill>
          <a:blip r:embed="rId4"/>
          <a:stretch>
            <a:fillRect/>
          </a:stretch>
        </p:blipFill>
        <p:spPr>
          <a:xfrm>
            <a:off x="6127368" y="1115166"/>
            <a:ext cx="2899402" cy="360000"/>
          </a:xfrm>
          <a:prstGeom prst="rect">
            <a:avLst/>
          </a:prstGeom>
        </p:spPr>
      </p:pic>
      <p:sp>
        <p:nvSpPr>
          <p:cNvPr id="17" name="正方形/長方形 16"/>
          <p:cNvSpPr/>
          <p:nvPr/>
        </p:nvSpPr>
        <p:spPr>
          <a:xfrm>
            <a:off x="6687359"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68680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伝票保存</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品目マスタに紐づいた情報が自動入力されます。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右下にある「保存」ボタンを押下します。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以下のようなメッセージが表示されます。番号は控えておいてください。</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５ ／ １２ ）</a:t>
            </a:r>
            <a:endParaRPr kumimoji="1" lang="ja-JP" altLang="en-US" sz="2000" dirty="0">
              <a:latin typeface="Meiryo UI" pitchFamily="50" charset="-128"/>
              <a:ea typeface="Meiryo UI" pitchFamily="50" charset="-128"/>
              <a:cs typeface="Meiryo UI" pitchFamily="50" charset="-128"/>
            </a:endParaRPr>
          </a:p>
        </p:txBody>
      </p:sp>
      <p:pic>
        <p:nvPicPr>
          <p:cNvPr id="16" name="図 15"/>
          <p:cNvPicPr>
            <a:picLocks noChangeAspect="1"/>
          </p:cNvPicPr>
          <p:nvPr/>
        </p:nvPicPr>
        <p:blipFill>
          <a:blip r:embed="rId2"/>
          <a:stretch>
            <a:fillRect/>
          </a:stretch>
        </p:blipFill>
        <p:spPr>
          <a:xfrm>
            <a:off x="198683" y="2043787"/>
            <a:ext cx="5891971" cy="2914827"/>
          </a:xfrm>
          <a:prstGeom prst="rect">
            <a:avLst/>
          </a:prstGeom>
        </p:spPr>
      </p:pic>
      <p:pic>
        <p:nvPicPr>
          <p:cNvPr id="17" name="図 16"/>
          <p:cNvPicPr>
            <a:picLocks noChangeAspect="1"/>
          </p:cNvPicPr>
          <p:nvPr/>
        </p:nvPicPr>
        <p:blipFill>
          <a:blip r:embed="rId3"/>
          <a:stretch>
            <a:fillRect/>
          </a:stretch>
        </p:blipFill>
        <p:spPr>
          <a:xfrm>
            <a:off x="198683" y="5804483"/>
            <a:ext cx="4133850" cy="590550"/>
          </a:xfrm>
          <a:prstGeom prst="rect">
            <a:avLst/>
          </a:prstGeom>
        </p:spPr>
      </p:pic>
      <p:pic>
        <p:nvPicPr>
          <p:cNvPr id="6" name="図 5"/>
          <p:cNvPicPr>
            <a:picLocks noChangeAspect="1"/>
          </p:cNvPicPr>
          <p:nvPr/>
        </p:nvPicPr>
        <p:blipFill>
          <a:blip r:embed="rId4"/>
          <a:stretch>
            <a:fillRect/>
          </a:stretch>
        </p:blipFill>
        <p:spPr>
          <a:xfrm>
            <a:off x="6127368" y="1115166"/>
            <a:ext cx="2899402" cy="360000"/>
          </a:xfrm>
          <a:prstGeom prst="rect">
            <a:avLst/>
          </a:prstGeom>
        </p:spPr>
      </p:pic>
      <p:sp>
        <p:nvSpPr>
          <p:cNvPr id="7" name="正方形/長方形 6"/>
          <p:cNvSpPr/>
          <p:nvPr/>
        </p:nvSpPr>
        <p:spPr>
          <a:xfrm>
            <a:off x="7273762"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87852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承認待ち依頼照会</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購買管理」→「購買管理」</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     </a:t>
            </a:r>
            <a:r>
              <a:rPr lang="ja-JP" altLang="en-US" dirty="0">
                <a:latin typeface="Meiryo UI" pitchFamily="50" charset="-128"/>
                <a:ea typeface="Meiryo UI" pitchFamily="50" charset="-128"/>
                <a:cs typeface="Meiryo UI" pitchFamily="50" charset="-128"/>
              </a:rPr>
              <a:t>→「購買依頼」→「承認」と遷移します。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ME5F –</a:t>
            </a:r>
            <a:r>
              <a:rPr lang="ja-JP" altLang="en-US" dirty="0">
                <a:latin typeface="Meiryo UI" pitchFamily="50" charset="-128"/>
                <a:ea typeface="Meiryo UI" pitchFamily="50" charset="-128"/>
                <a:cs typeface="Meiryo UI" pitchFamily="50" charset="-128"/>
              </a:rPr>
              <a:t> 承認催促」を選択、</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またはコマンド入力欄に</a:t>
            </a:r>
            <a:r>
              <a:rPr lang="en-US" altLang="ja-JP" dirty="0">
                <a:latin typeface="Meiryo UI" pitchFamily="50" charset="-128"/>
                <a:ea typeface="Meiryo UI" pitchFamily="50" charset="-128"/>
                <a:cs typeface="Meiryo UI" pitchFamily="50" charset="-128"/>
              </a:rPr>
              <a:t>’ME5F’</a:t>
            </a:r>
            <a:r>
              <a:rPr lang="ja-JP" altLang="en-US" dirty="0">
                <a:latin typeface="Meiryo UI" pitchFamily="50" charset="-128"/>
                <a:ea typeface="Meiryo UI" pitchFamily="50" charset="-128"/>
                <a:cs typeface="Meiryo UI" pitchFamily="50" charset="-128"/>
              </a:rPr>
              <a:t>と入力します。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６ ／ １２ ）</a:t>
            </a:r>
            <a:endParaRPr kumimoji="1" lang="ja-JP" altLang="en-US" sz="2000" dirty="0">
              <a:latin typeface="Meiryo UI" pitchFamily="50" charset="-128"/>
              <a:ea typeface="Meiryo UI" pitchFamily="50" charset="-128"/>
              <a:cs typeface="Meiryo UI" pitchFamily="50" charset="-128"/>
            </a:endParaRPr>
          </a:p>
        </p:txBody>
      </p:sp>
      <p:pic>
        <p:nvPicPr>
          <p:cNvPr id="13" name="図 12"/>
          <p:cNvPicPr>
            <a:picLocks noChangeAspect="1"/>
          </p:cNvPicPr>
          <p:nvPr/>
        </p:nvPicPr>
        <p:blipFill>
          <a:blip r:embed="rId2"/>
          <a:stretch>
            <a:fillRect/>
          </a:stretch>
        </p:blipFill>
        <p:spPr>
          <a:xfrm>
            <a:off x="5422963" y="1736508"/>
            <a:ext cx="3089834" cy="4749189"/>
          </a:xfrm>
          <a:prstGeom prst="rect">
            <a:avLst/>
          </a:prstGeom>
        </p:spPr>
      </p:pic>
      <p:sp>
        <p:nvSpPr>
          <p:cNvPr id="14" name="正方形/長方形 13"/>
          <p:cNvSpPr/>
          <p:nvPr/>
        </p:nvSpPr>
        <p:spPr>
          <a:xfrm>
            <a:off x="5636035" y="2417217"/>
            <a:ext cx="1371274" cy="2471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6264022" y="6207145"/>
            <a:ext cx="1170668" cy="1857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右カーブ矢印 23"/>
          <p:cNvSpPr/>
          <p:nvPr/>
        </p:nvSpPr>
        <p:spPr>
          <a:xfrm>
            <a:off x="5299711" y="3460825"/>
            <a:ext cx="200350" cy="765314"/>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25" name="右カーブ矢印 24"/>
          <p:cNvSpPr/>
          <p:nvPr/>
        </p:nvSpPr>
        <p:spPr>
          <a:xfrm>
            <a:off x="5626471" y="4434353"/>
            <a:ext cx="155230" cy="230637"/>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26" name="右カーブ矢印 25"/>
          <p:cNvSpPr/>
          <p:nvPr/>
        </p:nvSpPr>
        <p:spPr>
          <a:xfrm>
            <a:off x="5655291" y="4664990"/>
            <a:ext cx="259908" cy="415914"/>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28" name="右カーブ矢印 27"/>
          <p:cNvSpPr/>
          <p:nvPr/>
        </p:nvSpPr>
        <p:spPr>
          <a:xfrm>
            <a:off x="5781701" y="4976638"/>
            <a:ext cx="281389" cy="843800"/>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29" name="右カーブ矢印 28"/>
          <p:cNvSpPr/>
          <p:nvPr/>
        </p:nvSpPr>
        <p:spPr>
          <a:xfrm>
            <a:off x="5945016" y="5820438"/>
            <a:ext cx="240688" cy="572431"/>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30" name="右カーブ矢印 29"/>
          <p:cNvSpPr/>
          <p:nvPr/>
        </p:nvSpPr>
        <p:spPr>
          <a:xfrm>
            <a:off x="5500061" y="4152388"/>
            <a:ext cx="135974" cy="299685"/>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pic>
        <p:nvPicPr>
          <p:cNvPr id="16" name="図 15"/>
          <p:cNvPicPr>
            <a:picLocks noChangeAspect="1"/>
          </p:cNvPicPr>
          <p:nvPr/>
        </p:nvPicPr>
        <p:blipFill>
          <a:blip r:embed="rId3"/>
          <a:stretch>
            <a:fillRect/>
          </a:stretch>
        </p:blipFill>
        <p:spPr>
          <a:xfrm>
            <a:off x="6127368" y="1115166"/>
            <a:ext cx="2899402" cy="360000"/>
          </a:xfrm>
          <a:prstGeom prst="rect">
            <a:avLst/>
          </a:prstGeom>
        </p:spPr>
      </p:pic>
      <p:sp>
        <p:nvSpPr>
          <p:cNvPr id="17" name="正方形/長方形 16"/>
          <p:cNvSpPr/>
          <p:nvPr/>
        </p:nvSpPr>
        <p:spPr>
          <a:xfrm>
            <a:off x="7870109"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57055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承認待ち依頼照会</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赤枠の項目を入力</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①</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し、右下の「実行」ボタンをクリックします。</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②</a:t>
            </a:r>
            <a:r>
              <a:rPr lang="en-US" altLang="ja-JP" dirty="0">
                <a:latin typeface="Meiryo UI" pitchFamily="50" charset="-128"/>
                <a:ea typeface="Meiryo UI" pitchFamily="50" charset="-128"/>
                <a:cs typeface="Meiryo UI" pitchFamily="50" charset="-128"/>
              </a:rPr>
              <a:t>)</a:t>
            </a: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７ ／ １２ ）</a:t>
            </a:r>
            <a:endParaRPr kumimoji="1" lang="ja-JP" altLang="en-US" sz="2000" dirty="0">
              <a:latin typeface="Meiryo UI" pitchFamily="50" charset="-128"/>
              <a:ea typeface="Meiryo UI" pitchFamily="50" charset="-128"/>
              <a:cs typeface="Meiryo UI" pitchFamily="50" charset="-128"/>
            </a:endParaRPr>
          </a:p>
        </p:txBody>
      </p:sp>
      <p:pic>
        <p:nvPicPr>
          <p:cNvPr id="7" name="図 6"/>
          <p:cNvPicPr>
            <a:picLocks noChangeAspect="1"/>
          </p:cNvPicPr>
          <p:nvPr/>
        </p:nvPicPr>
        <p:blipFill>
          <a:blip r:embed="rId2"/>
          <a:stretch>
            <a:fillRect/>
          </a:stretch>
        </p:blipFill>
        <p:spPr>
          <a:xfrm>
            <a:off x="198683" y="2131932"/>
            <a:ext cx="6466473" cy="4177766"/>
          </a:xfrm>
          <a:prstGeom prst="rect">
            <a:avLst/>
          </a:prstGeom>
        </p:spPr>
      </p:pic>
      <p:graphicFrame>
        <p:nvGraphicFramePr>
          <p:cNvPr id="8" name="表 7"/>
          <p:cNvGraphicFramePr>
            <a:graphicFrameLocks noGrp="1"/>
          </p:cNvGraphicFramePr>
          <p:nvPr>
            <p:extLst>
              <p:ext uri="{D42A27DB-BD31-4B8C-83A1-F6EECF244321}">
                <p14:modId xmlns:p14="http://schemas.microsoft.com/office/powerpoint/2010/main" val="1139348414"/>
              </p:ext>
            </p:extLst>
          </p:nvPr>
        </p:nvGraphicFramePr>
        <p:xfrm>
          <a:off x="4137992" y="3017076"/>
          <a:ext cx="4737652" cy="1483360"/>
        </p:xfrm>
        <a:graphic>
          <a:graphicData uri="http://schemas.openxmlformats.org/drawingml/2006/table">
            <a:tbl>
              <a:tblPr firstRow="1" bandRow="1">
                <a:tableStyleId>{7DF18680-E054-41AD-8BC1-D1AEF772440D}</a:tableStyleId>
              </a:tblPr>
              <a:tblGrid>
                <a:gridCol w="2272748">
                  <a:extLst>
                    <a:ext uri="{9D8B030D-6E8A-4147-A177-3AD203B41FA5}">
                      <a16:colId xmlns:a16="http://schemas.microsoft.com/office/drawing/2014/main" val="20000"/>
                    </a:ext>
                  </a:extLst>
                </a:gridCol>
                <a:gridCol w="2464904">
                  <a:extLst>
                    <a:ext uri="{9D8B030D-6E8A-4147-A177-3AD203B41FA5}">
                      <a16:colId xmlns:a16="http://schemas.microsoft.com/office/drawing/2014/main" val="20001"/>
                    </a:ext>
                  </a:extLst>
                </a:gridCol>
              </a:tblGrid>
              <a:tr h="370840">
                <a:tc>
                  <a:txBody>
                    <a:bodyPr/>
                    <a:lstStyle/>
                    <a:p>
                      <a:pPr algn="ctr"/>
                      <a:r>
                        <a:rPr kumimoji="1" lang="ja-JP" altLang="en-US" dirty="0"/>
                        <a:t>項目</a:t>
                      </a:r>
                    </a:p>
                  </a:txBody>
                  <a:tcPr anchor="ctr"/>
                </a:tc>
                <a:tc>
                  <a:txBody>
                    <a:bodyPr/>
                    <a:lstStyle/>
                    <a:p>
                      <a:pPr algn="ctr"/>
                      <a:r>
                        <a:rPr kumimoji="1" lang="ja-JP" altLang="en-US" dirty="0"/>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t>承認コード</a:t>
                      </a:r>
                    </a:p>
                  </a:txBody>
                  <a:tcPr anchor="ctr"/>
                </a:tc>
                <a:tc>
                  <a:txBody>
                    <a:bodyPr/>
                    <a:lstStyle/>
                    <a:p>
                      <a:pPr algn="ctr"/>
                      <a:r>
                        <a:rPr kumimoji="1" lang="en-US" altLang="ja-JP" dirty="0"/>
                        <a:t>MA(</a:t>
                      </a:r>
                      <a:r>
                        <a:rPr kumimoji="1" lang="ja-JP" altLang="en-US" dirty="0"/>
                        <a:t>マネージャー</a:t>
                      </a:r>
                      <a:r>
                        <a:rPr kumimoji="1" lang="en-US" altLang="ja-JP" dirty="0"/>
                        <a:t>)</a:t>
                      </a:r>
                      <a:endParaRPr kumimoji="1" lang="ja-JP" altLang="en-US" dirty="0"/>
                    </a:p>
                  </a:txBody>
                  <a:tcPr anchor="ctr"/>
                </a:tc>
                <a:extLst>
                  <a:ext uri="{0D108BD9-81ED-4DB2-BD59-A6C34878D82A}">
                    <a16:rowId xmlns:a16="http://schemas.microsoft.com/office/drawing/2014/main" val="10001"/>
                  </a:ext>
                </a:extLst>
              </a:tr>
              <a:tr h="370840">
                <a:tc>
                  <a:txBody>
                    <a:bodyPr/>
                    <a:lstStyle/>
                    <a:p>
                      <a:pPr algn="ctr"/>
                      <a:r>
                        <a:rPr kumimoji="1" lang="ja-JP" altLang="en-US" dirty="0"/>
                        <a:t>購買グループ</a:t>
                      </a:r>
                    </a:p>
                  </a:txBody>
                  <a:tcPr anchor="ctr"/>
                </a:tc>
                <a:tc>
                  <a:txBody>
                    <a:bodyPr/>
                    <a:lstStyle/>
                    <a:p>
                      <a:pPr algn="ctr"/>
                      <a:r>
                        <a:rPr kumimoji="1" lang="en-US" altLang="ja-JP" dirty="0"/>
                        <a:t>003</a:t>
                      </a:r>
                      <a:endParaRPr kumimoji="1" lang="ja-JP" altLang="en-US" dirty="0"/>
                    </a:p>
                  </a:txBody>
                  <a:tcPr anchor="ctr"/>
                </a:tc>
                <a:extLst>
                  <a:ext uri="{0D108BD9-81ED-4DB2-BD59-A6C34878D82A}">
                    <a16:rowId xmlns:a16="http://schemas.microsoft.com/office/drawing/2014/main" val="10002"/>
                  </a:ext>
                </a:extLst>
              </a:tr>
              <a:tr h="370840">
                <a:tc>
                  <a:txBody>
                    <a:bodyPr/>
                    <a:lstStyle/>
                    <a:p>
                      <a:pPr algn="ctr"/>
                      <a:r>
                        <a:rPr kumimoji="1" lang="ja-JP" altLang="en-US" dirty="0"/>
                        <a:t>プラント</a:t>
                      </a:r>
                    </a:p>
                  </a:txBody>
                  <a:tcPr anchor="ctr"/>
                </a:tc>
                <a:tc>
                  <a:txBody>
                    <a:bodyPr/>
                    <a:lstStyle/>
                    <a:p>
                      <a:pPr algn="ctr"/>
                      <a:r>
                        <a:rPr kumimoji="1" lang="en-US" altLang="ja-JP" dirty="0"/>
                        <a:t>1510</a:t>
                      </a:r>
                      <a:endParaRPr kumimoji="1" lang="ja-JP" altLang="en-US" dirty="0"/>
                    </a:p>
                  </a:txBody>
                  <a:tcPr anchor="ctr"/>
                </a:tc>
                <a:extLst>
                  <a:ext uri="{0D108BD9-81ED-4DB2-BD59-A6C34878D82A}">
                    <a16:rowId xmlns:a16="http://schemas.microsoft.com/office/drawing/2014/main" val="10003"/>
                  </a:ext>
                </a:extLst>
              </a:tr>
            </a:tbl>
          </a:graphicData>
        </a:graphic>
      </p:graphicFrame>
      <p:sp>
        <p:nvSpPr>
          <p:cNvPr id="9" name="正方形/長方形 8"/>
          <p:cNvSpPr/>
          <p:nvPr/>
        </p:nvSpPr>
        <p:spPr>
          <a:xfrm>
            <a:off x="2046577" y="3185600"/>
            <a:ext cx="884583" cy="2882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6134873" y="5892798"/>
            <a:ext cx="551311" cy="4274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1797325" y="5173204"/>
            <a:ext cx="1422953" cy="4572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p:cNvPicPr>
            <a:picLocks noChangeAspect="1"/>
          </p:cNvPicPr>
          <p:nvPr/>
        </p:nvPicPr>
        <p:blipFill>
          <a:blip r:embed="rId3"/>
          <a:stretch>
            <a:fillRect/>
          </a:stretch>
        </p:blipFill>
        <p:spPr>
          <a:xfrm>
            <a:off x="6127368" y="1115166"/>
            <a:ext cx="2899402" cy="360000"/>
          </a:xfrm>
          <a:prstGeom prst="rect">
            <a:avLst/>
          </a:prstGeom>
        </p:spPr>
      </p:pic>
      <p:sp>
        <p:nvSpPr>
          <p:cNvPr id="14" name="正方形/長方形 13"/>
          <p:cNvSpPr/>
          <p:nvPr/>
        </p:nvSpPr>
        <p:spPr>
          <a:xfrm>
            <a:off x="7870109"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11153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承認待ち依頼照会</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r>
              <a:rPr lang="ja-JP" altLang="en-US" dirty="0">
                <a:latin typeface="Meiryo UI" pitchFamily="50" charset="-128"/>
                <a:ea typeface="Meiryo UI" pitchFamily="50" charset="-128"/>
                <a:cs typeface="Meiryo UI" pitchFamily="50" charset="-128"/>
              </a:rPr>
              <a:t>承認コードに対する承認待ち依頼伝票が一覧で表示されます。</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８ ／ １２ ）</a:t>
            </a:r>
            <a:endParaRPr kumimoji="1" lang="ja-JP" altLang="en-US" sz="2000" dirty="0">
              <a:latin typeface="Meiryo UI" pitchFamily="50" charset="-128"/>
              <a:ea typeface="Meiryo UI" pitchFamily="50" charset="-128"/>
              <a:cs typeface="Meiryo UI" pitchFamily="50" charset="-128"/>
            </a:endParaRPr>
          </a:p>
        </p:txBody>
      </p:sp>
      <p:pic>
        <p:nvPicPr>
          <p:cNvPr id="13" name="図 12"/>
          <p:cNvPicPr>
            <a:picLocks noChangeAspect="1"/>
          </p:cNvPicPr>
          <p:nvPr/>
        </p:nvPicPr>
        <p:blipFill>
          <a:blip r:embed="rId2"/>
          <a:stretch>
            <a:fillRect/>
          </a:stretch>
        </p:blipFill>
        <p:spPr>
          <a:xfrm>
            <a:off x="198682" y="2117695"/>
            <a:ext cx="8559237" cy="4457825"/>
          </a:xfrm>
          <a:prstGeom prst="rect">
            <a:avLst/>
          </a:prstGeom>
        </p:spPr>
      </p:pic>
      <p:pic>
        <p:nvPicPr>
          <p:cNvPr id="5" name="図 4"/>
          <p:cNvPicPr>
            <a:picLocks noChangeAspect="1"/>
          </p:cNvPicPr>
          <p:nvPr/>
        </p:nvPicPr>
        <p:blipFill>
          <a:blip r:embed="rId3"/>
          <a:stretch>
            <a:fillRect/>
          </a:stretch>
        </p:blipFill>
        <p:spPr>
          <a:xfrm>
            <a:off x="6127368" y="1115166"/>
            <a:ext cx="2899402" cy="360000"/>
          </a:xfrm>
          <a:prstGeom prst="rect">
            <a:avLst/>
          </a:prstGeom>
        </p:spPr>
      </p:pic>
      <p:sp>
        <p:nvSpPr>
          <p:cNvPr id="6" name="正方形/長方形 5"/>
          <p:cNvSpPr/>
          <p:nvPr/>
        </p:nvSpPr>
        <p:spPr>
          <a:xfrm>
            <a:off x="7870109"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96123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承認</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購買管理」→「購買管理」</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     </a:t>
            </a:r>
            <a:r>
              <a:rPr lang="ja-JP" altLang="en-US" dirty="0">
                <a:latin typeface="Meiryo UI" pitchFamily="50" charset="-128"/>
                <a:ea typeface="Meiryo UI" pitchFamily="50" charset="-128"/>
                <a:cs typeface="Meiryo UI" pitchFamily="50" charset="-128"/>
              </a:rPr>
              <a:t>→「購買依頼」→「承認」と遷移します。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ME54N –</a:t>
            </a:r>
            <a:r>
              <a:rPr lang="ja-JP" altLang="en-US" dirty="0">
                <a:latin typeface="Meiryo UI" pitchFamily="50" charset="-128"/>
                <a:ea typeface="Meiryo UI" pitchFamily="50" charset="-128"/>
                <a:cs typeface="Meiryo UI" pitchFamily="50" charset="-128"/>
              </a:rPr>
              <a:t> 承認」を選択、</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またはコマンド入力欄に</a:t>
            </a:r>
            <a:r>
              <a:rPr lang="en-US" altLang="ja-JP" dirty="0">
                <a:latin typeface="Meiryo UI" pitchFamily="50" charset="-128"/>
                <a:ea typeface="Meiryo UI" pitchFamily="50" charset="-128"/>
                <a:cs typeface="Meiryo UI" pitchFamily="50" charset="-128"/>
              </a:rPr>
              <a:t>’ME54N’</a:t>
            </a:r>
            <a:r>
              <a:rPr lang="ja-JP" altLang="en-US" dirty="0">
                <a:latin typeface="Meiryo UI" pitchFamily="50" charset="-128"/>
                <a:ea typeface="Meiryo UI" pitchFamily="50" charset="-128"/>
                <a:cs typeface="Meiryo UI" pitchFamily="50" charset="-128"/>
              </a:rPr>
              <a:t>と入力します。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９ ／ １２ ）</a:t>
            </a:r>
            <a:endParaRPr kumimoji="1" lang="ja-JP" altLang="en-US" sz="2000" dirty="0">
              <a:latin typeface="Meiryo UI" pitchFamily="50" charset="-128"/>
              <a:ea typeface="Meiryo UI" pitchFamily="50" charset="-128"/>
              <a:cs typeface="Meiryo UI" pitchFamily="50" charset="-128"/>
            </a:endParaRPr>
          </a:p>
        </p:txBody>
      </p:sp>
      <p:pic>
        <p:nvPicPr>
          <p:cNvPr id="33" name="図 32"/>
          <p:cNvPicPr>
            <a:picLocks noChangeAspect="1"/>
          </p:cNvPicPr>
          <p:nvPr/>
        </p:nvPicPr>
        <p:blipFill>
          <a:blip r:embed="rId2"/>
          <a:stretch>
            <a:fillRect/>
          </a:stretch>
        </p:blipFill>
        <p:spPr>
          <a:xfrm>
            <a:off x="5431791" y="1835192"/>
            <a:ext cx="3448049" cy="4670635"/>
          </a:xfrm>
          <a:prstGeom prst="rect">
            <a:avLst/>
          </a:prstGeom>
        </p:spPr>
      </p:pic>
      <p:sp>
        <p:nvSpPr>
          <p:cNvPr id="34" name="正方形/長方形 33"/>
          <p:cNvSpPr/>
          <p:nvPr/>
        </p:nvSpPr>
        <p:spPr>
          <a:xfrm>
            <a:off x="5700127" y="2340458"/>
            <a:ext cx="1661039" cy="2167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p:cNvSpPr/>
          <p:nvPr/>
        </p:nvSpPr>
        <p:spPr>
          <a:xfrm>
            <a:off x="6485173" y="6220279"/>
            <a:ext cx="1437724" cy="2332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右カーブ矢印 35"/>
          <p:cNvSpPr/>
          <p:nvPr/>
        </p:nvSpPr>
        <p:spPr>
          <a:xfrm>
            <a:off x="5431791" y="3541138"/>
            <a:ext cx="214898" cy="732013"/>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37" name="右カーブ矢印 36"/>
          <p:cNvSpPr/>
          <p:nvPr/>
        </p:nvSpPr>
        <p:spPr>
          <a:xfrm>
            <a:off x="5597538" y="4745303"/>
            <a:ext cx="246577" cy="169657"/>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38" name="右カーブ矢印 37"/>
          <p:cNvSpPr/>
          <p:nvPr/>
        </p:nvSpPr>
        <p:spPr>
          <a:xfrm>
            <a:off x="5756302" y="4876926"/>
            <a:ext cx="186720" cy="403542"/>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39" name="右カーブ矢印 38"/>
          <p:cNvSpPr/>
          <p:nvPr/>
        </p:nvSpPr>
        <p:spPr>
          <a:xfrm>
            <a:off x="5828617" y="5240162"/>
            <a:ext cx="273169" cy="945919"/>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40" name="右カーブ矢印 39"/>
          <p:cNvSpPr/>
          <p:nvPr/>
        </p:nvSpPr>
        <p:spPr>
          <a:xfrm>
            <a:off x="5597540" y="4266871"/>
            <a:ext cx="110038" cy="457614"/>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41" name="右カーブ矢印 40"/>
          <p:cNvSpPr/>
          <p:nvPr/>
        </p:nvSpPr>
        <p:spPr>
          <a:xfrm>
            <a:off x="6108062" y="6186081"/>
            <a:ext cx="280734" cy="233225"/>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pic>
        <p:nvPicPr>
          <p:cNvPr id="13" name="図 12"/>
          <p:cNvPicPr>
            <a:picLocks noChangeAspect="1"/>
          </p:cNvPicPr>
          <p:nvPr/>
        </p:nvPicPr>
        <p:blipFill>
          <a:blip r:embed="rId3"/>
          <a:stretch>
            <a:fillRect/>
          </a:stretch>
        </p:blipFill>
        <p:spPr>
          <a:xfrm>
            <a:off x="6127368" y="1115166"/>
            <a:ext cx="2899402" cy="360000"/>
          </a:xfrm>
          <a:prstGeom prst="rect">
            <a:avLst/>
          </a:prstGeom>
        </p:spPr>
      </p:pic>
      <p:sp>
        <p:nvSpPr>
          <p:cNvPr id="14" name="正方形/長方形 13"/>
          <p:cNvSpPr/>
          <p:nvPr/>
        </p:nvSpPr>
        <p:spPr>
          <a:xfrm>
            <a:off x="8476397"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69072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承認</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メニューバーにある「他発注伝票」をクリックします。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照会したい伝票番号を入力し、「他伝票」をクリックします。入力値は表を参照してください。</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１０ ／ １２ ）</a:t>
            </a:r>
            <a:endParaRPr kumimoji="1" lang="ja-JP" altLang="en-US" sz="2000" dirty="0">
              <a:latin typeface="Meiryo UI" pitchFamily="50" charset="-128"/>
              <a:ea typeface="Meiryo UI" pitchFamily="50" charset="-128"/>
              <a:cs typeface="Meiryo UI" pitchFamily="50" charset="-128"/>
            </a:endParaRPr>
          </a:p>
        </p:txBody>
      </p:sp>
      <p:pic>
        <p:nvPicPr>
          <p:cNvPr id="6" name="図 5"/>
          <p:cNvPicPr>
            <a:picLocks noChangeAspect="1"/>
          </p:cNvPicPr>
          <p:nvPr/>
        </p:nvPicPr>
        <p:blipFill>
          <a:blip r:embed="rId2"/>
          <a:stretch>
            <a:fillRect/>
          </a:stretch>
        </p:blipFill>
        <p:spPr>
          <a:xfrm>
            <a:off x="198683" y="2550124"/>
            <a:ext cx="5727217" cy="1250900"/>
          </a:xfrm>
          <a:prstGeom prst="rect">
            <a:avLst/>
          </a:prstGeom>
        </p:spPr>
      </p:pic>
      <p:sp>
        <p:nvSpPr>
          <p:cNvPr id="7" name="正方形/長方形 6"/>
          <p:cNvSpPr/>
          <p:nvPr/>
        </p:nvSpPr>
        <p:spPr>
          <a:xfrm>
            <a:off x="3044549" y="3126221"/>
            <a:ext cx="790630" cy="32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3"/>
          <a:stretch>
            <a:fillRect/>
          </a:stretch>
        </p:blipFill>
        <p:spPr>
          <a:xfrm>
            <a:off x="2625528" y="3458815"/>
            <a:ext cx="3625947" cy="2785148"/>
          </a:xfrm>
          <a:prstGeom prst="rect">
            <a:avLst/>
          </a:prstGeom>
        </p:spPr>
      </p:pic>
      <p:graphicFrame>
        <p:nvGraphicFramePr>
          <p:cNvPr id="9" name="表 8"/>
          <p:cNvGraphicFramePr>
            <a:graphicFrameLocks noGrp="1"/>
          </p:cNvGraphicFramePr>
          <p:nvPr>
            <p:extLst>
              <p:ext uri="{D42A27DB-BD31-4B8C-83A1-F6EECF244321}">
                <p14:modId xmlns:p14="http://schemas.microsoft.com/office/powerpoint/2010/main" val="2971106795"/>
              </p:ext>
            </p:extLst>
          </p:nvPr>
        </p:nvGraphicFramePr>
        <p:xfrm>
          <a:off x="4543245" y="4710854"/>
          <a:ext cx="4359215" cy="741680"/>
        </p:xfrm>
        <a:graphic>
          <a:graphicData uri="http://schemas.openxmlformats.org/drawingml/2006/table">
            <a:tbl>
              <a:tblPr firstRow="1" bandRow="1">
                <a:tableStyleId>{7DF18680-E054-41AD-8BC1-D1AEF772440D}</a:tableStyleId>
              </a:tblPr>
              <a:tblGrid>
                <a:gridCol w="1736785">
                  <a:extLst>
                    <a:ext uri="{9D8B030D-6E8A-4147-A177-3AD203B41FA5}">
                      <a16:colId xmlns:a16="http://schemas.microsoft.com/office/drawing/2014/main" val="20000"/>
                    </a:ext>
                  </a:extLst>
                </a:gridCol>
                <a:gridCol w="2622430">
                  <a:extLst>
                    <a:ext uri="{9D8B030D-6E8A-4147-A177-3AD203B41FA5}">
                      <a16:colId xmlns:a16="http://schemas.microsoft.com/office/drawing/2014/main" val="20001"/>
                    </a:ext>
                  </a:extLst>
                </a:gridCol>
              </a:tblGrid>
              <a:tr h="370840">
                <a:tc>
                  <a:txBody>
                    <a:bodyPr/>
                    <a:lstStyle/>
                    <a:p>
                      <a:pPr algn="ctr"/>
                      <a:r>
                        <a:rPr kumimoji="1" lang="ja-JP" altLang="en-US" dirty="0"/>
                        <a:t>項目</a:t>
                      </a:r>
                    </a:p>
                  </a:txBody>
                  <a:tcPr anchor="ctr"/>
                </a:tc>
                <a:tc>
                  <a:txBody>
                    <a:bodyPr/>
                    <a:lstStyle/>
                    <a:p>
                      <a:pPr algn="ctr"/>
                      <a:r>
                        <a:rPr kumimoji="1" lang="ja-JP" altLang="en-US" dirty="0"/>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t>購買依頼</a:t>
                      </a:r>
                    </a:p>
                  </a:txBody>
                  <a:tcPr anchor="ctr"/>
                </a:tc>
                <a:tc>
                  <a:txBody>
                    <a:bodyPr/>
                    <a:lstStyle/>
                    <a:p>
                      <a:pPr algn="ctr"/>
                      <a:r>
                        <a:rPr kumimoji="1" lang="ja-JP" altLang="en-US" dirty="0"/>
                        <a:t>先ほど控えた番号</a:t>
                      </a:r>
                    </a:p>
                  </a:txBody>
                  <a:tcPr anchor="ctr"/>
                </a:tc>
                <a:extLst>
                  <a:ext uri="{0D108BD9-81ED-4DB2-BD59-A6C34878D82A}">
                    <a16:rowId xmlns:a16="http://schemas.microsoft.com/office/drawing/2014/main" val="10001"/>
                  </a:ext>
                </a:extLst>
              </a:tr>
            </a:tbl>
          </a:graphicData>
        </a:graphic>
      </p:graphicFrame>
      <p:sp>
        <p:nvSpPr>
          <p:cNvPr id="10" name="正方形/長方形 9"/>
          <p:cNvSpPr/>
          <p:nvPr/>
        </p:nvSpPr>
        <p:spPr>
          <a:xfrm>
            <a:off x="4537892" y="5890279"/>
            <a:ext cx="659710" cy="3536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3852863" y="3997255"/>
            <a:ext cx="1673294" cy="3536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p:cNvPicPr>
            <a:picLocks noChangeAspect="1"/>
          </p:cNvPicPr>
          <p:nvPr/>
        </p:nvPicPr>
        <p:blipFill>
          <a:blip r:embed="rId4"/>
          <a:stretch>
            <a:fillRect/>
          </a:stretch>
        </p:blipFill>
        <p:spPr>
          <a:xfrm>
            <a:off x="6127368" y="1115166"/>
            <a:ext cx="2899402" cy="360000"/>
          </a:xfrm>
          <a:prstGeom prst="rect">
            <a:avLst/>
          </a:prstGeom>
        </p:spPr>
      </p:pic>
      <p:sp>
        <p:nvSpPr>
          <p:cNvPr id="14" name="正方形/長方形 13"/>
          <p:cNvSpPr/>
          <p:nvPr/>
        </p:nvSpPr>
        <p:spPr>
          <a:xfrm>
            <a:off x="8476397"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66998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承認</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r>
              <a:rPr lang="ja-JP" altLang="en-US" dirty="0">
                <a:latin typeface="Meiryo UI" pitchFamily="50" charset="-128"/>
                <a:ea typeface="Meiryo UI" pitchFamily="50" charset="-128"/>
                <a:cs typeface="Meiryo UI" pitchFamily="50" charset="-128"/>
              </a:rPr>
              <a:t>承認する明細を選択し、「承認」ボタンをクリックします。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r>
              <a:rPr lang="ja-JP" altLang="en-US" dirty="0">
                <a:latin typeface="Meiryo UI" pitchFamily="50" charset="-128"/>
                <a:ea typeface="Meiryo UI" pitchFamily="50" charset="-128"/>
                <a:cs typeface="Meiryo UI" pitchFamily="50" charset="-128"/>
              </a:rPr>
              <a:t>画面左下に以下のようなメッセージが表示されます。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１１ ／ １２ ）</a:t>
            </a:r>
            <a:endParaRPr kumimoji="1" lang="ja-JP" altLang="en-US" sz="2000" dirty="0">
              <a:latin typeface="Meiryo UI" pitchFamily="50" charset="-128"/>
              <a:ea typeface="Meiryo UI" pitchFamily="50" charset="-128"/>
              <a:cs typeface="Meiryo UI" pitchFamily="50" charset="-128"/>
            </a:endParaRPr>
          </a:p>
        </p:txBody>
      </p:sp>
      <p:pic>
        <p:nvPicPr>
          <p:cNvPr id="13" name="図 12"/>
          <p:cNvPicPr>
            <a:picLocks noChangeAspect="1"/>
          </p:cNvPicPr>
          <p:nvPr/>
        </p:nvPicPr>
        <p:blipFill>
          <a:blip r:embed="rId2"/>
          <a:stretch>
            <a:fillRect/>
          </a:stretch>
        </p:blipFill>
        <p:spPr>
          <a:xfrm>
            <a:off x="198683" y="2043255"/>
            <a:ext cx="8748162" cy="3273075"/>
          </a:xfrm>
          <a:prstGeom prst="rect">
            <a:avLst/>
          </a:prstGeom>
        </p:spPr>
      </p:pic>
      <p:sp>
        <p:nvSpPr>
          <p:cNvPr id="14" name="正方形/長方形 13"/>
          <p:cNvSpPr/>
          <p:nvPr/>
        </p:nvSpPr>
        <p:spPr>
          <a:xfrm>
            <a:off x="502242" y="4521195"/>
            <a:ext cx="231220" cy="2455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6352385" y="3862256"/>
            <a:ext cx="235225" cy="251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p:cNvPicPr>
            <a:picLocks noChangeAspect="1"/>
          </p:cNvPicPr>
          <p:nvPr/>
        </p:nvPicPr>
        <p:blipFill>
          <a:blip r:embed="rId3"/>
          <a:stretch>
            <a:fillRect/>
          </a:stretch>
        </p:blipFill>
        <p:spPr>
          <a:xfrm>
            <a:off x="198683" y="5790457"/>
            <a:ext cx="2619375" cy="638175"/>
          </a:xfrm>
          <a:prstGeom prst="rect">
            <a:avLst/>
          </a:prstGeom>
        </p:spPr>
      </p:pic>
      <p:pic>
        <p:nvPicPr>
          <p:cNvPr id="8" name="図 7"/>
          <p:cNvPicPr>
            <a:picLocks noChangeAspect="1"/>
          </p:cNvPicPr>
          <p:nvPr/>
        </p:nvPicPr>
        <p:blipFill>
          <a:blip r:embed="rId4"/>
          <a:stretch>
            <a:fillRect/>
          </a:stretch>
        </p:blipFill>
        <p:spPr>
          <a:xfrm>
            <a:off x="6127368" y="1115166"/>
            <a:ext cx="2899402" cy="360000"/>
          </a:xfrm>
          <a:prstGeom prst="rect">
            <a:avLst/>
          </a:prstGeom>
        </p:spPr>
      </p:pic>
      <p:sp>
        <p:nvSpPr>
          <p:cNvPr id="9" name="正方形/長方形 8"/>
          <p:cNvSpPr/>
          <p:nvPr/>
        </p:nvSpPr>
        <p:spPr>
          <a:xfrm>
            <a:off x="8476397"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42474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承認</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r>
              <a:rPr lang="ja-JP" altLang="en-US" dirty="0">
                <a:latin typeface="Meiryo UI" pitchFamily="50" charset="-128"/>
                <a:ea typeface="Meiryo UI" pitchFamily="50" charset="-128"/>
                <a:cs typeface="Meiryo UI" pitchFamily="50" charset="-128"/>
              </a:rPr>
              <a:t>右下の「保存」ボタンをクリックします。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r>
              <a:rPr lang="ja-JP" altLang="en-US" dirty="0">
                <a:latin typeface="Meiryo UI" pitchFamily="50" charset="-128"/>
                <a:ea typeface="Meiryo UI" pitchFamily="50" charset="-128"/>
                <a:cs typeface="Meiryo UI" pitchFamily="50" charset="-128"/>
              </a:rPr>
              <a:t>画面左下に以下のようなメッセージが表示されます。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６．１</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購買依頼の登録・承認 （ １２ ／ １２ ）</a:t>
            </a:r>
            <a:endParaRPr kumimoji="1" lang="ja-JP" altLang="en-US" sz="2000" dirty="0">
              <a:latin typeface="Meiryo UI" pitchFamily="50" charset="-128"/>
              <a:ea typeface="Meiryo UI" pitchFamily="50" charset="-128"/>
              <a:cs typeface="Meiryo UI" pitchFamily="50" charset="-128"/>
            </a:endParaRPr>
          </a:p>
        </p:txBody>
      </p:sp>
      <p:pic>
        <p:nvPicPr>
          <p:cNvPr id="9" name="図 8"/>
          <p:cNvPicPr>
            <a:picLocks noChangeAspect="1"/>
          </p:cNvPicPr>
          <p:nvPr/>
        </p:nvPicPr>
        <p:blipFill>
          <a:blip r:embed="rId2"/>
          <a:stretch>
            <a:fillRect/>
          </a:stretch>
        </p:blipFill>
        <p:spPr>
          <a:xfrm>
            <a:off x="198683" y="2084719"/>
            <a:ext cx="7246693" cy="3355246"/>
          </a:xfrm>
          <a:prstGeom prst="rect">
            <a:avLst/>
          </a:prstGeom>
        </p:spPr>
      </p:pic>
      <p:sp>
        <p:nvSpPr>
          <p:cNvPr id="10" name="正方形/長方形 9"/>
          <p:cNvSpPr/>
          <p:nvPr/>
        </p:nvSpPr>
        <p:spPr>
          <a:xfrm>
            <a:off x="6652986" y="5087227"/>
            <a:ext cx="415230" cy="3315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p:cNvPicPr>
            <a:picLocks noChangeAspect="1"/>
          </p:cNvPicPr>
          <p:nvPr/>
        </p:nvPicPr>
        <p:blipFill>
          <a:blip r:embed="rId3"/>
          <a:stretch>
            <a:fillRect/>
          </a:stretch>
        </p:blipFill>
        <p:spPr>
          <a:xfrm>
            <a:off x="198683" y="5805859"/>
            <a:ext cx="3695700" cy="552450"/>
          </a:xfrm>
          <a:prstGeom prst="rect">
            <a:avLst/>
          </a:prstGeom>
        </p:spPr>
      </p:pic>
      <p:pic>
        <p:nvPicPr>
          <p:cNvPr id="7" name="図 6"/>
          <p:cNvPicPr>
            <a:picLocks noChangeAspect="1"/>
          </p:cNvPicPr>
          <p:nvPr/>
        </p:nvPicPr>
        <p:blipFill>
          <a:blip r:embed="rId4"/>
          <a:stretch>
            <a:fillRect/>
          </a:stretch>
        </p:blipFill>
        <p:spPr>
          <a:xfrm>
            <a:off x="6127368" y="1115166"/>
            <a:ext cx="2899402" cy="360000"/>
          </a:xfrm>
          <a:prstGeom prst="rect">
            <a:avLst/>
          </a:prstGeom>
        </p:spPr>
      </p:pic>
      <p:sp>
        <p:nvSpPr>
          <p:cNvPr id="8" name="正方形/長方形 7"/>
          <p:cNvSpPr/>
          <p:nvPr/>
        </p:nvSpPr>
        <p:spPr>
          <a:xfrm>
            <a:off x="8476397"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95584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購買管理プロセス分野における確認日程④</a:t>
            </a:r>
            <a:endParaRPr lang="en-US" altLang="ja-JP" dirty="0">
              <a:latin typeface="Meiryo UI" pitchFamily="50" charset="-128"/>
              <a:ea typeface="Meiryo UI" pitchFamily="50" charset="-128"/>
              <a:cs typeface="Meiryo UI" pitchFamily="50" charset="-128"/>
            </a:endParaRPr>
          </a:p>
          <a:p>
            <a:pPr eaLnBrk="0" hangingPunct="0">
              <a:spcBef>
                <a:spcPct val="20000"/>
              </a:spcBef>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09"/>
          <a:ext cx="8383982" cy="2989978"/>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61426">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26</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MM-4</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6. (XXXX)</a:t>
                      </a:r>
                      <a:r>
                        <a:rPr kumimoji="1" lang="ja-JP" altLang="en-US" sz="1400" dirty="0">
                          <a:latin typeface="Meiryo UI" pitchFamily="50" charset="-128"/>
                          <a:ea typeface="Meiryo UI" pitchFamily="50" charset="-128"/>
                          <a:cs typeface="Meiryo UI" pitchFamily="50" charset="-128"/>
                        </a:rPr>
                        <a:t>様における業務プロセスの確認</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633467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6.1 </a:t>
                      </a:r>
                      <a:r>
                        <a:rPr kumimoji="1" lang="ja-JP" altLang="en-US" sz="1400" dirty="0">
                          <a:latin typeface="Meiryo UI" pitchFamily="50" charset="-128"/>
                          <a:ea typeface="Meiryo UI" pitchFamily="50" charset="-128"/>
                          <a:cs typeface="Meiryo UI" pitchFamily="50" charset="-128"/>
                        </a:rPr>
                        <a:t>購買依頼の登録・承認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6.2 </a:t>
                      </a:r>
                      <a:r>
                        <a:rPr kumimoji="1" lang="ja-JP" altLang="en-US" sz="1400" dirty="0">
                          <a:latin typeface="Meiryo UI" pitchFamily="50" charset="-128"/>
                          <a:ea typeface="Meiryo UI" pitchFamily="50" charset="-128"/>
                          <a:cs typeface="Meiryo UI" pitchFamily="50" charset="-128"/>
                        </a:rPr>
                        <a:t>見積依頼の登録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6.3 </a:t>
                      </a:r>
                      <a:r>
                        <a:rPr kumimoji="1" lang="ja-JP" altLang="en-US" sz="1400" dirty="0">
                          <a:latin typeface="Meiryo UI" pitchFamily="50" charset="-128"/>
                          <a:ea typeface="Meiryo UI" pitchFamily="50" charset="-128"/>
                          <a:cs typeface="Meiryo UI" pitchFamily="50" charset="-128"/>
                        </a:rPr>
                        <a:t>見積回答の登録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6.4 </a:t>
                      </a:r>
                      <a:r>
                        <a:rPr kumimoji="1" lang="ja-JP" altLang="en-US" sz="1400" dirty="0">
                          <a:latin typeface="Meiryo UI" pitchFamily="50" charset="-128"/>
                          <a:ea typeface="Meiryo UI" pitchFamily="50" charset="-128"/>
                          <a:cs typeface="Meiryo UI" pitchFamily="50" charset="-128"/>
                        </a:rPr>
                        <a:t>見積結果の比較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6.5 </a:t>
                      </a:r>
                      <a:r>
                        <a:rPr kumimoji="1" lang="ja-JP" altLang="en-US" sz="1400" dirty="0">
                          <a:latin typeface="Meiryo UI" pitchFamily="50" charset="-128"/>
                          <a:ea typeface="Meiryo UI" pitchFamily="50" charset="-128"/>
                          <a:cs typeface="Meiryo UI" pitchFamily="50" charset="-128"/>
                        </a:rPr>
                        <a:t>購買発注の登録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6.6 </a:t>
                      </a:r>
                      <a:r>
                        <a:rPr kumimoji="1" lang="ja-JP" altLang="en-US" sz="1400" dirty="0">
                          <a:latin typeface="Meiryo UI" pitchFamily="50" charset="-128"/>
                          <a:ea typeface="Meiryo UI" pitchFamily="50" charset="-128"/>
                          <a:cs typeface="Meiryo UI" pitchFamily="50" charset="-128"/>
                        </a:rPr>
                        <a:t>購買発注の入庫</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6.7 </a:t>
                      </a:r>
                      <a:r>
                        <a:rPr kumimoji="1" lang="ja-JP" altLang="en-US" sz="1400" dirty="0">
                          <a:latin typeface="Meiryo UI" pitchFamily="50" charset="-128"/>
                          <a:ea typeface="Meiryo UI" pitchFamily="50" charset="-128"/>
                          <a:cs typeface="Meiryo UI" pitchFamily="50" charset="-128"/>
                        </a:rPr>
                        <a:t>自動請求書照合</a:t>
                      </a:r>
                      <a:r>
                        <a:rPr kumimoji="1" lang="en-US" altLang="ja-JP" sz="1400" dirty="0">
                          <a:latin typeface="Meiryo UI" pitchFamily="50" charset="-128"/>
                          <a:ea typeface="Meiryo UI" pitchFamily="50" charset="-128"/>
                          <a:cs typeface="Meiryo UI" pitchFamily="50" charset="-128"/>
                        </a:rPr>
                        <a:t>(ERS)</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70965439"/>
                  </a:ext>
                </a:extLst>
              </a:tr>
            </a:tbl>
          </a:graphicData>
        </a:graphic>
      </p:graphicFrame>
      <p:sp>
        <p:nvSpPr>
          <p:cNvPr id="5" name="正方形/長方形 4"/>
          <p:cNvSpPr/>
          <p:nvPr/>
        </p:nvSpPr>
        <p:spPr>
          <a:xfrm>
            <a:off x="198683" y="2494717"/>
            <a:ext cx="8368847" cy="3180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15288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フローチャート: 書類 251"/>
          <p:cNvSpPr/>
          <p:nvPr/>
        </p:nvSpPr>
        <p:spPr>
          <a:xfrm>
            <a:off x="5746649" y="6303143"/>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251" name="フローチャート: 書類 250"/>
          <p:cNvSpPr/>
          <p:nvPr/>
        </p:nvSpPr>
        <p:spPr>
          <a:xfrm>
            <a:off x="5653174" y="5537028"/>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見積依頼の登録</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２ ／ １１ ）</a:t>
            </a:r>
            <a:endParaRPr kumimoji="1" lang="ja-JP" altLang="en-US" sz="2000" dirty="0">
              <a:latin typeface="Meiryo UI" pitchFamily="50" charset="-128"/>
              <a:ea typeface="Meiryo UI" pitchFamily="50" charset="-128"/>
              <a:cs typeface="Meiryo UI" pitchFamily="50" charset="-128"/>
            </a:endParaRPr>
          </a:p>
        </p:txBody>
      </p:sp>
      <p:sp>
        <p:nvSpPr>
          <p:cNvPr id="169" name="正方形/長方形 168"/>
          <p:cNvSpPr/>
          <p:nvPr/>
        </p:nvSpPr>
        <p:spPr>
          <a:xfrm>
            <a:off x="3690998" y="5990872"/>
            <a:ext cx="1635566" cy="61724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自動請求書照合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(ERS)</a:t>
            </a:r>
            <a:endParaRPr lang="ja-JP" altLang="en-US" sz="1600" dirty="0">
              <a:latin typeface="Meiryo UI" panose="020B0604030504040204" pitchFamily="50" charset="-128"/>
              <a:ea typeface="Meiryo UI" panose="020B0604030504040204" pitchFamily="50" charset="-128"/>
            </a:endParaRPr>
          </a:p>
        </p:txBody>
      </p:sp>
      <p:sp>
        <p:nvSpPr>
          <p:cNvPr id="170" name="フローチャート: 判断 169"/>
          <p:cNvSpPr/>
          <p:nvPr/>
        </p:nvSpPr>
        <p:spPr>
          <a:xfrm>
            <a:off x="4046538" y="1892364"/>
            <a:ext cx="914400" cy="612648"/>
          </a:xfrm>
          <a:prstGeom prst="flowChartDecision">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承認</a:t>
            </a:r>
          </a:p>
        </p:txBody>
      </p:sp>
      <p:sp>
        <p:nvSpPr>
          <p:cNvPr id="182" name="正方形/長方形 181"/>
          <p:cNvSpPr/>
          <p:nvPr/>
        </p:nvSpPr>
        <p:spPr>
          <a:xfrm>
            <a:off x="3690998" y="129410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購買依頼</a:t>
            </a:r>
            <a:endParaRPr lang="en-US" altLang="ja-JP" sz="1600" dirty="0">
              <a:latin typeface="Meiryo UI" panose="020B0604030504040204" pitchFamily="50" charset="-128"/>
              <a:ea typeface="Meiryo UI" panose="020B0604030504040204" pitchFamily="50" charset="-128"/>
            </a:endParaRPr>
          </a:p>
        </p:txBody>
      </p:sp>
      <p:sp>
        <p:nvSpPr>
          <p:cNvPr id="183" name="正方形/長方形 182"/>
          <p:cNvSpPr/>
          <p:nvPr/>
        </p:nvSpPr>
        <p:spPr>
          <a:xfrm>
            <a:off x="3685955" y="2687040"/>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見積依頼</a:t>
            </a:r>
            <a:endParaRPr lang="en-US" altLang="ja-JP" sz="1600" dirty="0">
              <a:latin typeface="Meiryo UI" panose="020B0604030504040204" pitchFamily="50" charset="-128"/>
              <a:ea typeface="Meiryo UI" panose="020B0604030504040204" pitchFamily="50" charset="-128"/>
            </a:endParaRPr>
          </a:p>
        </p:txBody>
      </p:sp>
      <p:sp>
        <p:nvSpPr>
          <p:cNvPr id="184" name="正方形/長方形 183"/>
          <p:cNvSpPr/>
          <p:nvPr/>
        </p:nvSpPr>
        <p:spPr>
          <a:xfrm>
            <a:off x="3685955" y="335007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見積回答</a:t>
            </a:r>
            <a:endParaRPr lang="en-US" altLang="ja-JP" sz="1600" dirty="0">
              <a:latin typeface="Meiryo UI" panose="020B0604030504040204" pitchFamily="50" charset="-128"/>
              <a:ea typeface="Meiryo UI" panose="020B0604030504040204" pitchFamily="50" charset="-128"/>
            </a:endParaRPr>
          </a:p>
        </p:txBody>
      </p:sp>
      <p:sp>
        <p:nvSpPr>
          <p:cNvPr id="185" name="正方形/長方形 184"/>
          <p:cNvSpPr/>
          <p:nvPr/>
        </p:nvSpPr>
        <p:spPr>
          <a:xfrm>
            <a:off x="3685955" y="4027243"/>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見積結果比較</a:t>
            </a:r>
            <a:endParaRPr lang="en-US" altLang="ja-JP" sz="1600" dirty="0">
              <a:latin typeface="Meiryo UI" panose="020B0604030504040204" pitchFamily="50" charset="-128"/>
              <a:ea typeface="Meiryo UI" panose="020B0604030504040204" pitchFamily="50" charset="-128"/>
            </a:endParaRPr>
          </a:p>
        </p:txBody>
      </p:sp>
      <p:sp>
        <p:nvSpPr>
          <p:cNvPr id="187" name="正方形/長方形 186"/>
          <p:cNvSpPr/>
          <p:nvPr/>
        </p:nvSpPr>
        <p:spPr>
          <a:xfrm>
            <a:off x="3678590" y="471966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購買発注</a:t>
            </a:r>
            <a:endParaRPr lang="en-US" altLang="ja-JP" sz="1600" dirty="0">
              <a:latin typeface="Meiryo UI" panose="020B0604030504040204" pitchFamily="50" charset="-128"/>
              <a:ea typeface="Meiryo UI" panose="020B0604030504040204" pitchFamily="50" charset="-128"/>
            </a:endParaRPr>
          </a:p>
        </p:txBody>
      </p:sp>
      <p:sp>
        <p:nvSpPr>
          <p:cNvPr id="188" name="正方形/長方形 187"/>
          <p:cNvSpPr/>
          <p:nvPr/>
        </p:nvSpPr>
        <p:spPr>
          <a:xfrm>
            <a:off x="3690463" y="537703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発注入庫</a:t>
            </a:r>
            <a:endParaRPr lang="en-US" altLang="ja-JP" sz="1600" dirty="0">
              <a:latin typeface="Meiryo UI" panose="020B0604030504040204" pitchFamily="50" charset="-128"/>
              <a:ea typeface="Meiryo UI" panose="020B0604030504040204" pitchFamily="50" charset="-128"/>
            </a:endParaRPr>
          </a:p>
        </p:txBody>
      </p:sp>
      <p:cxnSp>
        <p:nvCxnSpPr>
          <p:cNvPr id="190" name="直線矢印コネクタ 189"/>
          <p:cNvCxnSpPr>
            <a:stCxn id="182" idx="2"/>
            <a:endCxn id="170" idx="0"/>
          </p:cNvCxnSpPr>
          <p:nvPr/>
        </p:nvCxnSpPr>
        <p:spPr>
          <a:xfrm flipH="1">
            <a:off x="4503738" y="1723733"/>
            <a:ext cx="5043" cy="1686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矢印コネクタ 194"/>
          <p:cNvCxnSpPr>
            <a:stCxn id="170" idx="2"/>
            <a:endCxn id="183" idx="0"/>
          </p:cNvCxnSpPr>
          <p:nvPr/>
        </p:nvCxnSpPr>
        <p:spPr>
          <a:xfrm>
            <a:off x="4503738" y="2505012"/>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矢印コネクタ 199"/>
          <p:cNvCxnSpPr/>
          <p:nvPr/>
        </p:nvCxnSpPr>
        <p:spPr>
          <a:xfrm>
            <a:off x="4496373" y="3148547"/>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矢印コネクタ 200"/>
          <p:cNvCxnSpPr>
            <a:stCxn id="184" idx="2"/>
            <a:endCxn id="185" idx="0"/>
          </p:cNvCxnSpPr>
          <p:nvPr/>
        </p:nvCxnSpPr>
        <p:spPr>
          <a:xfrm>
            <a:off x="4503738" y="3779706"/>
            <a:ext cx="0" cy="247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矢印コネクタ 202"/>
          <p:cNvCxnSpPr>
            <a:endCxn id="187" idx="0"/>
          </p:cNvCxnSpPr>
          <p:nvPr/>
        </p:nvCxnSpPr>
        <p:spPr>
          <a:xfrm flipH="1">
            <a:off x="4496373" y="4468194"/>
            <a:ext cx="10644" cy="25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a:endCxn id="188" idx="0"/>
          </p:cNvCxnSpPr>
          <p:nvPr/>
        </p:nvCxnSpPr>
        <p:spPr>
          <a:xfrm flipH="1">
            <a:off x="4508246" y="5178223"/>
            <a:ext cx="2050" cy="1988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p:cNvCxnSpPr>
            <a:stCxn id="188" idx="2"/>
            <a:endCxn id="169" idx="0"/>
          </p:cNvCxnSpPr>
          <p:nvPr/>
        </p:nvCxnSpPr>
        <p:spPr>
          <a:xfrm>
            <a:off x="4508246" y="5806663"/>
            <a:ext cx="535" cy="184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角丸四角形 212"/>
          <p:cNvSpPr/>
          <p:nvPr/>
        </p:nvSpPr>
        <p:spPr>
          <a:xfrm>
            <a:off x="713289" y="2687040"/>
            <a:ext cx="1212884" cy="3951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A</a:t>
            </a:r>
            <a:endParaRPr kumimoji="1" lang="ja-JP" altLang="en-US" dirty="0"/>
          </a:p>
        </p:txBody>
      </p:sp>
      <p:sp>
        <p:nvSpPr>
          <p:cNvPr id="215" name="角丸四角形 214"/>
          <p:cNvSpPr/>
          <p:nvPr/>
        </p:nvSpPr>
        <p:spPr>
          <a:xfrm>
            <a:off x="7039941" y="2683844"/>
            <a:ext cx="1212884" cy="1749073"/>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B</a:t>
            </a:r>
            <a:endParaRPr kumimoji="1" lang="ja-JP" altLang="en-US" dirty="0"/>
          </a:p>
        </p:txBody>
      </p:sp>
      <p:cxnSp>
        <p:nvCxnSpPr>
          <p:cNvPr id="216" name="直線矢印コネクタ 215"/>
          <p:cNvCxnSpPr>
            <a:stCxn id="183" idx="1"/>
          </p:cNvCxnSpPr>
          <p:nvPr/>
        </p:nvCxnSpPr>
        <p:spPr>
          <a:xfrm flipH="1" flipV="1">
            <a:off x="1951038" y="2898900"/>
            <a:ext cx="1734917" cy="2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p:cNvCxnSpPr/>
          <p:nvPr/>
        </p:nvCxnSpPr>
        <p:spPr>
          <a:xfrm flipH="1" flipV="1">
            <a:off x="1951038" y="4905375"/>
            <a:ext cx="1708693" cy="24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矢印コネクタ 219"/>
          <p:cNvCxnSpPr>
            <a:stCxn id="215" idx="1"/>
          </p:cNvCxnSpPr>
          <p:nvPr/>
        </p:nvCxnSpPr>
        <p:spPr>
          <a:xfrm flipH="1">
            <a:off x="5310374" y="3558381"/>
            <a:ext cx="1729567" cy="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矢印コネクタ 220"/>
          <p:cNvCxnSpPr>
            <a:endCxn id="184" idx="1"/>
          </p:cNvCxnSpPr>
          <p:nvPr/>
        </p:nvCxnSpPr>
        <p:spPr>
          <a:xfrm>
            <a:off x="1951038" y="3558380"/>
            <a:ext cx="1734917" cy="65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224"/>
          <p:cNvCxnSpPr/>
          <p:nvPr/>
        </p:nvCxnSpPr>
        <p:spPr>
          <a:xfrm flipV="1">
            <a:off x="1935163" y="5475889"/>
            <a:ext cx="1743427" cy="70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矢印コネクタ 230"/>
          <p:cNvCxnSpPr/>
          <p:nvPr/>
        </p:nvCxnSpPr>
        <p:spPr>
          <a:xfrm flipH="1">
            <a:off x="1939671" y="5718175"/>
            <a:ext cx="1752696" cy="401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矢印コネクタ 234"/>
          <p:cNvCxnSpPr>
            <a:stCxn id="183" idx="3"/>
          </p:cNvCxnSpPr>
          <p:nvPr/>
        </p:nvCxnSpPr>
        <p:spPr>
          <a:xfrm flipV="1">
            <a:off x="5321521" y="2889047"/>
            <a:ext cx="1741563" cy="128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フローチャート: 書類 244"/>
          <p:cNvSpPr/>
          <p:nvPr/>
        </p:nvSpPr>
        <p:spPr>
          <a:xfrm>
            <a:off x="5166677" y="6258001"/>
            <a:ext cx="646510" cy="471757"/>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請求書</a:t>
            </a:r>
            <a:endParaRPr lang="en-US" altLang="ja-JP" sz="1200" dirty="0">
              <a:latin typeface="Meiryo UI" panose="020B0604030504040204" pitchFamily="50" charset="-128"/>
              <a:ea typeface="Meiryo UI" panose="020B0604030504040204" pitchFamily="50" charset="-128"/>
            </a:endParaRPr>
          </a:p>
        </p:txBody>
      </p:sp>
      <p:sp>
        <p:nvSpPr>
          <p:cNvPr id="246" name="フローチャート: 書類 245"/>
          <p:cNvSpPr/>
          <p:nvPr/>
        </p:nvSpPr>
        <p:spPr>
          <a:xfrm>
            <a:off x="5126426" y="5464485"/>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入庫</a:t>
            </a:r>
            <a:endParaRPr kumimoji="1" lang="ja-JP" altLang="en-US" sz="1200" dirty="0">
              <a:latin typeface="Meiryo UI" panose="020B0604030504040204" pitchFamily="50" charset="-128"/>
              <a:ea typeface="Meiryo UI" panose="020B0604030504040204" pitchFamily="50" charset="-128"/>
            </a:endParaRPr>
          </a:p>
        </p:txBody>
      </p:sp>
      <p:sp>
        <p:nvSpPr>
          <p:cNvPr id="247" name="フローチャート: 書類 246"/>
          <p:cNvSpPr/>
          <p:nvPr/>
        </p:nvSpPr>
        <p:spPr>
          <a:xfrm>
            <a:off x="2466603" y="4689290"/>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発注</a:t>
            </a:r>
            <a:endParaRPr kumimoji="1" lang="ja-JP" altLang="en-US" sz="1200" dirty="0">
              <a:latin typeface="Meiryo UI" panose="020B0604030504040204" pitchFamily="50" charset="-128"/>
              <a:ea typeface="Meiryo UI" panose="020B0604030504040204" pitchFamily="50" charset="-128"/>
            </a:endParaRPr>
          </a:p>
        </p:txBody>
      </p:sp>
      <p:sp>
        <p:nvSpPr>
          <p:cNvPr id="248" name="フローチャート: 書類 247"/>
          <p:cNvSpPr/>
          <p:nvPr/>
        </p:nvSpPr>
        <p:spPr>
          <a:xfrm>
            <a:off x="2472332" y="271392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latin typeface="Meiryo UI" panose="020B0604030504040204" pitchFamily="50" charset="-128"/>
                <a:ea typeface="Meiryo UI" panose="020B0604030504040204" pitchFamily="50" charset="-128"/>
              </a:rPr>
              <a:t>見積</a:t>
            </a: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49" name="フローチャート: 書類 248"/>
          <p:cNvSpPr/>
          <p:nvPr/>
        </p:nvSpPr>
        <p:spPr>
          <a:xfrm>
            <a:off x="5857476" y="2674237"/>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見積</a:t>
            </a:r>
            <a:r>
              <a:rPr lang="en-US" altLang="ja-JP" sz="1200" dirty="0">
                <a:latin typeface="Meiryo UI" panose="020B0604030504040204" pitchFamily="50" charset="-128"/>
                <a:ea typeface="Meiryo UI" panose="020B0604030504040204" pitchFamily="50" charset="-128"/>
              </a:rPr>
              <a:t>2</a:t>
            </a:r>
            <a:endParaRPr kumimoji="1" lang="ja-JP" altLang="en-US" sz="1200" dirty="0">
              <a:latin typeface="Meiryo UI" panose="020B0604030504040204" pitchFamily="50" charset="-128"/>
              <a:ea typeface="Meiryo UI" panose="020B0604030504040204" pitchFamily="50" charset="-128"/>
            </a:endParaRPr>
          </a:p>
        </p:txBody>
      </p:sp>
      <p:sp>
        <p:nvSpPr>
          <p:cNvPr id="250" name="フローチャート: 書類 249"/>
          <p:cNvSpPr/>
          <p:nvPr/>
        </p:nvSpPr>
        <p:spPr>
          <a:xfrm>
            <a:off x="4957867" y="151954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依頼</a:t>
            </a:r>
            <a:endParaRPr kumimoji="1" lang="ja-JP" altLang="en-US" sz="1200" dirty="0">
              <a:latin typeface="Meiryo UI" panose="020B0604030504040204" pitchFamily="50" charset="-128"/>
              <a:ea typeface="Meiryo UI" panose="020B0604030504040204" pitchFamily="50" charset="-128"/>
            </a:endParaRPr>
          </a:p>
        </p:txBody>
      </p:sp>
      <p:sp>
        <p:nvSpPr>
          <p:cNvPr id="265" name="1 つの角を切り取った四角形 264"/>
          <p:cNvSpPr/>
          <p:nvPr/>
        </p:nvSpPr>
        <p:spPr>
          <a:xfrm>
            <a:off x="2472497" y="3423022"/>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6" name="1 つの角を切り取った四角形 265"/>
          <p:cNvSpPr/>
          <p:nvPr/>
        </p:nvSpPr>
        <p:spPr>
          <a:xfrm>
            <a:off x="5851003" y="3453053"/>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7" name="1 つの角を切り取った四角形 266"/>
          <p:cNvSpPr/>
          <p:nvPr/>
        </p:nvSpPr>
        <p:spPr>
          <a:xfrm>
            <a:off x="2461882" y="5319657"/>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品目</a:t>
            </a:r>
          </a:p>
        </p:txBody>
      </p:sp>
      <p:sp>
        <p:nvSpPr>
          <p:cNvPr id="269" name="1 つの角を切り取った四角形 268"/>
          <p:cNvSpPr/>
          <p:nvPr/>
        </p:nvSpPr>
        <p:spPr>
          <a:xfrm>
            <a:off x="2458374" y="5751024"/>
            <a:ext cx="670276" cy="33411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検収書</a:t>
            </a:r>
          </a:p>
        </p:txBody>
      </p:sp>
      <p:sp>
        <p:nvSpPr>
          <p:cNvPr id="2" name="正方形/長方形 1"/>
          <p:cNvSpPr/>
          <p:nvPr/>
        </p:nvSpPr>
        <p:spPr>
          <a:xfrm>
            <a:off x="2309247" y="2512054"/>
            <a:ext cx="4389727" cy="7058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4480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見積依頼の登録</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登録して頂いた依頼伝票を参照して、見積依頼伝票を</a:t>
            </a:r>
            <a:r>
              <a:rPr lang="en-US" altLang="ja-JP" dirty="0">
                <a:latin typeface="Meiryo UI" pitchFamily="50" charset="-128"/>
                <a:ea typeface="Meiryo UI" pitchFamily="50" charset="-128"/>
                <a:cs typeface="Meiryo UI" pitchFamily="50" charset="-128"/>
              </a:rPr>
              <a:t>2</a:t>
            </a:r>
            <a:r>
              <a:rPr lang="ja-JP" altLang="en-US" dirty="0" err="1">
                <a:latin typeface="Meiryo UI" pitchFamily="50" charset="-128"/>
                <a:ea typeface="Meiryo UI" pitchFamily="50" charset="-128"/>
                <a:cs typeface="Meiryo UI" pitchFamily="50" charset="-128"/>
              </a:rPr>
              <a:t>つ登</a:t>
            </a:r>
            <a:r>
              <a:rPr lang="ja-JP" altLang="en-US" dirty="0">
                <a:latin typeface="Meiryo UI" pitchFamily="50" charset="-128"/>
                <a:ea typeface="Meiryo UI" pitchFamily="50" charset="-128"/>
                <a:cs typeface="Meiryo UI" pitchFamily="50" charset="-128"/>
              </a:rPr>
              <a:t>録して頂きます。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a:t>
            </a: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つ目は登録して頂いた仕入先コード、</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つ目は用意している仕入先コードを使用します。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登録手順</a:t>
            </a:r>
            <a:r>
              <a:rPr lang="en-US" altLang="ja-JP" dirty="0">
                <a:latin typeface="Meiryo UI" pitchFamily="50" charset="-128"/>
                <a:ea typeface="Meiryo UI" pitchFamily="50" charset="-128"/>
                <a:cs typeface="Meiryo UI" pitchFamily="50" charset="-128"/>
              </a:rPr>
              <a:t>】</a:t>
            </a: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２ ／ １１ ）</a:t>
            </a:r>
            <a:endParaRPr kumimoji="1" lang="ja-JP" altLang="en-US" sz="2000" dirty="0">
              <a:latin typeface="Meiryo UI" pitchFamily="50" charset="-128"/>
              <a:ea typeface="Meiryo UI" pitchFamily="50" charset="-128"/>
              <a:cs typeface="Meiryo UI" pitchFamily="50" charset="-128"/>
            </a:endParaRPr>
          </a:p>
        </p:txBody>
      </p:sp>
      <p:sp>
        <p:nvSpPr>
          <p:cNvPr id="24" name="角丸四角形 23"/>
          <p:cNvSpPr/>
          <p:nvPr/>
        </p:nvSpPr>
        <p:spPr>
          <a:xfrm>
            <a:off x="1600027" y="365242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②第一画面</a:t>
            </a:r>
            <a:endParaRPr kumimoji="1" lang="ja-JP" altLang="en-US" sz="1400" dirty="0">
              <a:latin typeface="Meiryo UI" panose="020B0604030504040204" pitchFamily="50" charset="-128"/>
              <a:ea typeface="Meiryo UI" panose="020B0604030504040204" pitchFamily="50" charset="-128"/>
            </a:endParaRPr>
          </a:p>
        </p:txBody>
      </p:sp>
      <p:sp>
        <p:nvSpPr>
          <p:cNvPr id="26" name="角丸四角形 25"/>
          <p:cNvSpPr/>
          <p:nvPr/>
        </p:nvSpPr>
        <p:spPr>
          <a:xfrm>
            <a:off x="3115032" y="365242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③見積明細</a:t>
            </a:r>
            <a:endParaRPr kumimoji="1" lang="ja-JP" altLang="en-US" sz="1400" dirty="0">
              <a:latin typeface="Meiryo UI" panose="020B0604030504040204" pitchFamily="50" charset="-128"/>
              <a:ea typeface="Meiryo UI" panose="020B0604030504040204" pitchFamily="50" charset="-128"/>
            </a:endParaRPr>
          </a:p>
        </p:txBody>
      </p:sp>
      <p:sp>
        <p:nvSpPr>
          <p:cNvPr id="28" name="角丸四角形 27"/>
          <p:cNvSpPr/>
          <p:nvPr/>
        </p:nvSpPr>
        <p:spPr>
          <a:xfrm>
            <a:off x="4630037" y="365242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④見積ヘッダ</a:t>
            </a:r>
            <a:endParaRPr kumimoji="1" lang="ja-JP" altLang="en-US" sz="1400" dirty="0">
              <a:latin typeface="Meiryo UI" panose="020B0604030504040204" pitchFamily="50" charset="-128"/>
              <a:ea typeface="Meiryo UI" panose="020B0604030504040204" pitchFamily="50" charset="-128"/>
            </a:endParaRPr>
          </a:p>
        </p:txBody>
      </p:sp>
      <p:sp>
        <p:nvSpPr>
          <p:cNvPr id="29" name="角丸四角形 28"/>
          <p:cNvSpPr/>
          <p:nvPr/>
        </p:nvSpPr>
        <p:spPr>
          <a:xfrm>
            <a:off x="6145042" y="365242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⑤見積依頼</a:t>
            </a:r>
            <a:r>
              <a:rPr lang="en-US" altLang="ja-JP" sz="1400" dirty="0">
                <a:latin typeface="Meiryo UI" panose="020B0604030504040204" pitchFamily="50" charset="-128"/>
                <a:ea typeface="Meiryo UI" panose="020B0604030504040204" pitchFamily="50" charset="-128"/>
              </a:rPr>
              <a:t>1</a:t>
            </a:r>
          </a:p>
          <a:p>
            <a:pPr algn="ctr"/>
            <a:r>
              <a:rPr kumimoji="1" lang="ja-JP" altLang="en-US" sz="1400" dirty="0">
                <a:latin typeface="Meiryo UI" panose="020B0604030504040204" pitchFamily="50" charset="-128"/>
                <a:ea typeface="Meiryo UI" panose="020B0604030504040204" pitchFamily="50" charset="-128"/>
              </a:rPr>
              <a:t>登録</a:t>
            </a:r>
          </a:p>
        </p:txBody>
      </p:sp>
      <p:sp>
        <p:nvSpPr>
          <p:cNvPr id="31" name="角丸四角形 30"/>
          <p:cNvSpPr/>
          <p:nvPr/>
        </p:nvSpPr>
        <p:spPr>
          <a:xfrm>
            <a:off x="7660047" y="365242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⑥見積依頼</a:t>
            </a:r>
            <a:r>
              <a:rPr lang="en-US" altLang="ja-JP" sz="1400" dirty="0">
                <a:latin typeface="Meiryo UI" panose="020B0604030504040204" pitchFamily="50" charset="-128"/>
                <a:ea typeface="Meiryo UI" panose="020B0604030504040204" pitchFamily="50" charset="-128"/>
              </a:rPr>
              <a:t>2</a:t>
            </a:r>
          </a:p>
          <a:p>
            <a:pPr algn="ctr"/>
            <a:r>
              <a:rPr kumimoji="1" lang="ja-JP" altLang="en-US" sz="1400" dirty="0">
                <a:latin typeface="Meiryo UI" panose="020B0604030504040204" pitchFamily="50" charset="-128"/>
                <a:ea typeface="Meiryo UI" panose="020B0604030504040204" pitchFamily="50" charset="-128"/>
              </a:rPr>
              <a:t>登録</a:t>
            </a:r>
          </a:p>
        </p:txBody>
      </p:sp>
      <p:sp>
        <p:nvSpPr>
          <p:cNvPr id="45" name="角丸四角形 44"/>
          <p:cNvSpPr/>
          <p:nvPr/>
        </p:nvSpPr>
        <p:spPr>
          <a:xfrm>
            <a:off x="85022" y="365242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①伝票起票</a:t>
            </a:r>
            <a:endParaRPr kumimoji="1"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36487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伝票起票</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購買管理」→「購買管理」</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「見積依頼</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見積」→「見積依頼」と遷移します。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ME41 –</a:t>
            </a:r>
            <a:r>
              <a:rPr lang="ja-JP" altLang="en-US" dirty="0">
                <a:latin typeface="Meiryo UI" pitchFamily="50" charset="-128"/>
                <a:ea typeface="Meiryo UI" pitchFamily="50" charset="-128"/>
                <a:cs typeface="Meiryo UI" pitchFamily="50" charset="-128"/>
              </a:rPr>
              <a:t> 登録」を選択、</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またはコマンド入力欄に</a:t>
            </a:r>
            <a:r>
              <a:rPr lang="en-US" altLang="ja-JP" dirty="0">
                <a:latin typeface="Meiryo UI" pitchFamily="50" charset="-128"/>
                <a:ea typeface="Meiryo UI" pitchFamily="50" charset="-128"/>
                <a:cs typeface="Meiryo UI" pitchFamily="50" charset="-128"/>
              </a:rPr>
              <a:t>’ME41’</a:t>
            </a:r>
            <a:r>
              <a:rPr lang="ja-JP" altLang="en-US" dirty="0">
                <a:latin typeface="Meiryo UI" pitchFamily="50" charset="-128"/>
                <a:ea typeface="Meiryo UI" pitchFamily="50" charset="-128"/>
                <a:cs typeface="Meiryo UI" pitchFamily="50" charset="-128"/>
              </a:rPr>
              <a:t>と入力します。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３ ／ １１ ）</a:t>
            </a:r>
            <a:endParaRPr kumimoji="1" lang="ja-JP" altLang="en-US" sz="2000" dirty="0">
              <a:latin typeface="Meiryo UI" pitchFamily="50" charset="-128"/>
              <a:ea typeface="Meiryo UI" pitchFamily="50" charset="-128"/>
              <a:cs typeface="Meiryo UI" pitchFamily="50" charset="-128"/>
            </a:endParaRPr>
          </a:p>
        </p:txBody>
      </p:sp>
      <p:pic>
        <p:nvPicPr>
          <p:cNvPr id="6" name="図 5"/>
          <p:cNvPicPr>
            <a:picLocks noChangeAspect="1"/>
          </p:cNvPicPr>
          <p:nvPr/>
        </p:nvPicPr>
        <p:blipFill>
          <a:blip r:embed="rId3"/>
          <a:stretch>
            <a:fillRect/>
          </a:stretch>
        </p:blipFill>
        <p:spPr>
          <a:xfrm>
            <a:off x="5452110" y="1635219"/>
            <a:ext cx="3326129" cy="4956051"/>
          </a:xfrm>
          <a:prstGeom prst="rect">
            <a:avLst/>
          </a:prstGeom>
        </p:spPr>
      </p:pic>
      <p:sp>
        <p:nvSpPr>
          <p:cNvPr id="7" name="正方形/長方形 6"/>
          <p:cNvSpPr/>
          <p:nvPr/>
        </p:nvSpPr>
        <p:spPr>
          <a:xfrm>
            <a:off x="5720448" y="2462636"/>
            <a:ext cx="1869072" cy="2886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6581914" y="6270130"/>
            <a:ext cx="1200645" cy="2021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右カーブ矢印 8"/>
          <p:cNvSpPr/>
          <p:nvPr/>
        </p:nvSpPr>
        <p:spPr>
          <a:xfrm>
            <a:off x="5387342" y="3783571"/>
            <a:ext cx="327444" cy="828840"/>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0" name="右カーブ矢印 9"/>
          <p:cNvSpPr/>
          <p:nvPr/>
        </p:nvSpPr>
        <p:spPr>
          <a:xfrm>
            <a:off x="5573282" y="4592533"/>
            <a:ext cx="241935" cy="411689"/>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1" name="右カーブ矢印 10"/>
          <p:cNvSpPr/>
          <p:nvPr/>
        </p:nvSpPr>
        <p:spPr>
          <a:xfrm>
            <a:off x="5790027" y="4947784"/>
            <a:ext cx="219744" cy="322551"/>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3" name="右カーブ矢印 12"/>
          <p:cNvSpPr/>
          <p:nvPr/>
        </p:nvSpPr>
        <p:spPr>
          <a:xfrm>
            <a:off x="5847742" y="5236472"/>
            <a:ext cx="348534" cy="789824"/>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4" name="右カーブ矢印 13"/>
          <p:cNvSpPr/>
          <p:nvPr/>
        </p:nvSpPr>
        <p:spPr>
          <a:xfrm>
            <a:off x="6072168" y="5978938"/>
            <a:ext cx="212818" cy="270872"/>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5" name="右カーブ矢印 14"/>
          <p:cNvSpPr/>
          <p:nvPr/>
        </p:nvSpPr>
        <p:spPr>
          <a:xfrm>
            <a:off x="6241974" y="6225393"/>
            <a:ext cx="170135" cy="226576"/>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pic>
        <p:nvPicPr>
          <p:cNvPr id="2" name="図 1"/>
          <p:cNvPicPr>
            <a:picLocks noChangeAspect="1"/>
          </p:cNvPicPr>
          <p:nvPr/>
        </p:nvPicPr>
        <p:blipFill>
          <a:blip r:embed="rId4"/>
          <a:stretch>
            <a:fillRect/>
          </a:stretch>
        </p:blipFill>
        <p:spPr>
          <a:xfrm>
            <a:off x="5549124" y="1115166"/>
            <a:ext cx="3477646" cy="360000"/>
          </a:xfrm>
          <a:prstGeom prst="rect">
            <a:avLst/>
          </a:prstGeom>
        </p:spPr>
      </p:pic>
      <p:sp>
        <p:nvSpPr>
          <p:cNvPr id="17" name="正方形/長方形 16"/>
          <p:cNvSpPr/>
          <p:nvPr/>
        </p:nvSpPr>
        <p:spPr>
          <a:xfrm>
            <a:off x="5544360"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18940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第一画面</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赤枠の項目を入力します。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kumimoji="0" lang="ja-JP" altLang="en-US" dirty="0">
                <a:latin typeface="Meiryo UI" pitchFamily="50" charset="-128"/>
                <a:ea typeface="Meiryo UI" pitchFamily="50" charset="-128"/>
                <a:cs typeface="Meiryo UI" pitchFamily="50" charset="-128"/>
              </a:rPr>
              <a:t>入力後、「購買依頼参照」ボタンをクリックします。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４ ／ １１ ）</a:t>
            </a:r>
            <a:endParaRPr kumimoji="1" lang="ja-JP" altLang="en-US" sz="2000" dirty="0">
              <a:latin typeface="Meiryo UI" pitchFamily="50" charset="-128"/>
              <a:ea typeface="Meiryo UI" pitchFamily="50" charset="-128"/>
              <a:cs typeface="Meiryo UI" pitchFamily="50" charset="-128"/>
            </a:endParaRPr>
          </a:p>
        </p:txBody>
      </p:sp>
      <p:pic>
        <p:nvPicPr>
          <p:cNvPr id="16" name="図 15"/>
          <p:cNvPicPr>
            <a:picLocks noChangeAspect="1"/>
          </p:cNvPicPr>
          <p:nvPr/>
        </p:nvPicPr>
        <p:blipFill>
          <a:blip r:embed="rId2"/>
          <a:stretch>
            <a:fillRect/>
          </a:stretch>
        </p:blipFill>
        <p:spPr>
          <a:xfrm>
            <a:off x="198683" y="2555940"/>
            <a:ext cx="5891971" cy="4087841"/>
          </a:xfrm>
          <a:prstGeom prst="rect">
            <a:avLst/>
          </a:prstGeom>
        </p:spPr>
      </p:pic>
      <p:graphicFrame>
        <p:nvGraphicFramePr>
          <p:cNvPr id="17" name="表 16"/>
          <p:cNvGraphicFramePr>
            <a:graphicFrameLocks noGrp="1"/>
          </p:cNvGraphicFramePr>
          <p:nvPr>
            <p:extLst>
              <p:ext uri="{D42A27DB-BD31-4B8C-83A1-F6EECF244321}">
                <p14:modId xmlns:p14="http://schemas.microsoft.com/office/powerpoint/2010/main" val="1900019801"/>
              </p:ext>
            </p:extLst>
          </p:nvPr>
        </p:nvGraphicFramePr>
        <p:xfrm>
          <a:off x="4304924" y="3530600"/>
          <a:ext cx="4538869" cy="2595880"/>
        </p:xfrm>
        <a:graphic>
          <a:graphicData uri="http://schemas.openxmlformats.org/drawingml/2006/table">
            <a:tbl>
              <a:tblPr firstRow="1" bandRow="1">
                <a:tableStyleId>{7DF18680-E054-41AD-8BC1-D1AEF772440D}</a:tableStyleId>
              </a:tblPr>
              <a:tblGrid>
                <a:gridCol w="1984513">
                  <a:extLst>
                    <a:ext uri="{9D8B030D-6E8A-4147-A177-3AD203B41FA5}">
                      <a16:colId xmlns:a16="http://schemas.microsoft.com/office/drawing/2014/main" val="20000"/>
                    </a:ext>
                  </a:extLst>
                </a:gridCol>
                <a:gridCol w="2554356">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見積依頼タイプ</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AN</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1"/>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言語キー</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JA</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見積依頼日付</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2019/02/27</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3"/>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見積提出期限</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2019/03/15</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4"/>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購買組織</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1510</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5"/>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購買グループ</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003</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6"/>
                  </a:ext>
                </a:extLst>
              </a:tr>
            </a:tbl>
          </a:graphicData>
        </a:graphic>
      </p:graphicFrame>
      <p:sp>
        <p:nvSpPr>
          <p:cNvPr id="18" name="正方形/長方形 17"/>
          <p:cNvSpPr/>
          <p:nvPr/>
        </p:nvSpPr>
        <p:spPr>
          <a:xfrm>
            <a:off x="2999584" y="3133476"/>
            <a:ext cx="765313" cy="2904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843281" y="3983272"/>
            <a:ext cx="1927704" cy="21432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3"/>
          <a:stretch>
            <a:fillRect/>
          </a:stretch>
        </p:blipFill>
        <p:spPr>
          <a:xfrm>
            <a:off x="5549124" y="1115166"/>
            <a:ext cx="3477646" cy="360000"/>
          </a:xfrm>
          <a:prstGeom prst="rect">
            <a:avLst/>
          </a:prstGeom>
        </p:spPr>
      </p:pic>
      <p:sp>
        <p:nvSpPr>
          <p:cNvPr id="9" name="正方形/長方形 8"/>
          <p:cNvSpPr/>
          <p:nvPr/>
        </p:nvSpPr>
        <p:spPr>
          <a:xfrm>
            <a:off x="6130761"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33918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第一画面</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購買依頼を入力するポップアップが出てきます。控えてある購買依頼伝票番号を入力</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①</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a:t>
            </a:r>
            <a:r>
              <a:rPr kumimoji="0" lang="ja-JP" altLang="en-US" dirty="0">
                <a:latin typeface="Meiryo UI" pitchFamily="50" charset="-128"/>
                <a:ea typeface="Meiryo UI" pitchFamily="50" charset="-128"/>
                <a:cs typeface="Meiryo UI" pitchFamily="50" charset="-128"/>
              </a:rPr>
              <a:t>チェックボタン</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②</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をクリックします。</a:t>
            </a:r>
            <a:endParaRPr kumimoji="0"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kumimoji="0" lang="ja-JP" altLang="en-US" dirty="0">
                <a:latin typeface="Meiryo UI" pitchFamily="50" charset="-128"/>
                <a:ea typeface="Meiryo UI" pitchFamily="50" charset="-128"/>
                <a:cs typeface="Meiryo UI" pitchFamily="50" charset="-128"/>
              </a:rPr>
              <a:t>見積依頼を生成する対象の明細にチェックを付け</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③</a:t>
            </a:r>
            <a:r>
              <a:rPr kumimoji="0" lang="en-US" altLang="ja-JP" dirty="0">
                <a:latin typeface="Meiryo UI" pitchFamily="50" charset="-128"/>
                <a:ea typeface="Meiryo UI" pitchFamily="50" charset="-128"/>
                <a:cs typeface="Meiryo UI" pitchFamily="50" charset="-128"/>
              </a:rPr>
              <a:t>)</a:t>
            </a:r>
            <a:r>
              <a:rPr kumimoji="0" lang="ja-JP" altLang="en-US" dirty="0" err="1">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「採用」ボタン</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④</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をクリックします。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５ ／ １１ ）</a:t>
            </a:r>
            <a:endParaRPr kumimoji="1" lang="ja-JP" altLang="en-US" sz="2000" dirty="0">
              <a:latin typeface="Meiryo UI" pitchFamily="50" charset="-128"/>
              <a:ea typeface="Meiryo UI" pitchFamily="50" charset="-128"/>
              <a:cs typeface="Meiryo UI" pitchFamily="50" charset="-128"/>
            </a:endParaRPr>
          </a:p>
        </p:txBody>
      </p:sp>
      <p:pic>
        <p:nvPicPr>
          <p:cNvPr id="9" name="図 8"/>
          <p:cNvPicPr>
            <a:picLocks noChangeAspect="1"/>
          </p:cNvPicPr>
          <p:nvPr/>
        </p:nvPicPr>
        <p:blipFill>
          <a:blip r:embed="rId2"/>
          <a:stretch>
            <a:fillRect/>
          </a:stretch>
        </p:blipFill>
        <p:spPr>
          <a:xfrm>
            <a:off x="198683" y="2953677"/>
            <a:ext cx="2288847" cy="3594886"/>
          </a:xfrm>
          <a:prstGeom prst="rect">
            <a:avLst/>
          </a:prstGeom>
        </p:spPr>
      </p:pic>
      <p:pic>
        <p:nvPicPr>
          <p:cNvPr id="10" name="図 9"/>
          <p:cNvPicPr>
            <a:picLocks noChangeAspect="1"/>
          </p:cNvPicPr>
          <p:nvPr/>
        </p:nvPicPr>
        <p:blipFill>
          <a:blip r:embed="rId3"/>
          <a:stretch>
            <a:fillRect/>
          </a:stretch>
        </p:blipFill>
        <p:spPr>
          <a:xfrm>
            <a:off x="3083880" y="2953676"/>
            <a:ext cx="5352502" cy="3594886"/>
          </a:xfrm>
          <a:prstGeom prst="rect">
            <a:avLst/>
          </a:prstGeom>
        </p:spPr>
      </p:pic>
      <p:sp>
        <p:nvSpPr>
          <p:cNvPr id="11" name="正方形/長方形 10"/>
          <p:cNvSpPr/>
          <p:nvPr/>
        </p:nvSpPr>
        <p:spPr>
          <a:xfrm>
            <a:off x="733462" y="3309353"/>
            <a:ext cx="1217521" cy="2872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478897" y="6271213"/>
            <a:ext cx="236879" cy="277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3133576" y="3780515"/>
            <a:ext cx="134366" cy="1540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4618686" y="3333254"/>
            <a:ext cx="269333" cy="1938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p:cNvSpPr txBox="1"/>
          <p:nvPr/>
        </p:nvSpPr>
        <p:spPr>
          <a:xfrm>
            <a:off x="343564" y="3245494"/>
            <a:ext cx="415498" cy="369332"/>
          </a:xfrm>
          <a:prstGeom prst="rect">
            <a:avLst/>
          </a:prstGeom>
          <a:noFill/>
        </p:spPr>
        <p:txBody>
          <a:bodyPr wrap="none" rtlCol="0">
            <a:spAutoFit/>
          </a:bodyPr>
          <a:lstStyle/>
          <a:p>
            <a:r>
              <a:rPr lang="ja-JP" altLang="en-US" dirty="0">
                <a:solidFill>
                  <a:srgbClr val="FF0000"/>
                </a:solidFill>
              </a:rPr>
              <a:t>①</a:t>
            </a:r>
          </a:p>
        </p:txBody>
      </p:sp>
      <p:sp>
        <p:nvSpPr>
          <p:cNvPr id="21" name="テキスト ボックス 20"/>
          <p:cNvSpPr txBox="1"/>
          <p:nvPr/>
        </p:nvSpPr>
        <p:spPr>
          <a:xfrm>
            <a:off x="1134473" y="5901881"/>
            <a:ext cx="415498" cy="369332"/>
          </a:xfrm>
          <a:prstGeom prst="rect">
            <a:avLst/>
          </a:prstGeom>
          <a:noFill/>
        </p:spPr>
        <p:txBody>
          <a:bodyPr wrap="none" rtlCol="0">
            <a:spAutoFit/>
          </a:bodyPr>
          <a:lstStyle/>
          <a:p>
            <a:r>
              <a:rPr lang="ja-JP" altLang="en-US" dirty="0">
                <a:solidFill>
                  <a:srgbClr val="FF0000"/>
                </a:solidFill>
              </a:rPr>
              <a:t>②</a:t>
            </a:r>
          </a:p>
        </p:txBody>
      </p:sp>
      <p:sp>
        <p:nvSpPr>
          <p:cNvPr id="22" name="テキスト ボックス 21"/>
          <p:cNvSpPr txBox="1"/>
          <p:nvPr/>
        </p:nvSpPr>
        <p:spPr>
          <a:xfrm>
            <a:off x="2715098" y="3466812"/>
            <a:ext cx="415498" cy="369332"/>
          </a:xfrm>
          <a:prstGeom prst="rect">
            <a:avLst/>
          </a:prstGeom>
          <a:noFill/>
        </p:spPr>
        <p:txBody>
          <a:bodyPr wrap="none" rtlCol="0">
            <a:spAutoFit/>
          </a:bodyPr>
          <a:lstStyle/>
          <a:p>
            <a:r>
              <a:rPr lang="ja-JP" altLang="en-US" dirty="0">
                <a:solidFill>
                  <a:srgbClr val="FF0000"/>
                </a:solidFill>
              </a:rPr>
              <a:t>③</a:t>
            </a:r>
          </a:p>
        </p:txBody>
      </p:sp>
      <p:sp>
        <p:nvSpPr>
          <p:cNvPr id="23" name="テキスト ボックス 22"/>
          <p:cNvSpPr txBox="1"/>
          <p:nvPr/>
        </p:nvSpPr>
        <p:spPr>
          <a:xfrm>
            <a:off x="4226546" y="2963922"/>
            <a:ext cx="415498" cy="369332"/>
          </a:xfrm>
          <a:prstGeom prst="rect">
            <a:avLst/>
          </a:prstGeom>
          <a:noFill/>
        </p:spPr>
        <p:txBody>
          <a:bodyPr wrap="none" rtlCol="0">
            <a:spAutoFit/>
          </a:bodyPr>
          <a:lstStyle/>
          <a:p>
            <a:r>
              <a:rPr lang="ja-JP" altLang="en-US" dirty="0">
                <a:solidFill>
                  <a:srgbClr val="FF0000"/>
                </a:solidFill>
              </a:rPr>
              <a:t>④</a:t>
            </a:r>
          </a:p>
        </p:txBody>
      </p:sp>
      <p:pic>
        <p:nvPicPr>
          <p:cNvPr id="18" name="図 17"/>
          <p:cNvPicPr>
            <a:picLocks noChangeAspect="1"/>
          </p:cNvPicPr>
          <p:nvPr/>
        </p:nvPicPr>
        <p:blipFill>
          <a:blip r:embed="rId4"/>
          <a:stretch>
            <a:fillRect/>
          </a:stretch>
        </p:blipFill>
        <p:spPr>
          <a:xfrm>
            <a:off x="5549124" y="1115166"/>
            <a:ext cx="3477646" cy="360000"/>
          </a:xfrm>
          <a:prstGeom prst="rect">
            <a:avLst/>
          </a:prstGeom>
        </p:spPr>
      </p:pic>
      <p:sp>
        <p:nvSpPr>
          <p:cNvPr id="19" name="正方形/長方形 18"/>
          <p:cNvSpPr/>
          <p:nvPr/>
        </p:nvSpPr>
        <p:spPr>
          <a:xfrm>
            <a:off x="6130761"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83445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見積明細</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明細概要のページへ遷移されます。</a:t>
            </a:r>
            <a:r>
              <a:rPr kumimoji="0" lang="ja-JP" altLang="en-US" dirty="0">
                <a:latin typeface="Meiryo UI" pitchFamily="50" charset="-128"/>
                <a:ea typeface="Meiryo UI" pitchFamily="50" charset="-128"/>
                <a:cs typeface="Meiryo UI" pitchFamily="50" charset="-128"/>
              </a:rPr>
              <a:t>購買依頼からコピーされた情報が表示されます。</a:t>
            </a:r>
            <a:endParaRPr kumimoji="0"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kumimoji="0" lang="ja-JP" altLang="en-US" dirty="0">
                <a:latin typeface="Meiryo UI" pitchFamily="50" charset="-128"/>
                <a:ea typeface="Meiryo UI" pitchFamily="50" charset="-128"/>
                <a:cs typeface="Meiryo UI" pitchFamily="50" charset="-128"/>
              </a:rPr>
              <a:t>「ヘッダ詳細」ボタンをクリックします。</a:t>
            </a:r>
            <a:endParaRPr kumimoji="0"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６ ／ １１ ）</a:t>
            </a:r>
            <a:endParaRPr kumimoji="1" lang="ja-JP" altLang="en-US" sz="2000" dirty="0">
              <a:latin typeface="Meiryo UI" pitchFamily="50" charset="-128"/>
              <a:ea typeface="Meiryo UI" pitchFamily="50" charset="-128"/>
              <a:cs typeface="Meiryo UI" pitchFamily="50" charset="-128"/>
            </a:endParaRPr>
          </a:p>
        </p:txBody>
      </p:sp>
      <p:pic>
        <p:nvPicPr>
          <p:cNvPr id="16" name="図 15"/>
          <p:cNvPicPr>
            <a:picLocks noChangeAspect="1"/>
          </p:cNvPicPr>
          <p:nvPr/>
        </p:nvPicPr>
        <p:blipFill>
          <a:blip r:embed="rId2"/>
          <a:stretch>
            <a:fillRect/>
          </a:stretch>
        </p:blipFill>
        <p:spPr>
          <a:xfrm>
            <a:off x="198683" y="2537281"/>
            <a:ext cx="7588528" cy="4106500"/>
          </a:xfrm>
          <a:prstGeom prst="rect">
            <a:avLst/>
          </a:prstGeom>
        </p:spPr>
      </p:pic>
      <p:pic>
        <p:nvPicPr>
          <p:cNvPr id="5" name="図 4"/>
          <p:cNvPicPr>
            <a:picLocks noChangeAspect="1"/>
          </p:cNvPicPr>
          <p:nvPr/>
        </p:nvPicPr>
        <p:blipFill>
          <a:blip r:embed="rId3"/>
          <a:stretch>
            <a:fillRect/>
          </a:stretch>
        </p:blipFill>
        <p:spPr>
          <a:xfrm>
            <a:off x="5549124" y="1115166"/>
            <a:ext cx="3477646" cy="360000"/>
          </a:xfrm>
          <a:prstGeom prst="rect">
            <a:avLst/>
          </a:prstGeom>
        </p:spPr>
      </p:pic>
      <p:sp>
        <p:nvSpPr>
          <p:cNvPr id="6" name="正方形/長方形 5"/>
          <p:cNvSpPr/>
          <p:nvPr/>
        </p:nvSpPr>
        <p:spPr>
          <a:xfrm>
            <a:off x="6697288"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20289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見積ヘッダ</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ヘッダデータのページへ遷移されます。</a:t>
            </a:r>
            <a:r>
              <a:rPr kumimoji="0" lang="ja-JP" altLang="en-US" dirty="0">
                <a:latin typeface="Meiryo UI" pitchFamily="50" charset="-128"/>
                <a:ea typeface="Meiryo UI" pitchFamily="50" charset="-128"/>
                <a:cs typeface="Meiryo UI" pitchFamily="50" charset="-128"/>
              </a:rPr>
              <a:t>購買依頼からコピーされた情報が表示されます。</a:t>
            </a:r>
            <a:endParaRPr kumimoji="0"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kumimoji="0" lang="ja-JP" altLang="en-US" dirty="0">
                <a:latin typeface="Meiryo UI" pitchFamily="50" charset="-128"/>
                <a:ea typeface="Meiryo UI" pitchFamily="50" charset="-128"/>
                <a:cs typeface="Meiryo UI" pitchFamily="50" charset="-128"/>
              </a:rPr>
              <a:t>一括番号を入力</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①</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します。</a:t>
            </a:r>
            <a:endParaRPr kumimoji="0"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kumimoji="0" lang="ja-JP" altLang="en-US" dirty="0">
                <a:latin typeface="Meiryo UI" pitchFamily="50" charset="-128"/>
                <a:ea typeface="Meiryo UI" pitchFamily="50" charset="-128"/>
                <a:cs typeface="Meiryo UI" pitchFamily="50" charset="-128"/>
              </a:rPr>
              <a:t>仕入先住所</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②</a:t>
            </a:r>
            <a:r>
              <a:rPr kumimoji="0" lang="en-US" altLang="ja-JP" dirty="0">
                <a:latin typeface="Meiryo UI" pitchFamily="50" charset="-128"/>
                <a:ea typeface="Meiryo UI" pitchFamily="50" charset="-128"/>
                <a:cs typeface="Meiryo UI" pitchFamily="50" charset="-128"/>
              </a:rPr>
              <a:t>)</a:t>
            </a:r>
            <a:r>
              <a:rPr kumimoji="0" lang="ja-JP" altLang="en-US" dirty="0">
                <a:latin typeface="Meiryo UI" pitchFamily="50" charset="-128"/>
                <a:ea typeface="Meiryo UI" pitchFamily="50" charset="-128"/>
                <a:cs typeface="Meiryo UI" pitchFamily="50" charset="-128"/>
              </a:rPr>
              <a:t>をクリックします。</a:t>
            </a:r>
            <a:endParaRPr kumimoji="0"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７ ／ １１ ）</a:t>
            </a:r>
          </a:p>
        </p:txBody>
      </p:sp>
      <p:pic>
        <p:nvPicPr>
          <p:cNvPr id="6" name="図 5"/>
          <p:cNvPicPr>
            <a:picLocks noChangeAspect="1"/>
          </p:cNvPicPr>
          <p:nvPr/>
        </p:nvPicPr>
        <p:blipFill>
          <a:blip r:embed="rId2"/>
          <a:stretch>
            <a:fillRect/>
          </a:stretch>
        </p:blipFill>
        <p:spPr>
          <a:xfrm>
            <a:off x="198683" y="2960272"/>
            <a:ext cx="5217254" cy="3683509"/>
          </a:xfrm>
          <a:prstGeom prst="rect">
            <a:avLst/>
          </a:prstGeom>
        </p:spPr>
      </p:pic>
      <p:sp>
        <p:nvSpPr>
          <p:cNvPr id="7" name="正方形/長方形 6"/>
          <p:cNvSpPr/>
          <p:nvPr/>
        </p:nvSpPr>
        <p:spPr>
          <a:xfrm>
            <a:off x="2027241" y="3346190"/>
            <a:ext cx="614359" cy="2301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3637280" y="4419600"/>
            <a:ext cx="1188720" cy="2133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p:cNvGraphicFramePr>
            <a:graphicFrameLocks noGrp="1"/>
          </p:cNvGraphicFramePr>
          <p:nvPr>
            <p:extLst>
              <p:ext uri="{D42A27DB-BD31-4B8C-83A1-F6EECF244321}">
                <p14:modId xmlns:p14="http://schemas.microsoft.com/office/powerpoint/2010/main" val="770599748"/>
              </p:ext>
            </p:extLst>
          </p:nvPr>
        </p:nvGraphicFramePr>
        <p:xfrm>
          <a:off x="5069839" y="4476032"/>
          <a:ext cx="3656717" cy="1160780"/>
        </p:xfrm>
        <a:graphic>
          <a:graphicData uri="http://schemas.openxmlformats.org/drawingml/2006/table">
            <a:tbl>
              <a:tblPr firstRow="1" bandRow="1">
                <a:tableStyleId>{7DF18680-E054-41AD-8BC1-D1AEF772440D}</a:tableStyleId>
              </a:tblPr>
              <a:tblGrid>
                <a:gridCol w="1685624">
                  <a:extLst>
                    <a:ext uri="{9D8B030D-6E8A-4147-A177-3AD203B41FA5}">
                      <a16:colId xmlns:a16="http://schemas.microsoft.com/office/drawing/2014/main" val="20000"/>
                    </a:ext>
                  </a:extLst>
                </a:gridCol>
                <a:gridCol w="1971093">
                  <a:extLst>
                    <a:ext uri="{9D8B030D-6E8A-4147-A177-3AD203B41FA5}">
                      <a16:colId xmlns:a16="http://schemas.microsoft.com/office/drawing/2014/main" val="20001"/>
                    </a:ext>
                  </a:extLst>
                </a:gridCol>
              </a:tblGrid>
              <a:tr h="52070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520700">
                <a:tc>
                  <a:txBody>
                    <a:bodyPr/>
                    <a:lstStyle/>
                    <a:p>
                      <a:pPr algn="ctr"/>
                      <a:r>
                        <a:rPr kumimoji="1" lang="ja-JP" altLang="en-US" dirty="0">
                          <a:latin typeface="Meiryo UI" panose="020B0604030504040204" pitchFamily="50" charset="-128"/>
                          <a:ea typeface="Meiryo UI" panose="020B0604030504040204" pitchFamily="50" charset="-128"/>
                        </a:rPr>
                        <a:t>一括番号</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先ほど控えた</a:t>
                      </a:r>
                      <a:endParaRPr kumimoji="1" lang="en-US" altLang="ja-JP" dirty="0">
                        <a:latin typeface="Meiryo UI" panose="020B0604030504040204" pitchFamily="50" charset="-128"/>
                        <a:ea typeface="Meiryo UI" panose="020B0604030504040204" pitchFamily="50" charset="-128"/>
                      </a:endParaRPr>
                    </a:p>
                    <a:p>
                      <a:pPr algn="ctr"/>
                      <a:r>
                        <a:rPr kumimoji="1" lang="ja-JP" altLang="en-US" dirty="0">
                          <a:latin typeface="Meiryo UI" panose="020B0604030504040204" pitchFamily="50" charset="-128"/>
                          <a:ea typeface="Meiryo UI" panose="020B0604030504040204" pitchFamily="50" charset="-128"/>
                        </a:rPr>
                        <a:t>購買依頼番号</a:t>
                      </a:r>
                      <a:endParaRPr kumimoji="1" lang="en-US" altLang="ja-JP"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1"/>
                  </a:ext>
                </a:extLst>
              </a:tr>
            </a:tbl>
          </a:graphicData>
        </a:graphic>
      </p:graphicFrame>
      <p:sp>
        <p:nvSpPr>
          <p:cNvPr id="10" name="テキスト ボックス 9"/>
          <p:cNvSpPr txBox="1"/>
          <p:nvPr/>
        </p:nvSpPr>
        <p:spPr>
          <a:xfrm>
            <a:off x="3221782" y="4341614"/>
            <a:ext cx="415498" cy="369332"/>
          </a:xfrm>
          <a:prstGeom prst="rect">
            <a:avLst/>
          </a:prstGeom>
          <a:noFill/>
        </p:spPr>
        <p:txBody>
          <a:bodyPr wrap="none" rtlCol="0">
            <a:spAutoFit/>
          </a:bodyPr>
          <a:lstStyle/>
          <a:p>
            <a:r>
              <a:rPr lang="ja-JP" altLang="en-US" dirty="0">
                <a:solidFill>
                  <a:srgbClr val="FF0000"/>
                </a:solidFill>
              </a:rPr>
              <a:t>①</a:t>
            </a:r>
            <a:endParaRPr kumimoji="1" lang="ja-JP" altLang="en-US" dirty="0">
              <a:solidFill>
                <a:srgbClr val="FF0000"/>
              </a:solidFill>
            </a:endParaRPr>
          </a:p>
        </p:txBody>
      </p:sp>
      <p:sp>
        <p:nvSpPr>
          <p:cNvPr id="11" name="テキスト ボックス 10"/>
          <p:cNvSpPr txBox="1"/>
          <p:nvPr/>
        </p:nvSpPr>
        <p:spPr>
          <a:xfrm>
            <a:off x="1677462" y="2997178"/>
            <a:ext cx="415498" cy="369332"/>
          </a:xfrm>
          <a:prstGeom prst="rect">
            <a:avLst/>
          </a:prstGeom>
          <a:noFill/>
        </p:spPr>
        <p:txBody>
          <a:bodyPr wrap="none" rtlCol="0">
            <a:spAutoFit/>
          </a:bodyPr>
          <a:lstStyle/>
          <a:p>
            <a:r>
              <a:rPr lang="ja-JP" altLang="en-US" dirty="0">
                <a:solidFill>
                  <a:srgbClr val="FF0000"/>
                </a:solidFill>
              </a:rPr>
              <a:t>②</a:t>
            </a:r>
            <a:endParaRPr kumimoji="1" lang="ja-JP" altLang="en-US" dirty="0">
              <a:solidFill>
                <a:srgbClr val="FF0000"/>
              </a:solidFill>
            </a:endParaRPr>
          </a:p>
        </p:txBody>
      </p:sp>
      <p:pic>
        <p:nvPicPr>
          <p:cNvPr id="13" name="図 12"/>
          <p:cNvPicPr>
            <a:picLocks noChangeAspect="1"/>
          </p:cNvPicPr>
          <p:nvPr/>
        </p:nvPicPr>
        <p:blipFill>
          <a:blip r:embed="rId3"/>
          <a:stretch>
            <a:fillRect/>
          </a:stretch>
        </p:blipFill>
        <p:spPr>
          <a:xfrm>
            <a:off x="5549124" y="1115166"/>
            <a:ext cx="3477646" cy="360000"/>
          </a:xfrm>
          <a:prstGeom prst="rect">
            <a:avLst/>
          </a:prstGeom>
        </p:spPr>
      </p:pic>
      <p:sp>
        <p:nvSpPr>
          <p:cNvPr id="14" name="正方形/長方形 13"/>
          <p:cNvSpPr/>
          <p:nvPr/>
        </p:nvSpPr>
        <p:spPr>
          <a:xfrm>
            <a:off x="7293631"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62513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見積依頼</a:t>
            </a: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登録</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仕入先のコードを入力します</a:t>
            </a:r>
            <a:r>
              <a:rPr kumimoji="0" lang="ja-JP" altLang="en-US" dirty="0">
                <a:latin typeface="Meiryo UI" pitchFamily="50" charset="-128"/>
                <a:ea typeface="Meiryo UI" pitchFamily="50" charset="-128"/>
                <a:cs typeface="Meiryo UI" pitchFamily="50" charset="-128"/>
              </a:rPr>
              <a:t>。</a:t>
            </a:r>
            <a:endParaRPr kumimoji="0"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kumimoji="0" lang="ja-JP" altLang="en-US" dirty="0">
                <a:latin typeface="Meiryo UI" pitchFamily="50" charset="-128"/>
                <a:ea typeface="Meiryo UI" pitchFamily="50" charset="-128"/>
                <a:cs typeface="Meiryo UI" pitchFamily="50" charset="-128"/>
              </a:rPr>
              <a:t>入力後、エンターキーを押すと仕入先マスタから住所等の情報がコピーされます。</a:t>
            </a:r>
            <a:endParaRPr kumimoji="0"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８ ／ １１ ）</a:t>
            </a:r>
          </a:p>
        </p:txBody>
      </p:sp>
      <p:pic>
        <p:nvPicPr>
          <p:cNvPr id="13" name="図 12"/>
          <p:cNvPicPr>
            <a:picLocks noChangeAspect="1"/>
          </p:cNvPicPr>
          <p:nvPr/>
        </p:nvPicPr>
        <p:blipFill>
          <a:blip r:embed="rId2"/>
          <a:stretch>
            <a:fillRect/>
          </a:stretch>
        </p:blipFill>
        <p:spPr>
          <a:xfrm>
            <a:off x="198683" y="2519679"/>
            <a:ext cx="4941977" cy="4204703"/>
          </a:xfrm>
          <a:prstGeom prst="rect">
            <a:avLst/>
          </a:prstGeom>
        </p:spPr>
      </p:pic>
      <p:graphicFrame>
        <p:nvGraphicFramePr>
          <p:cNvPr id="14" name="表 13"/>
          <p:cNvGraphicFramePr>
            <a:graphicFrameLocks noGrp="1"/>
          </p:cNvGraphicFramePr>
          <p:nvPr>
            <p:extLst>
              <p:ext uri="{D42A27DB-BD31-4B8C-83A1-F6EECF244321}">
                <p14:modId xmlns:p14="http://schemas.microsoft.com/office/powerpoint/2010/main" val="3742268725"/>
              </p:ext>
            </p:extLst>
          </p:nvPr>
        </p:nvGraphicFramePr>
        <p:xfrm>
          <a:off x="4358640" y="3398520"/>
          <a:ext cx="4114800" cy="741680"/>
        </p:xfrm>
        <a:graphic>
          <a:graphicData uri="http://schemas.openxmlformats.org/drawingml/2006/table">
            <a:tbl>
              <a:tblPr firstRow="1" bandRow="1">
                <a:tableStyleId>{7DF18680-E054-41AD-8BC1-D1AEF772440D}</a:tableStyleId>
              </a:tblPr>
              <a:tblGrid>
                <a:gridCol w="21031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仕入先</a:t>
                      </a:r>
                    </a:p>
                  </a:txBody>
                  <a:tcPr/>
                </a:tc>
                <a:tc>
                  <a:txBody>
                    <a:bodyPr/>
                    <a:lstStyle/>
                    <a:p>
                      <a:pPr algn="ctr"/>
                      <a:r>
                        <a:rPr kumimoji="1" lang="en-US" altLang="ja-JP" dirty="0">
                          <a:latin typeface="Meiryo UI" panose="020B0604030504040204" pitchFamily="50" charset="-128"/>
                          <a:ea typeface="Meiryo UI" panose="020B0604030504040204" pitchFamily="50" charset="-128"/>
                        </a:rPr>
                        <a:t>ZxxV2</a:t>
                      </a:r>
                      <a:endParaRPr kumimoji="1" lang="ja-JP" altLang="en-US"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001"/>
                  </a:ext>
                </a:extLst>
              </a:tr>
            </a:tbl>
          </a:graphicData>
        </a:graphic>
      </p:graphicFrame>
      <p:sp>
        <p:nvSpPr>
          <p:cNvPr id="15" name="正方形/長方形 14"/>
          <p:cNvSpPr/>
          <p:nvPr/>
        </p:nvSpPr>
        <p:spPr>
          <a:xfrm>
            <a:off x="741680" y="3322320"/>
            <a:ext cx="1249680" cy="2133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p:cNvPicPr>
            <a:picLocks noChangeAspect="1"/>
          </p:cNvPicPr>
          <p:nvPr/>
        </p:nvPicPr>
        <p:blipFill>
          <a:blip r:embed="rId3"/>
          <a:stretch>
            <a:fillRect/>
          </a:stretch>
        </p:blipFill>
        <p:spPr>
          <a:xfrm>
            <a:off x="5549124" y="1115166"/>
            <a:ext cx="3477646" cy="360000"/>
          </a:xfrm>
          <a:prstGeom prst="rect">
            <a:avLst/>
          </a:prstGeom>
        </p:spPr>
      </p:pic>
      <p:sp>
        <p:nvSpPr>
          <p:cNvPr id="8" name="正方形/長方形 7"/>
          <p:cNvSpPr/>
          <p:nvPr/>
        </p:nvSpPr>
        <p:spPr>
          <a:xfrm>
            <a:off x="7870097"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2493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見積依頼</a:t>
            </a: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登録</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見積依頼を保存します。右下にある保存ボタンをクリックします。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kumimoji="0" lang="ja-JP" altLang="en-US" dirty="0">
                <a:latin typeface="Meiryo UI" pitchFamily="50" charset="-128"/>
                <a:ea typeface="Meiryo UI" pitchFamily="50" charset="-128"/>
                <a:cs typeface="Meiryo UI" pitchFamily="50" charset="-128"/>
              </a:rPr>
              <a:t>画面左下に以下のメッセージが表示されます。番号は控えておいてください。</a:t>
            </a:r>
            <a:endParaRPr kumimoji="0"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９ ／ １１ ）</a:t>
            </a:r>
          </a:p>
        </p:txBody>
      </p:sp>
      <p:pic>
        <p:nvPicPr>
          <p:cNvPr id="8" name="図 7"/>
          <p:cNvPicPr>
            <a:picLocks noChangeAspect="1"/>
          </p:cNvPicPr>
          <p:nvPr/>
        </p:nvPicPr>
        <p:blipFill>
          <a:blip r:embed="rId2"/>
          <a:stretch>
            <a:fillRect/>
          </a:stretch>
        </p:blipFill>
        <p:spPr>
          <a:xfrm>
            <a:off x="198683" y="2080985"/>
            <a:ext cx="6353809" cy="3347667"/>
          </a:xfrm>
          <a:prstGeom prst="rect">
            <a:avLst/>
          </a:prstGeom>
        </p:spPr>
      </p:pic>
      <p:sp>
        <p:nvSpPr>
          <p:cNvPr id="9" name="正方形/長方形 8"/>
          <p:cNvSpPr/>
          <p:nvPr/>
        </p:nvSpPr>
        <p:spPr>
          <a:xfrm>
            <a:off x="5760012" y="5140960"/>
            <a:ext cx="355600" cy="2876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p:cNvPicPr>
            <a:picLocks noChangeAspect="1"/>
          </p:cNvPicPr>
          <p:nvPr/>
        </p:nvPicPr>
        <p:blipFill>
          <a:blip r:embed="rId3"/>
          <a:stretch>
            <a:fillRect/>
          </a:stretch>
        </p:blipFill>
        <p:spPr>
          <a:xfrm>
            <a:off x="198683" y="5818580"/>
            <a:ext cx="4248150" cy="628650"/>
          </a:xfrm>
          <a:prstGeom prst="rect">
            <a:avLst/>
          </a:prstGeom>
        </p:spPr>
      </p:pic>
      <p:pic>
        <p:nvPicPr>
          <p:cNvPr id="7" name="図 6"/>
          <p:cNvPicPr>
            <a:picLocks noChangeAspect="1"/>
          </p:cNvPicPr>
          <p:nvPr/>
        </p:nvPicPr>
        <p:blipFill>
          <a:blip r:embed="rId4"/>
          <a:stretch>
            <a:fillRect/>
          </a:stretch>
        </p:blipFill>
        <p:spPr>
          <a:xfrm>
            <a:off x="5549124" y="1115166"/>
            <a:ext cx="3477646" cy="360000"/>
          </a:xfrm>
          <a:prstGeom prst="rect">
            <a:avLst/>
          </a:prstGeom>
        </p:spPr>
      </p:pic>
      <p:sp>
        <p:nvSpPr>
          <p:cNvPr id="11" name="正方形/長方形 10"/>
          <p:cNvSpPr/>
          <p:nvPr/>
        </p:nvSpPr>
        <p:spPr>
          <a:xfrm>
            <a:off x="7870097"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89981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見積依頼</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登録</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同じ条件で複数社に対して見積依頼を出す場合は、仕入先コードをさらに入力します。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エンターを押すと、入力した仕入先コードに紐づき、住所等の情報がコピーされます。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kumimoji="0"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１０ ／ １１ ）</a:t>
            </a:r>
          </a:p>
        </p:txBody>
      </p:sp>
      <p:pic>
        <p:nvPicPr>
          <p:cNvPr id="11" name="図 10"/>
          <p:cNvPicPr>
            <a:picLocks noChangeAspect="1"/>
          </p:cNvPicPr>
          <p:nvPr/>
        </p:nvPicPr>
        <p:blipFill>
          <a:blip r:embed="rId2"/>
          <a:stretch>
            <a:fillRect/>
          </a:stretch>
        </p:blipFill>
        <p:spPr>
          <a:xfrm>
            <a:off x="198683" y="2509518"/>
            <a:ext cx="7725409" cy="4070329"/>
          </a:xfrm>
          <a:prstGeom prst="rect">
            <a:avLst/>
          </a:prstGeom>
        </p:spPr>
      </p:pic>
      <p:sp>
        <p:nvSpPr>
          <p:cNvPr id="13" name="正方形/長方形 12"/>
          <p:cNvSpPr/>
          <p:nvPr/>
        </p:nvSpPr>
        <p:spPr>
          <a:xfrm>
            <a:off x="761293" y="3638646"/>
            <a:ext cx="944880" cy="1815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4" name="表 13"/>
          <p:cNvGraphicFramePr>
            <a:graphicFrameLocks noGrp="1"/>
          </p:cNvGraphicFramePr>
          <p:nvPr>
            <p:extLst>
              <p:ext uri="{D42A27DB-BD31-4B8C-83A1-F6EECF244321}">
                <p14:modId xmlns:p14="http://schemas.microsoft.com/office/powerpoint/2010/main" val="734677611"/>
              </p:ext>
            </p:extLst>
          </p:nvPr>
        </p:nvGraphicFramePr>
        <p:xfrm>
          <a:off x="4593518" y="3821523"/>
          <a:ext cx="4114800" cy="741680"/>
        </p:xfrm>
        <a:graphic>
          <a:graphicData uri="http://schemas.openxmlformats.org/drawingml/2006/table">
            <a:tbl>
              <a:tblPr firstRow="1" bandRow="1">
                <a:tableStyleId>{7DF18680-E054-41AD-8BC1-D1AEF772440D}</a:tableStyleId>
              </a:tblPr>
              <a:tblGrid>
                <a:gridCol w="21031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仕入先</a:t>
                      </a:r>
                    </a:p>
                  </a:txBody>
                  <a:tcPr/>
                </a:tc>
                <a:tc>
                  <a:txBody>
                    <a:bodyPr/>
                    <a:lstStyle/>
                    <a:p>
                      <a:pPr algn="ctr"/>
                      <a:r>
                        <a:rPr kumimoji="1" lang="en-US" altLang="ja-JP" dirty="0" err="1">
                          <a:latin typeface="Meiryo UI" panose="020B0604030504040204" pitchFamily="50" charset="-128"/>
                          <a:ea typeface="Meiryo UI" panose="020B0604030504040204" pitchFamily="50" charset="-128"/>
                        </a:rPr>
                        <a:t>ZxxVZ</a:t>
                      </a:r>
                      <a:endParaRPr kumimoji="1" lang="ja-JP" altLang="en-US"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001"/>
                  </a:ext>
                </a:extLst>
              </a:tr>
            </a:tbl>
          </a:graphicData>
        </a:graphic>
      </p:graphicFrame>
      <p:pic>
        <p:nvPicPr>
          <p:cNvPr id="7" name="図 6"/>
          <p:cNvPicPr>
            <a:picLocks noChangeAspect="1"/>
          </p:cNvPicPr>
          <p:nvPr/>
        </p:nvPicPr>
        <p:blipFill>
          <a:blip r:embed="rId3"/>
          <a:stretch>
            <a:fillRect/>
          </a:stretch>
        </p:blipFill>
        <p:spPr>
          <a:xfrm>
            <a:off x="5549124" y="1115166"/>
            <a:ext cx="3477646" cy="360000"/>
          </a:xfrm>
          <a:prstGeom prst="rect">
            <a:avLst/>
          </a:prstGeom>
        </p:spPr>
      </p:pic>
      <p:sp>
        <p:nvSpPr>
          <p:cNvPr id="8" name="正方形/長方形 7"/>
          <p:cNvSpPr/>
          <p:nvPr/>
        </p:nvSpPr>
        <p:spPr>
          <a:xfrm>
            <a:off x="8466442"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98248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p:cNvPicPr>
            <a:picLocks noChangeAspect="1"/>
          </p:cNvPicPr>
          <p:nvPr/>
        </p:nvPicPr>
        <p:blipFill>
          <a:blip r:embed="rId2"/>
          <a:stretch>
            <a:fillRect/>
          </a:stretch>
        </p:blipFill>
        <p:spPr>
          <a:xfrm>
            <a:off x="198683" y="2080985"/>
            <a:ext cx="6353808" cy="3347667"/>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見積依頼</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登録</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見積依頼を保存します。右下にある保存ボタンをクリックします。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kumimoji="0" lang="ja-JP" altLang="en-US" dirty="0">
                <a:latin typeface="Meiryo UI" pitchFamily="50" charset="-128"/>
                <a:ea typeface="Meiryo UI" pitchFamily="50" charset="-128"/>
                <a:cs typeface="Meiryo UI" pitchFamily="50" charset="-128"/>
              </a:rPr>
              <a:t>画面左下に以下のメッセージが表示されます。番号は控えておいてください。</a:t>
            </a:r>
            <a:endParaRPr kumimoji="0"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６．２</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見積依頼の登録 （ １１ ／ １１ ）</a:t>
            </a:r>
          </a:p>
        </p:txBody>
      </p:sp>
      <p:sp>
        <p:nvSpPr>
          <p:cNvPr id="9" name="正方形/長方形 8"/>
          <p:cNvSpPr/>
          <p:nvPr/>
        </p:nvSpPr>
        <p:spPr>
          <a:xfrm>
            <a:off x="5760012" y="5140960"/>
            <a:ext cx="355600" cy="2876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p:cNvPicPr>
            <a:picLocks noChangeAspect="1"/>
          </p:cNvPicPr>
          <p:nvPr/>
        </p:nvPicPr>
        <p:blipFill>
          <a:blip r:embed="rId3"/>
          <a:stretch>
            <a:fillRect/>
          </a:stretch>
        </p:blipFill>
        <p:spPr>
          <a:xfrm>
            <a:off x="198683" y="5779546"/>
            <a:ext cx="4210050" cy="638175"/>
          </a:xfrm>
          <a:prstGeom prst="rect">
            <a:avLst/>
          </a:prstGeom>
        </p:spPr>
      </p:pic>
      <p:pic>
        <p:nvPicPr>
          <p:cNvPr id="7" name="図 6"/>
          <p:cNvPicPr>
            <a:picLocks noChangeAspect="1"/>
          </p:cNvPicPr>
          <p:nvPr/>
        </p:nvPicPr>
        <p:blipFill>
          <a:blip r:embed="rId4"/>
          <a:stretch>
            <a:fillRect/>
          </a:stretch>
        </p:blipFill>
        <p:spPr>
          <a:xfrm>
            <a:off x="5549124" y="1115166"/>
            <a:ext cx="3477646" cy="360000"/>
          </a:xfrm>
          <a:prstGeom prst="rect">
            <a:avLst/>
          </a:prstGeom>
        </p:spPr>
      </p:pic>
      <p:sp>
        <p:nvSpPr>
          <p:cNvPr id="8" name="正方形/長方形 7"/>
          <p:cNvSpPr/>
          <p:nvPr/>
        </p:nvSpPr>
        <p:spPr>
          <a:xfrm>
            <a:off x="8466442" y="1115166"/>
            <a:ext cx="55102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20326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購買管理プロセス分野における確認日程④</a:t>
            </a:r>
            <a:endParaRPr lang="en-US" altLang="ja-JP" dirty="0">
              <a:latin typeface="Meiryo UI" pitchFamily="50" charset="-128"/>
              <a:ea typeface="Meiryo UI" pitchFamily="50" charset="-128"/>
              <a:cs typeface="Meiryo UI" pitchFamily="50" charset="-128"/>
            </a:endParaRPr>
          </a:p>
          <a:p>
            <a:pPr eaLnBrk="0" hangingPunct="0">
              <a:spcBef>
                <a:spcPct val="20000"/>
              </a:spcBef>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09"/>
          <a:ext cx="8383982" cy="2989978"/>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61426">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26</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MM-4</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6. (XXXX)</a:t>
                      </a:r>
                      <a:r>
                        <a:rPr kumimoji="1" lang="ja-JP" altLang="en-US" sz="1400" dirty="0">
                          <a:latin typeface="Meiryo UI" pitchFamily="50" charset="-128"/>
                          <a:ea typeface="Meiryo UI" pitchFamily="50" charset="-128"/>
                          <a:cs typeface="Meiryo UI" pitchFamily="50" charset="-128"/>
                        </a:rPr>
                        <a:t>様における業務プロセスの確認</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633467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6.1 </a:t>
                      </a:r>
                      <a:r>
                        <a:rPr kumimoji="1" lang="ja-JP" altLang="en-US" sz="1400" dirty="0">
                          <a:latin typeface="Meiryo UI" pitchFamily="50" charset="-128"/>
                          <a:ea typeface="Meiryo UI" pitchFamily="50" charset="-128"/>
                          <a:cs typeface="Meiryo UI" pitchFamily="50" charset="-128"/>
                        </a:rPr>
                        <a:t>購買依頼の登録・承認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6.2 </a:t>
                      </a:r>
                      <a:r>
                        <a:rPr kumimoji="1" lang="ja-JP" altLang="en-US" sz="1400" dirty="0">
                          <a:latin typeface="Meiryo UI" pitchFamily="50" charset="-128"/>
                          <a:ea typeface="Meiryo UI" pitchFamily="50" charset="-128"/>
                          <a:cs typeface="Meiryo UI" pitchFamily="50" charset="-128"/>
                        </a:rPr>
                        <a:t>見積依頼の登録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6.3 </a:t>
                      </a:r>
                      <a:r>
                        <a:rPr kumimoji="1" lang="ja-JP" altLang="en-US" sz="1400" dirty="0">
                          <a:latin typeface="Meiryo UI" pitchFamily="50" charset="-128"/>
                          <a:ea typeface="Meiryo UI" pitchFamily="50" charset="-128"/>
                          <a:cs typeface="Meiryo UI" pitchFamily="50" charset="-128"/>
                        </a:rPr>
                        <a:t>見積回答の登録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6.4 </a:t>
                      </a:r>
                      <a:r>
                        <a:rPr kumimoji="1" lang="ja-JP" altLang="en-US" sz="1400" dirty="0">
                          <a:latin typeface="Meiryo UI" pitchFamily="50" charset="-128"/>
                          <a:ea typeface="Meiryo UI" pitchFamily="50" charset="-128"/>
                          <a:cs typeface="Meiryo UI" pitchFamily="50" charset="-128"/>
                        </a:rPr>
                        <a:t>見積結果の比較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6.5 </a:t>
                      </a:r>
                      <a:r>
                        <a:rPr kumimoji="1" lang="ja-JP" altLang="en-US" sz="1400" dirty="0">
                          <a:latin typeface="Meiryo UI" pitchFamily="50" charset="-128"/>
                          <a:ea typeface="Meiryo UI" pitchFamily="50" charset="-128"/>
                          <a:cs typeface="Meiryo UI" pitchFamily="50" charset="-128"/>
                        </a:rPr>
                        <a:t>購買発注の登録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6.6 </a:t>
                      </a:r>
                      <a:r>
                        <a:rPr kumimoji="1" lang="ja-JP" altLang="en-US" sz="1400" dirty="0">
                          <a:latin typeface="Meiryo UI" pitchFamily="50" charset="-128"/>
                          <a:ea typeface="Meiryo UI" pitchFamily="50" charset="-128"/>
                          <a:cs typeface="Meiryo UI" pitchFamily="50" charset="-128"/>
                        </a:rPr>
                        <a:t>購買発注の入庫</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6.7 </a:t>
                      </a:r>
                      <a:r>
                        <a:rPr kumimoji="1" lang="ja-JP" altLang="en-US" sz="1400" dirty="0">
                          <a:latin typeface="Meiryo UI" pitchFamily="50" charset="-128"/>
                          <a:ea typeface="Meiryo UI" pitchFamily="50" charset="-128"/>
                          <a:cs typeface="Meiryo UI" pitchFamily="50" charset="-128"/>
                        </a:rPr>
                        <a:t>自動請求書照合</a:t>
                      </a:r>
                      <a:r>
                        <a:rPr kumimoji="1" lang="en-US" altLang="ja-JP" sz="1400" dirty="0">
                          <a:latin typeface="Meiryo UI" pitchFamily="50" charset="-128"/>
                          <a:ea typeface="Meiryo UI" pitchFamily="50" charset="-128"/>
                          <a:cs typeface="Meiryo UI" pitchFamily="50" charset="-128"/>
                        </a:rPr>
                        <a:t>(ERS)</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70965439"/>
                  </a:ext>
                </a:extLst>
              </a:tr>
            </a:tbl>
          </a:graphicData>
        </a:graphic>
      </p:graphicFrame>
      <p:sp>
        <p:nvSpPr>
          <p:cNvPr id="5" name="正方形/長方形 4"/>
          <p:cNvSpPr/>
          <p:nvPr/>
        </p:nvSpPr>
        <p:spPr>
          <a:xfrm>
            <a:off x="198683" y="2832644"/>
            <a:ext cx="8368847" cy="3180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78422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フローチャート: 書類 251"/>
          <p:cNvSpPr/>
          <p:nvPr/>
        </p:nvSpPr>
        <p:spPr>
          <a:xfrm>
            <a:off x="5746649" y="6303143"/>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251" name="フローチャート: 書類 250"/>
          <p:cNvSpPr/>
          <p:nvPr/>
        </p:nvSpPr>
        <p:spPr>
          <a:xfrm>
            <a:off x="5653174" y="5537028"/>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見積回答の登録</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１ ／ １２ ）</a:t>
            </a:r>
            <a:endParaRPr kumimoji="1" lang="ja-JP" altLang="en-US" sz="2000" dirty="0">
              <a:latin typeface="Meiryo UI" pitchFamily="50" charset="-128"/>
              <a:ea typeface="Meiryo UI" pitchFamily="50" charset="-128"/>
              <a:cs typeface="Meiryo UI" pitchFamily="50" charset="-128"/>
            </a:endParaRPr>
          </a:p>
        </p:txBody>
      </p:sp>
      <p:sp>
        <p:nvSpPr>
          <p:cNvPr id="169" name="正方形/長方形 168"/>
          <p:cNvSpPr/>
          <p:nvPr/>
        </p:nvSpPr>
        <p:spPr>
          <a:xfrm>
            <a:off x="3690998" y="5990872"/>
            <a:ext cx="1635566" cy="61724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自動請求書照合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(ERS)</a:t>
            </a:r>
            <a:endParaRPr lang="ja-JP" altLang="en-US" sz="1600" dirty="0">
              <a:latin typeface="Meiryo UI" panose="020B0604030504040204" pitchFamily="50" charset="-128"/>
              <a:ea typeface="Meiryo UI" panose="020B0604030504040204" pitchFamily="50" charset="-128"/>
            </a:endParaRPr>
          </a:p>
        </p:txBody>
      </p:sp>
      <p:sp>
        <p:nvSpPr>
          <p:cNvPr id="170" name="フローチャート: 判断 169"/>
          <p:cNvSpPr/>
          <p:nvPr/>
        </p:nvSpPr>
        <p:spPr>
          <a:xfrm>
            <a:off x="4046538" y="1892364"/>
            <a:ext cx="914400" cy="612648"/>
          </a:xfrm>
          <a:prstGeom prst="flowChartDecision">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承認</a:t>
            </a:r>
          </a:p>
        </p:txBody>
      </p:sp>
      <p:sp>
        <p:nvSpPr>
          <p:cNvPr id="182" name="正方形/長方形 181"/>
          <p:cNvSpPr/>
          <p:nvPr/>
        </p:nvSpPr>
        <p:spPr>
          <a:xfrm>
            <a:off x="3690998" y="129410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購買依頼</a:t>
            </a:r>
            <a:endParaRPr lang="en-US" altLang="ja-JP" sz="1600" dirty="0">
              <a:latin typeface="Meiryo UI" panose="020B0604030504040204" pitchFamily="50" charset="-128"/>
              <a:ea typeface="Meiryo UI" panose="020B0604030504040204" pitchFamily="50" charset="-128"/>
            </a:endParaRPr>
          </a:p>
        </p:txBody>
      </p:sp>
      <p:sp>
        <p:nvSpPr>
          <p:cNvPr id="183" name="正方形/長方形 182"/>
          <p:cNvSpPr/>
          <p:nvPr/>
        </p:nvSpPr>
        <p:spPr>
          <a:xfrm>
            <a:off x="3685955" y="2687040"/>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見積依頼</a:t>
            </a:r>
            <a:endParaRPr lang="en-US" altLang="ja-JP" sz="1600" dirty="0">
              <a:latin typeface="Meiryo UI" panose="020B0604030504040204" pitchFamily="50" charset="-128"/>
              <a:ea typeface="Meiryo UI" panose="020B0604030504040204" pitchFamily="50" charset="-128"/>
            </a:endParaRPr>
          </a:p>
        </p:txBody>
      </p:sp>
      <p:sp>
        <p:nvSpPr>
          <p:cNvPr id="184" name="正方形/長方形 183"/>
          <p:cNvSpPr/>
          <p:nvPr/>
        </p:nvSpPr>
        <p:spPr>
          <a:xfrm>
            <a:off x="3685955" y="335007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見積回答</a:t>
            </a:r>
            <a:endParaRPr lang="en-US" altLang="ja-JP" sz="1600" dirty="0">
              <a:latin typeface="Meiryo UI" panose="020B0604030504040204" pitchFamily="50" charset="-128"/>
              <a:ea typeface="Meiryo UI" panose="020B0604030504040204" pitchFamily="50" charset="-128"/>
            </a:endParaRPr>
          </a:p>
        </p:txBody>
      </p:sp>
      <p:sp>
        <p:nvSpPr>
          <p:cNvPr id="185" name="正方形/長方形 184"/>
          <p:cNvSpPr/>
          <p:nvPr/>
        </p:nvSpPr>
        <p:spPr>
          <a:xfrm>
            <a:off x="3685955" y="4027243"/>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見積結果比較</a:t>
            </a:r>
            <a:endParaRPr lang="en-US" altLang="ja-JP" sz="1600" dirty="0">
              <a:latin typeface="Meiryo UI" panose="020B0604030504040204" pitchFamily="50" charset="-128"/>
              <a:ea typeface="Meiryo UI" panose="020B0604030504040204" pitchFamily="50" charset="-128"/>
            </a:endParaRPr>
          </a:p>
        </p:txBody>
      </p:sp>
      <p:sp>
        <p:nvSpPr>
          <p:cNvPr id="187" name="正方形/長方形 186"/>
          <p:cNvSpPr/>
          <p:nvPr/>
        </p:nvSpPr>
        <p:spPr>
          <a:xfrm>
            <a:off x="3678590" y="471966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購買発注</a:t>
            </a:r>
            <a:endParaRPr lang="en-US" altLang="ja-JP" sz="1600" dirty="0">
              <a:latin typeface="Meiryo UI" panose="020B0604030504040204" pitchFamily="50" charset="-128"/>
              <a:ea typeface="Meiryo UI" panose="020B0604030504040204" pitchFamily="50" charset="-128"/>
            </a:endParaRPr>
          </a:p>
        </p:txBody>
      </p:sp>
      <p:sp>
        <p:nvSpPr>
          <p:cNvPr id="188" name="正方形/長方形 187"/>
          <p:cNvSpPr/>
          <p:nvPr/>
        </p:nvSpPr>
        <p:spPr>
          <a:xfrm>
            <a:off x="3690463" y="537703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発注入庫</a:t>
            </a:r>
            <a:endParaRPr lang="en-US" altLang="ja-JP" sz="1600" dirty="0">
              <a:latin typeface="Meiryo UI" panose="020B0604030504040204" pitchFamily="50" charset="-128"/>
              <a:ea typeface="Meiryo UI" panose="020B0604030504040204" pitchFamily="50" charset="-128"/>
            </a:endParaRPr>
          </a:p>
        </p:txBody>
      </p:sp>
      <p:cxnSp>
        <p:nvCxnSpPr>
          <p:cNvPr id="190" name="直線矢印コネクタ 189"/>
          <p:cNvCxnSpPr>
            <a:stCxn id="182" idx="2"/>
            <a:endCxn id="170" idx="0"/>
          </p:cNvCxnSpPr>
          <p:nvPr/>
        </p:nvCxnSpPr>
        <p:spPr>
          <a:xfrm flipH="1">
            <a:off x="4503738" y="1723733"/>
            <a:ext cx="5043" cy="1686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矢印コネクタ 194"/>
          <p:cNvCxnSpPr>
            <a:stCxn id="170" idx="2"/>
            <a:endCxn id="183" idx="0"/>
          </p:cNvCxnSpPr>
          <p:nvPr/>
        </p:nvCxnSpPr>
        <p:spPr>
          <a:xfrm>
            <a:off x="4503738" y="2505012"/>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矢印コネクタ 199"/>
          <p:cNvCxnSpPr/>
          <p:nvPr/>
        </p:nvCxnSpPr>
        <p:spPr>
          <a:xfrm>
            <a:off x="4496373" y="3148547"/>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矢印コネクタ 200"/>
          <p:cNvCxnSpPr>
            <a:stCxn id="184" idx="2"/>
            <a:endCxn id="185" idx="0"/>
          </p:cNvCxnSpPr>
          <p:nvPr/>
        </p:nvCxnSpPr>
        <p:spPr>
          <a:xfrm>
            <a:off x="4503738" y="3779706"/>
            <a:ext cx="0" cy="247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矢印コネクタ 202"/>
          <p:cNvCxnSpPr>
            <a:endCxn id="187" idx="0"/>
          </p:cNvCxnSpPr>
          <p:nvPr/>
        </p:nvCxnSpPr>
        <p:spPr>
          <a:xfrm flipH="1">
            <a:off x="4496373" y="4468194"/>
            <a:ext cx="10644" cy="25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a:endCxn id="188" idx="0"/>
          </p:cNvCxnSpPr>
          <p:nvPr/>
        </p:nvCxnSpPr>
        <p:spPr>
          <a:xfrm flipH="1">
            <a:off x="4508246" y="5178223"/>
            <a:ext cx="2050" cy="1988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p:cNvCxnSpPr>
            <a:stCxn id="188" idx="2"/>
            <a:endCxn id="169" idx="0"/>
          </p:cNvCxnSpPr>
          <p:nvPr/>
        </p:nvCxnSpPr>
        <p:spPr>
          <a:xfrm>
            <a:off x="4508246" y="5806663"/>
            <a:ext cx="535" cy="184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角丸四角形 212"/>
          <p:cNvSpPr/>
          <p:nvPr/>
        </p:nvSpPr>
        <p:spPr>
          <a:xfrm>
            <a:off x="713289" y="2687040"/>
            <a:ext cx="1212884" cy="3951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A</a:t>
            </a:r>
            <a:endParaRPr kumimoji="1" lang="ja-JP" altLang="en-US" dirty="0"/>
          </a:p>
        </p:txBody>
      </p:sp>
      <p:sp>
        <p:nvSpPr>
          <p:cNvPr id="215" name="角丸四角形 214"/>
          <p:cNvSpPr/>
          <p:nvPr/>
        </p:nvSpPr>
        <p:spPr>
          <a:xfrm>
            <a:off x="7039941" y="2683844"/>
            <a:ext cx="1212884" cy="1749073"/>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B</a:t>
            </a:r>
            <a:endParaRPr kumimoji="1" lang="ja-JP" altLang="en-US" dirty="0"/>
          </a:p>
        </p:txBody>
      </p:sp>
      <p:cxnSp>
        <p:nvCxnSpPr>
          <p:cNvPr id="216" name="直線矢印コネクタ 215"/>
          <p:cNvCxnSpPr>
            <a:stCxn id="183" idx="1"/>
          </p:cNvCxnSpPr>
          <p:nvPr/>
        </p:nvCxnSpPr>
        <p:spPr>
          <a:xfrm flipH="1" flipV="1">
            <a:off x="1951038" y="2898900"/>
            <a:ext cx="1734917" cy="2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p:cNvCxnSpPr/>
          <p:nvPr/>
        </p:nvCxnSpPr>
        <p:spPr>
          <a:xfrm flipH="1" flipV="1">
            <a:off x="1951038" y="4905375"/>
            <a:ext cx="1708693" cy="24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矢印コネクタ 219"/>
          <p:cNvCxnSpPr>
            <a:stCxn id="215" idx="1"/>
          </p:cNvCxnSpPr>
          <p:nvPr/>
        </p:nvCxnSpPr>
        <p:spPr>
          <a:xfrm flipH="1">
            <a:off x="5310374" y="3558381"/>
            <a:ext cx="1729567" cy="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矢印コネクタ 220"/>
          <p:cNvCxnSpPr>
            <a:endCxn id="184" idx="1"/>
          </p:cNvCxnSpPr>
          <p:nvPr/>
        </p:nvCxnSpPr>
        <p:spPr>
          <a:xfrm>
            <a:off x="1951038" y="3558380"/>
            <a:ext cx="1734917" cy="65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224"/>
          <p:cNvCxnSpPr/>
          <p:nvPr/>
        </p:nvCxnSpPr>
        <p:spPr>
          <a:xfrm flipV="1">
            <a:off x="1935163" y="5475889"/>
            <a:ext cx="1743427" cy="70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矢印コネクタ 230"/>
          <p:cNvCxnSpPr/>
          <p:nvPr/>
        </p:nvCxnSpPr>
        <p:spPr>
          <a:xfrm flipH="1">
            <a:off x="1939671" y="5718175"/>
            <a:ext cx="1752696" cy="401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矢印コネクタ 234"/>
          <p:cNvCxnSpPr>
            <a:stCxn id="183" idx="3"/>
          </p:cNvCxnSpPr>
          <p:nvPr/>
        </p:nvCxnSpPr>
        <p:spPr>
          <a:xfrm flipV="1">
            <a:off x="5321521" y="2889047"/>
            <a:ext cx="1741563" cy="128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フローチャート: 書類 244"/>
          <p:cNvSpPr/>
          <p:nvPr/>
        </p:nvSpPr>
        <p:spPr>
          <a:xfrm>
            <a:off x="5166677" y="6258001"/>
            <a:ext cx="646510" cy="471757"/>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請求書</a:t>
            </a:r>
            <a:endParaRPr lang="en-US" altLang="ja-JP" sz="1200" dirty="0">
              <a:latin typeface="Meiryo UI" panose="020B0604030504040204" pitchFamily="50" charset="-128"/>
              <a:ea typeface="Meiryo UI" panose="020B0604030504040204" pitchFamily="50" charset="-128"/>
            </a:endParaRPr>
          </a:p>
        </p:txBody>
      </p:sp>
      <p:sp>
        <p:nvSpPr>
          <p:cNvPr id="246" name="フローチャート: 書類 245"/>
          <p:cNvSpPr/>
          <p:nvPr/>
        </p:nvSpPr>
        <p:spPr>
          <a:xfrm>
            <a:off x="5126426" y="5464485"/>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入庫</a:t>
            </a:r>
            <a:endParaRPr kumimoji="1" lang="ja-JP" altLang="en-US" sz="1200" dirty="0">
              <a:latin typeface="Meiryo UI" panose="020B0604030504040204" pitchFamily="50" charset="-128"/>
              <a:ea typeface="Meiryo UI" panose="020B0604030504040204" pitchFamily="50" charset="-128"/>
            </a:endParaRPr>
          </a:p>
        </p:txBody>
      </p:sp>
      <p:sp>
        <p:nvSpPr>
          <p:cNvPr id="247" name="フローチャート: 書類 246"/>
          <p:cNvSpPr/>
          <p:nvPr/>
        </p:nvSpPr>
        <p:spPr>
          <a:xfrm>
            <a:off x="2466603" y="4689290"/>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発注</a:t>
            </a:r>
            <a:endParaRPr kumimoji="1" lang="ja-JP" altLang="en-US" sz="1200" dirty="0">
              <a:latin typeface="Meiryo UI" panose="020B0604030504040204" pitchFamily="50" charset="-128"/>
              <a:ea typeface="Meiryo UI" panose="020B0604030504040204" pitchFamily="50" charset="-128"/>
            </a:endParaRPr>
          </a:p>
        </p:txBody>
      </p:sp>
      <p:sp>
        <p:nvSpPr>
          <p:cNvPr id="248" name="フローチャート: 書類 247"/>
          <p:cNvSpPr/>
          <p:nvPr/>
        </p:nvSpPr>
        <p:spPr>
          <a:xfrm>
            <a:off x="2472332" y="271392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latin typeface="Meiryo UI" panose="020B0604030504040204" pitchFamily="50" charset="-128"/>
                <a:ea typeface="Meiryo UI" panose="020B0604030504040204" pitchFamily="50" charset="-128"/>
              </a:rPr>
              <a:t>見積</a:t>
            </a: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49" name="フローチャート: 書類 248"/>
          <p:cNvSpPr/>
          <p:nvPr/>
        </p:nvSpPr>
        <p:spPr>
          <a:xfrm>
            <a:off x="5857476" y="2674237"/>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見積</a:t>
            </a:r>
            <a:r>
              <a:rPr lang="en-US" altLang="ja-JP" sz="1200" dirty="0">
                <a:latin typeface="Meiryo UI" panose="020B0604030504040204" pitchFamily="50" charset="-128"/>
                <a:ea typeface="Meiryo UI" panose="020B0604030504040204" pitchFamily="50" charset="-128"/>
              </a:rPr>
              <a:t>2</a:t>
            </a:r>
            <a:endParaRPr kumimoji="1" lang="ja-JP" altLang="en-US" sz="1200" dirty="0">
              <a:latin typeface="Meiryo UI" panose="020B0604030504040204" pitchFamily="50" charset="-128"/>
              <a:ea typeface="Meiryo UI" panose="020B0604030504040204" pitchFamily="50" charset="-128"/>
            </a:endParaRPr>
          </a:p>
        </p:txBody>
      </p:sp>
      <p:sp>
        <p:nvSpPr>
          <p:cNvPr id="250" name="フローチャート: 書類 249"/>
          <p:cNvSpPr/>
          <p:nvPr/>
        </p:nvSpPr>
        <p:spPr>
          <a:xfrm>
            <a:off x="4957867" y="151954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依頼</a:t>
            </a:r>
            <a:endParaRPr kumimoji="1" lang="ja-JP" altLang="en-US" sz="1200" dirty="0">
              <a:latin typeface="Meiryo UI" panose="020B0604030504040204" pitchFamily="50" charset="-128"/>
              <a:ea typeface="Meiryo UI" panose="020B0604030504040204" pitchFamily="50" charset="-128"/>
            </a:endParaRPr>
          </a:p>
        </p:txBody>
      </p:sp>
      <p:sp>
        <p:nvSpPr>
          <p:cNvPr id="265" name="1 つの角を切り取った四角形 264"/>
          <p:cNvSpPr/>
          <p:nvPr/>
        </p:nvSpPr>
        <p:spPr>
          <a:xfrm>
            <a:off x="2472497" y="3423022"/>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6" name="1 つの角を切り取った四角形 265"/>
          <p:cNvSpPr/>
          <p:nvPr/>
        </p:nvSpPr>
        <p:spPr>
          <a:xfrm>
            <a:off x="5851003" y="3453053"/>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7" name="1 つの角を切り取った四角形 266"/>
          <p:cNvSpPr/>
          <p:nvPr/>
        </p:nvSpPr>
        <p:spPr>
          <a:xfrm>
            <a:off x="2461882" y="5319657"/>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品目</a:t>
            </a:r>
          </a:p>
        </p:txBody>
      </p:sp>
      <p:sp>
        <p:nvSpPr>
          <p:cNvPr id="269" name="1 つの角を切り取った四角形 268"/>
          <p:cNvSpPr/>
          <p:nvPr/>
        </p:nvSpPr>
        <p:spPr>
          <a:xfrm>
            <a:off x="2458374" y="5751024"/>
            <a:ext cx="670276" cy="33411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検収書</a:t>
            </a:r>
          </a:p>
        </p:txBody>
      </p:sp>
      <p:sp>
        <p:nvSpPr>
          <p:cNvPr id="2" name="正方形/長方形 1"/>
          <p:cNvSpPr/>
          <p:nvPr/>
        </p:nvSpPr>
        <p:spPr>
          <a:xfrm>
            <a:off x="3504125" y="3247509"/>
            <a:ext cx="1931229" cy="6240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65654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Arial" panose="020B0604020202020204" pitchFamily="34" charset="0"/>
              <a:buChar char="•"/>
            </a:pPr>
            <a:r>
              <a:rPr lang="ja-JP" altLang="en-US" dirty="0">
                <a:latin typeface="Meiryo UI" pitchFamily="50" charset="-128"/>
                <a:ea typeface="Meiryo UI" pitchFamily="50" charset="-128"/>
                <a:cs typeface="Meiryo UI" pitchFamily="50" charset="-128"/>
              </a:rPr>
              <a:t>見積回答の登録</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登録して頂いた見積依頼伝票</a:t>
            </a:r>
            <a:r>
              <a:rPr lang="en-US" altLang="ja-JP" dirty="0">
                <a:latin typeface="Meiryo UI" pitchFamily="50" charset="-128"/>
                <a:ea typeface="Meiryo UI" pitchFamily="50" charset="-128"/>
                <a:cs typeface="Meiryo UI" pitchFamily="50" charset="-128"/>
              </a:rPr>
              <a:t>2</a:t>
            </a:r>
            <a:r>
              <a:rPr lang="ja-JP" altLang="en-US" dirty="0" err="1">
                <a:latin typeface="Meiryo UI" pitchFamily="50" charset="-128"/>
                <a:ea typeface="Meiryo UI" pitchFamily="50" charset="-128"/>
                <a:cs typeface="Meiryo UI" pitchFamily="50" charset="-128"/>
              </a:rPr>
              <a:t>つに</a:t>
            </a:r>
            <a:r>
              <a:rPr lang="ja-JP" altLang="en-US" dirty="0">
                <a:latin typeface="Meiryo UI" pitchFamily="50" charset="-128"/>
                <a:ea typeface="Meiryo UI" pitchFamily="50" charset="-128"/>
                <a:cs typeface="Meiryo UI" pitchFamily="50" charset="-128"/>
              </a:rPr>
              <a:t>仕入先からの回答結果を入力します。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以下の処理を</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伝票分行います。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結果比較するため、</a:t>
            </a: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伝票目と</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伝票目で金額と支払条件を変えて登録します。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登録手順</a:t>
            </a:r>
            <a:r>
              <a:rPr lang="en-US" altLang="ja-JP" dirty="0">
                <a:latin typeface="Meiryo UI" pitchFamily="50" charset="-128"/>
                <a:ea typeface="Meiryo UI" pitchFamily="50" charset="-128"/>
                <a:cs typeface="Meiryo UI" pitchFamily="50" charset="-128"/>
              </a:rPr>
              <a:t>】</a:t>
            </a:r>
          </a:p>
          <a:p>
            <a:pPr marL="285750" indent="-285750" eaLnBrk="0" hangingPunct="0">
              <a:lnSpc>
                <a:spcPct val="150000"/>
              </a:lnSpc>
              <a:spcBef>
                <a:spcPct val="20000"/>
              </a:spcBef>
              <a:buClr>
                <a:srgbClr val="002289"/>
              </a:buClr>
              <a:buSzPct val="113000"/>
              <a:buFont typeface="Arial" panose="020B0604020202020204" pitchFamily="34" charset="0"/>
              <a:buChar char="•"/>
            </a:pP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伝票目</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金額：</a:t>
            </a:r>
            <a:r>
              <a:rPr lang="en-US" altLang="ja-JP" dirty="0">
                <a:latin typeface="Meiryo UI" pitchFamily="50" charset="-128"/>
                <a:ea typeface="Meiryo UI" pitchFamily="50" charset="-128"/>
                <a:cs typeface="Meiryo UI" pitchFamily="50" charset="-128"/>
              </a:rPr>
              <a:t>9,800 </a:t>
            </a:r>
            <a:r>
              <a:rPr lang="ja-JP" altLang="en-US" dirty="0" err="1">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　支払条件：</a:t>
            </a:r>
            <a:r>
              <a:rPr lang="en-US" altLang="ja-JP" dirty="0">
                <a:latin typeface="Meiryo UI" pitchFamily="50" charset="-128"/>
                <a:ea typeface="Meiryo UI" pitchFamily="50" charset="-128"/>
                <a:cs typeface="Meiryo UI" pitchFamily="50" charset="-128"/>
              </a:rPr>
              <a:t>Z001)</a:t>
            </a:r>
          </a:p>
          <a:p>
            <a:pPr marL="285750" indent="-285750" eaLnBrk="0" hangingPunct="0">
              <a:lnSpc>
                <a:spcPct val="150000"/>
              </a:lnSpc>
              <a:spcBef>
                <a:spcPct val="20000"/>
              </a:spcBef>
              <a:buClr>
                <a:srgbClr val="002289"/>
              </a:buClr>
              <a:buSzPct val="113000"/>
              <a:buFont typeface="Arial" panose="020B0604020202020204" pitchFamily="34" charset="0"/>
              <a:buChar char="•"/>
            </a:pPr>
            <a:endParaRPr lang="en-US" altLang="ja-JP" dirty="0">
              <a:latin typeface="Meiryo UI" pitchFamily="50" charset="-128"/>
              <a:ea typeface="Meiryo UI" pitchFamily="50" charset="-128"/>
              <a:cs typeface="Meiryo UI" pitchFamily="50" charset="-128"/>
            </a:endParaRPr>
          </a:p>
          <a:p>
            <a:pPr marL="285750" indent="-285750" eaLnBrk="0" hangingPunct="0">
              <a:lnSpc>
                <a:spcPct val="150000"/>
              </a:lnSpc>
              <a:spcBef>
                <a:spcPct val="20000"/>
              </a:spcBef>
              <a:buClr>
                <a:srgbClr val="002289"/>
              </a:buClr>
              <a:buSzPct val="113000"/>
              <a:buFont typeface="Arial" panose="020B0604020202020204" pitchFamily="34" charset="0"/>
              <a:buChar char="•"/>
            </a:pPr>
            <a:endParaRPr lang="en-US" altLang="ja-JP" dirty="0">
              <a:latin typeface="Meiryo UI" pitchFamily="50" charset="-128"/>
              <a:ea typeface="Meiryo UI" pitchFamily="50" charset="-128"/>
              <a:cs typeface="Meiryo UI" pitchFamily="50" charset="-128"/>
            </a:endParaRPr>
          </a:p>
          <a:p>
            <a:pPr marL="285750" indent="-285750" eaLnBrk="0" hangingPunct="0">
              <a:lnSpc>
                <a:spcPct val="150000"/>
              </a:lnSpc>
              <a:spcBef>
                <a:spcPct val="20000"/>
              </a:spcBef>
              <a:buClr>
                <a:srgbClr val="002289"/>
              </a:buClr>
              <a:buSzPct val="113000"/>
              <a:buFont typeface="Arial" panose="020B0604020202020204" pitchFamily="34" charset="0"/>
              <a:buChar char="•"/>
            </a:pP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伝票目</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金額：</a:t>
            </a:r>
            <a:r>
              <a:rPr lang="en-US" altLang="ja-JP" dirty="0">
                <a:latin typeface="Meiryo UI" pitchFamily="50" charset="-128"/>
                <a:ea typeface="Meiryo UI" pitchFamily="50" charset="-128"/>
                <a:cs typeface="Meiryo UI" pitchFamily="50" charset="-128"/>
              </a:rPr>
              <a:t>10,000</a:t>
            </a:r>
            <a:r>
              <a:rPr lang="ja-JP" altLang="en-US" dirty="0">
                <a:latin typeface="Meiryo UI" pitchFamily="50" charset="-128"/>
                <a:ea typeface="Meiryo UI" pitchFamily="50" charset="-128"/>
                <a:cs typeface="Meiryo UI" pitchFamily="50" charset="-128"/>
              </a:rPr>
              <a:t>　、　支払条件：</a:t>
            </a:r>
            <a:r>
              <a:rPr lang="en-US" altLang="ja-JP" dirty="0">
                <a:latin typeface="Meiryo UI" pitchFamily="50" charset="-128"/>
                <a:ea typeface="Meiryo UI" pitchFamily="50" charset="-128"/>
                <a:cs typeface="Meiryo UI" pitchFamily="50" charset="-128"/>
              </a:rPr>
              <a:t>0001)</a:t>
            </a:r>
          </a:p>
        </p:txBody>
      </p:sp>
      <p:sp>
        <p:nvSpPr>
          <p:cNvPr id="11" name="角丸四角形 10"/>
          <p:cNvSpPr/>
          <p:nvPr/>
        </p:nvSpPr>
        <p:spPr>
          <a:xfrm>
            <a:off x="54240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①伝票起票</a:t>
            </a:r>
            <a:endParaRPr kumimoji="1" lang="ja-JP" altLang="en-US" sz="1400" dirty="0">
              <a:latin typeface="Meiryo UI" panose="020B0604030504040204" pitchFamily="50" charset="-128"/>
              <a:ea typeface="Meiryo UI" panose="020B0604030504040204"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２ ／ １２ ）</a:t>
            </a:r>
            <a:endParaRPr kumimoji="1" lang="ja-JP" altLang="en-US" sz="2000" dirty="0">
              <a:latin typeface="Meiryo UI" pitchFamily="50" charset="-128"/>
              <a:ea typeface="Meiryo UI" pitchFamily="50" charset="-128"/>
              <a:cs typeface="Meiryo UI" pitchFamily="50" charset="-128"/>
            </a:endParaRPr>
          </a:p>
        </p:txBody>
      </p:sp>
      <p:sp>
        <p:nvSpPr>
          <p:cNvPr id="24" name="角丸四角形 23"/>
          <p:cNvSpPr/>
          <p:nvPr/>
        </p:nvSpPr>
        <p:spPr>
          <a:xfrm>
            <a:off x="201834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②第一画面</a:t>
            </a:r>
            <a:endParaRPr kumimoji="1" lang="ja-JP" altLang="en-US" sz="1400" dirty="0">
              <a:latin typeface="Meiryo UI" panose="020B0604030504040204" pitchFamily="50" charset="-128"/>
              <a:ea typeface="Meiryo UI" panose="020B0604030504040204" pitchFamily="50" charset="-128"/>
            </a:endParaRPr>
          </a:p>
        </p:txBody>
      </p:sp>
      <p:sp>
        <p:nvSpPr>
          <p:cNvPr id="26" name="角丸四角形 25"/>
          <p:cNvSpPr/>
          <p:nvPr/>
        </p:nvSpPr>
        <p:spPr>
          <a:xfrm>
            <a:off x="349428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③明細概要</a:t>
            </a:r>
            <a:endParaRPr lang="en-US" altLang="ja-JP" sz="1400" dirty="0">
              <a:latin typeface="Meiryo UI" panose="020B0604030504040204" pitchFamily="50" charset="-128"/>
              <a:ea typeface="Meiryo UI" panose="020B0604030504040204" pitchFamily="50" charset="-128"/>
            </a:endParaRPr>
          </a:p>
        </p:txBody>
      </p:sp>
      <p:sp>
        <p:nvSpPr>
          <p:cNvPr id="28" name="角丸四角形 27"/>
          <p:cNvSpPr/>
          <p:nvPr/>
        </p:nvSpPr>
        <p:spPr>
          <a:xfrm>
            <a:off x="497022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④ヘッダ詳細</a:t>
            </a:r>
            <a:endParaRPr lang="en-US" altLang="ja-JP" sz="1400" dirty="0">
              <a:latin typeface="Meiryo UI" panose="020B0604030504040204" pitchFamily="50" charset="-128"/>
              <a:ea typeface="Meiryo UI" panose="020B0604030504040204" pitchFamily="50" charset="-128"/>
            </a:endParaRPr>
          </a:p>
        </p:txBody>
      </p:sp>
      <p:sp>
        <p:nvSpPr>
          <p:cNvPr id="29" name="角丸四角形 28"/>
          <p:cNvSpPr/>
          <p:nvPr/>
        </p:nvSpPr>
        <p:spPr>
          <a:xfrm>
            <a:off x="644616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⑤保存</a:t>
            </a:r>
            <a:endParaRPr lang="en-US" altLang="ja-JP" sz="1400" dirty="0">
              <a:latin typeface="Meiryo UI" panose="020B0604030504040204" pitchFamily="50" charset="-128"/>
              <a:ea typeface="Meiryo UI" panose="020B0604030504040204" pitchFamily="50" charset="-128"/>
            </a:endParaRPr>
          </a:p>
        </p:txBody>
      </p:sp>
      <p:sp>
        <p:nvSpPr>
          <p:cNvPr id="10" name="角丸四角形 9"/>
          <p:cNvSpPr/>
          <p:nvPr/>
        </p:nvSpPr>
        <p:spPr>
          <a:xfrm>
            <a:off x="542405" y="537009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①第一画面</a:t>
            </a:r>
            <a:endParaRPr kumimoji="1" lang="ja-JP" altLang="en-US" sz="1400" dirty="0">
              <a:latin typeface="Meiryo UI" panose="020B0604030504040204" pitchFamily="50" charset="-128"/>
              <a:ea typeface="Meiryo UI" panose="020B0604030504040204" pitchFamily="50" charset="-128"/>
            </a:endParaRPr>
          </a:p>
        </p:txBody>
      </p:sp>
      <p:sp>
        <p:nvSpPr>
          <p:cNvPr id="13" name="角丸四角形 12"/>
          <p:cNvSpPr/>
          <p:nvPr/>
        </p:nvSpPr>
        <p:spPr>
          <a:xfrm>
            <a:off x="2018345" y="537009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②明細概要</a:t>
            </a:r>
            <a:endParaRPr lang="en-US" altLang="ja-JP" sz="1400" dirty="0">
              <a:latin typeface="Meiryo UI" panose="020B0604030504040204" pitchFamily="50" charset="-128"/>
              <a:ea typeface="Meiryo UI" panose="020B0604030504040204" pitchFamily="50" charset="-128"/>
            </a:endParaRPr>
          </a:p>
        </p:txBody>
      </p:sp>
      <p:sp>
        <p:nvSpPr>
          <p:cNvPr id="14" name="角丸四角形 13"/>
          <p:cNvSpPr/>
          <p:nvPr/>
        </p:nvSpPr>
        <p:spPr>
          <a:xfrm>
            <a:off x="3494285" y="537009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③ヘッダ詳細</a:t>
            </a:r>
            <a:endParaRPr lang="en-US" altLang="ja-JP" sz="1400" dirty="0">
              <a:latin typeface="Meiryo UI" panose="020B0604030504040204" pitchFamily="50" charset="-128"/>
              <a:ea typeface="Meiryo UI" panose="020B0604030504040204" pitchFamily="50" charset="-128"/>
            </a:endParaRPr>
          </a:p>
        </p:txBody>
      </p:sp>
      <p:sp>
        <p:nvSpPr>
          <p:cNvPr id="15" name="角丸四角形 14"/>
          <p:cNvSpPr/>
          <p:nvPr/>
        </p:nvSpPr>
        <p:spPr>
          <a:xfrm>
            <a:off x="4970225" y="537009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④保存</a:t>
            </a:r>
            <a:endParaRPr lang="en-US" altLang="ja-JP" sz="1400" dirty="0">
              <a:latin typeface="Meiryo UI" panose="020B0604030504040204" pitchFamily="50" charset="-128"/>
              <a:ea typeface="Meiryo UI" panose="020B0604030504040204" pitchFamily="50" charset="-128"/>
            </a:endParaRPr>
          </a:p>
        </p:txBody>
      </p:sp>
      <p:sp>
        <p:nvSpPr>
          <p:cNvPr id="2" name="正方形/長方形 1"/>
          <p:cNvSpPr/>
          <p:nvPr/>
        </p:nvSpPr>
        <p:spPr>
          <a:xfrm>
            <a:off x="198683" y="3468756"/>
            <a:ext cx="7782439" cy="14809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71719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6165882" y="1115166"/>
            <a:ext cx="2851580" cy="360000"/>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伝票起票</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購買管理」→「購買管理」</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「見積依頼</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見積」→「見積」と遷移します。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ME47 –</a:t>
            </a:r>
            <a:r>
              <a:rPr lang="ja-JP" altLang="en-US" dirty="0">
                <a:latin typeface="Meiryo UI" pitchFamily="50" charset="-128"/>
                <a:ea typeface="Meiryo UI" pitchFamily="50" charset="-128"/>
                <a:cs typeface="Meiryo UI" pitchFamily="50" charset="-128"/>
              </a:rPr>
              <a:t> 更新」を選択、</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またはコマンド入力欄に</a:t>
            </a:r>
            <a:r>
              <a:rPr lang="en-US" altLang="ja-JP" dirty="0">
                <a:latin typeface="Meiryo UI" pitchFamily="50" charset="-128"/>
                <a:ea typeface="Meiryo UI" pitchFamily="50" charset="-128"/>
                <a:cs typeface="Meiryo UI" pitchFamily="50" charset="-128"/>
              </a:rPr>
              <a:t>’ME47’</a:t>
            </a:r>
            <a:r>
              <a:rPr lang="ja-JP" altLang="en-US" dirty="0">
                <a:latin typeface="Meiryo UI" pitchFamily="50" charset="-128"/>
                <a:ea typeface="Meiryo UI" pitchFamily="50" charset="-128"/>
                <a:cs typeface="Meiryo UI" pitchFamily="50" charset="-128"/>
              </a:rPr>
              <a:t>と入力します。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３ ／ １２ ）</a:t>
            </a:r>
            <a:endParaRPr kumimoji="1" lang="ja-JP" altLang="en-US" sz="2000" dirty="0">
              <a:latin typeface="Meiryo UI" pitchFamily="50" charset="-128"/>
              <a:ea typeface="Meiryo UI" pitchFamily="50" charset="-128"/>
              <a:cs typeface="Meiryo UI" pitchFamily="50" charset="-128"/>
            </a:endParaRPr>
          </a:p>
        </p:txBody>
      </p:sp>
      <p:pic>
        <p:nvPicPr>
          <p:cNvPr id="4" name="図 3"/>
          <p:cNvPicPr>
            <a:picLocks noChangeAspect="1"/>
          </p:cNvPicPr>
          <p:nvPr/>
        </p:nvPicPr>
        <p:blipFill>
          <a:blip r:embed="rId3"/>
          <a:stretch>
            <a:fillRect/>
          </a:stretch>
        </p:blipFill>
        <p:spPr>
          <a:xfrm>
            <a:off x="5059680" y="2034650"/>
            <a:ext cx="3667760" cy="4488160"/>
          </a:xfrm>
          <a:prstGeom prst="rect">
            <a:avLst/>
          </a:prstGeom>
        </p:spPr>
      </p:pic>
      <p:sp>
        <p:nvSpPr>
          <p:cNvPr id="6" name="正方形/長方形 5"/>
          <p:cNvSpPr/>
          <p:nvPr/>
        </p:nvSpPr>
        <p:spPr>
          <a:xfrm>
            <a:off x="6218958" y="6145523"/>
            <a:ext cx="1226418" cy="239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右カーブ矢印 6"/>
          <p:cNvSpPr/>
          <p:nvPr/>
        </p:nvSpPr>
        <p:spPr>
          <a:xfrm>
            <a:off x="5031742" y="3358320"/>
            <a:ext cx="312418" cy="949520"/>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8" name="右カーブ矢印 7"/>
          <p:cNvSpPr/>
          <p:nvPr/>
        </p:nvSpPr>
        <p:spPr>
          <a:xfrm>
            <a:off x="5231569" y="4278730"/>
            <a:ext cx="241935" cy="411689"/>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9" name="右カーブ矢印 8"/>
          <p:cNvSpPr/>
          <p:nvPr/>
        </p:nvSpPr>
        <p:spPr>
          <a:xfrm>
            <a:off x="5432210" y="4684892"/>
            <a:ext cx="172543" cy="254276"/>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0" name="右カーブ矢印 9"/>
          <p:cNvSpPr/>
          <p:nvPr/>
        </p:nvSpPr>
        <p:spPr>
          <a:xfrm>
            <a:off x="5452530" y="4897596"/>
            <a:ext cx="348534" cy="789824"/>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1" name="右カーブ矢印 10"/>
          <p:cNvSpPr/>
          <p:nvPr/>
        </p:nvSpPr>
        <p:spPr>
          <a:xfrm>
            <a:off x="5725135" y="5644372"/>
            <a:ext cx="185147" cy="471948"/>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3" name="右カーブ矢印 12"/>
          <p:cNvSpPr/>
          <p:nvPr/>
        </p:nvSpPr>
        <p:spPr>
          <a:xfrm>
            <a:off x="5934239" y="6078427"/>
            <a:ext cx="177528" cy="212023"/>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4" name="正方形/長方形 13"/>
          <p:cNvSpPr/>
          <p:nvPr/>
        </p:nvSpPr>
        <p:spPr>
          <a:xfrm>
            <a:off x="5366382" y="2133506"/>
            <a:ext cx="1857377" cy="2848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6165882" y="110500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8986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第一画面</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見積依頼番号を入力し、画面右下にある「概要」をクリックします。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４ ／ １２ ）</a:t>
            </a:r>
            <a:endParaRPr kumimoji="1" lang="ja-JP" altLang="en-US" sz="2000" dirty="0">
              <a:latin typeface="Meiryo UI" pitchFamily="50" charset="-128"/>
              <a:ea typeface="Meiryo UI" pitchFamily="50" charset="-128"/>
              <a:cs typeface="Meiryo UI" pitchFamily="50" charset="-128"/>
            </a:endParaRPr>
          </a:p>
        </p:txBody>
      </p:sp>
      <p:pic>
        <p:nvPicPr>
          <p:cNvPr id="2" name="図 1"/>
          <p:cNvPicPr>
            <a:picLocks noChangeAspect="1"/>
          </p:cNvPicPr>
          <p:nvPr/>
        </p:nvPicPr>
        <p:blipFill>
          <a:blip r:embed="rId2"/>
          <a:stretch>
            <a:fillRect/>
          </a:stretch>
        </p:blipFill>
        <p:spPr>
          <a:xfrm>
            <a:off x="198683" y="2099945"/>
            <a:ext cx="4982209" cy="4122658"/>
          </a:xfrm>
          <a:prstGeom prst="rect">
            <a:avLst/>
          </a:prstGeom>
        </p:spPr>
      </p:pic>
      <p:graphicFrame>
        <p:nvGraphicFramePr>
          <p:cNvPr id="3" name="表 2"/>
          <p:cNvGraphicFramePr>
            <a:graphicFrameLocks noGrp="1"/>
          </p:cNvGraphicFramePr>
          <p:nvPr>
            <p:extLst>
              <p:ext uri="{D42A27DB-BD31-4B8C-83A1-F6EECF244321}">
                <p14:modId xmlns:p14="http://schemas.microsoft.com/office/powerpoint/2010/main" val="1524730610"/>
              </p:ext>
            </p:extLst>
          </p:nvPr>
        </p:nvGraphicFramePr>
        <p:xfrm>
          <a:off x="4226560" y="3570556"/>
          <a:ext cx="4348480" cy="741680"/>
        </p:xfrm>
        <a:graphic>
          <a:graphicData uri="http://schemas.openxmlformats.org/drawingml/2006/table">
            <a:tbl>
              <a:tblPr firstRow="1" bandRow="1">
                <a:tableStyleId>{7DF18680-E054-41AD-8BC1-D1AEF772440D}</a:tableStyleId>
              </a:tblPr>
              <a:tblGrid>
                <a:gridCol w="221488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見積依頼番号</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回目に控えた番号</a:t>
                      </a:r>
                    </a:p>
                  </a:txBody>
                  <a:tcPr anchor="ctr"/>
                </a:tc>
                <a:extLst>
                  <a:ext uri="{0D108BD9-81ED-4DB2-BD59-A6C34878D82A}">
                    <a16:rowId xmlns:a16="http://schemas.microsoft.com/office/drawing/2014/main" val="10001"/>
                  </a:ext>
                </a:extLst>
              </a:tr>
            </a:tbl>
          </a:graphicData>
        </a:graphic>
      </p:graphicFrame>
      <p:sp>
        <p:nvSpPr>
          <p:cNvPr id="15" name="正方形/長方形 14"/>
          <p:cNvSpPr/>
          <p:nvPr/>
        </p:nvSpPr>
        <p:spPr>
          <a:xfrm>
            <a:off x="863600" y="4161274"/>
            <a:ext cx="2296160" cy="3599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p:nvSpPr>
        <p:spPr>
          <a:xfrm>
            <a:off x="4511040" y="5675114"/>
            <a:ext cx="599440" cy="4818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3"/>
          <a:stretch>
            <a:fillRect/>
          </a:stretch>
        </p:blipFill>
        <p:spPr>
          <a:xfrm>
            <a:off x="6165882" y="1115166"/>
            <a:ext cx="2851580" cy="360000"/>
          </a:xfrm>
          <a:prstGeom prst="rect">
            <a:avLst/>
          </a:prstGeom>
        </p:spPr>
      </p:pic>
      <p:sp>
        <p:nvSpPr>
          <p:cNvPr id="9" name="正方形/長方形 8"/>
          <p:cNvSpPr/>
          <p:nvPr/>
        </p:nvSpPr>
        <p:spPr>
          <a:xfrm>
            <a:off x="6722471" y="110500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01713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明細概要</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明細概要の画面へ遷移します。正味価格を入力します。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入力後、「ヘッダ詳細」ボタンをクリックします。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５ ／ １２ ）</a:t>
            </a:r>
            <a:endParaRPr kumimoji="1" lang="ja-JP" altLang="en-US" sz="2000" dirty="0">
              <a:latin typeface="Meiryo UI" pitchFamily="50" charset="-128"/>
              <a:ea typeface="Meiryo UI" pitchFamily="50" charset="-128"/>
              <a:cs typeface="Meiryo UI" pitchFamily="50" charset="-128"/>
            </a:endParaRPr>
          </a:p>
        </p:txBody>
      </p:sp>
      <p:pic>
        <p:nvPicPr>
          <p:cNvPr id="4" name="図 3"/>
          <p:cNvPicPr>
            <a:picLocks noChangeAspect="1"/>
          </p:cNvPicPr>
          <p:nvPr/>
        </p:nvPicPr>
        <p:blipFill>
          <a:blip r:embed="rId2"/>
          <a:stretch>
            <a:fillRect/>
          </a:stretch>
        </p:blipFill>
        <p:spPr>
          <a:xfrm>
            <a:off x="198683" y="2560320"/>
            <a:ext cx="8774474" cy="2367280"/>
          </a:xfrm>
          <a:prstGeom prst="rect">
            <a:avLst/>
          </a:prstGeom>
        </p:spPr>
      </p:pic>
      <p:graphicFrame>
        <p:nvGraphicFramePr>
          <p:cNvPr id="6" name="表 5"/>
          <p:cNvGraphicFramePr>
            <a:graphicFrameLocks noGrp="1"/>
          </p:cNvGraphicFramePr>
          <p:nvPr>
            <p:extLst>
              <p:ext uri="{D42A27DB-BD31-4B8C-83A1-F6EECF244321}">
                <p14:modId xmlns:p14="http://schemas.microsoft.com/office/powerpoint/2010/main" val="644315541"/>
              </p:ext>
            </p:extLst>
          </p:nvPr>
        </p:nvGraphicFramePr>
        <p:xfrm>
          <a:off x="4490720" y="4556760"/>
          <a:ext cx="3373120" cy="741680"/>
        </p:xfrm>
        <a:graphic>
          <a:graphicData uri="http://schemas.openxmlformats.org/drawingml/2006/table">
            <a:tbl>
              <a:tblPr firstRow="1" bandRow="1">
                <a:tableStyleId>{7DF18680-E054-41AD-8BC1-D1AEF772440D}</a:tableStyleId>
              </a:tblPr>
              <a:tblGrid>
                <a:gridCol w="1686560">
                  <a:extLst>
                    <a:ext uri="{9D8B030D-6E8A-4147-A177-3AD203B41FA5}">
                      <a16:colId xmlns:a16="http://schemas.microsoft.com/office/drawing/2014/main" val="20000"/>
                    </a:ext>
                  </a:extLst>
                </a:gridCol>
                <a:gridCol w="168656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正味価格</a:t>
                      </a:r>
                    </a:p>
                  </a:txBody>
                  <a:tcPr/>
                </a:tc>
                <a:tc>
                  <a:txBody>
                    <a:bodyPr/>
                    <a:lstStyle/>
                    <a:p>
                      <a:pPr algn="ctr"/>
                      <a:r>
                        <a:rPr kumimoji="1" lang="en-US" altLang="ja-JP" dirty="0">
                          <a:latin typeface="Meiryo UI" panose="020B0604030504040204" pitchFamily="50" charset="-128"/>
                          <a:ea typeface="Meiryo UI" panose="020B0604030504040204" pitchFamily="50" charset="-128"/>
                        </a:rPr>
                        <a:t>9,800</a:t>
                      </a:r>
                      <a:endParaRPr kumimoji="1" lang="ja-JP" altLang="en-US"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001"/>
                  </a:ext>
                </a:extLst>
              </a:tr>
            </a:tbl>
          </a:graphicData>
        </a:graphic>
      </p:graphicFrame>
      <p:sp>
        <p:nvSpPr>
          <p:cNvPr id="7" name="正方形/長方形 6"/>
          <p:cNvSpPr/>
          <p:nvPr/>
        </p:nvSpPr>
        <p:spPr>
          <a:xfrm>
            <a:off x="4185920" y="2997200"/>
            <a:ext cx="609600" cy="2844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3677920" y="4287520"/>
            <a:ext cx="782320" cy="1930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3"/>
          <a:stretch>
            <a:fillRect/>
          </a:stretch>
        </p:blipFill>
        <p:spPr>
          <a:xfrm>
            <a:off x="6165882" y="1115166"/>
            <a:ext cx="2851580" cy="360000"/>
          </a:xfrm>
          <a:prstGeom prst="rect">
            <a:avLst/>
          </a:prstGeom>
        </p:spPr>
      </p:pic>
      <p:sp>
        <p:nvSpPr>
          <p:cNvPr id="9" name="正方形/長方形 8"/>
          <p:cNvSpPr/>
          <p:nvPr/>
        </p:nvSpPr>
        <p:spPr>
          <a:xfrm>
            <a:off x="7301591" y="110500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864559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ヘッダ詳細</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ヘッダ詳細の画面へ遷移します。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６ ／ １２ ）</a:t>
            </a:r>
            <a:endParaRPr kumimoji="1" lang="ja-JP" altLang="en-US" sz="2000" dirty="0">
              <a:latin typeface="Meiryo UI" pitchFamily="50" charset="-128"/>
              <a:ea typeface="Meiryo UI" pitchFamily="50" charset="-128"/>
              <a:cs typeface="Meiryo UI" pitchFamily="50" charset="-128"/>
            </a:endParaRPr>
          </a:p>
        </p:txBody>
      </p:sp>
      <p:pic>
        <p:nvPicPr>
          <p:cNvPr id="2" name="図 1"/>
          <p:cNvPicPr>
            <a:picLocks noChangeAspect="1"/>
          </p:cNvPicPr>
          <p:nvPr/>
        </p:nvPicPr>
        <p:blipFill>
          <a:blip r:embed="rId2"/>
          <a:stretch>
            <a:fillRect/>
          </a:stretch>
        </p:blipFill>
        <p:spPr>
          <a:xfrm>
            <a:off x="198683" y="2079279"/>
            <a:ext cx="6882129" cy="3724235"/>
          </a:xfrm>
          <a:prstGeom prst="rect">
            <a:avLst/>
          </a:prstGeom>
        </p:spPr>
      </p:pic>
      <p:pic>
        <p:nvPicPr>
          <p:cNvPr id="5" name="図 4"/>
          <p:cNvPicPr>
            <a:picLocks noChangeAspect="1"/>
          </p:cNvPicPr>
          <p:nvPr/>
        </p:nvPicPr>
        <p:blipFill>
          <a:blip r:embed="rId3"/>
          <a:stretch>
            <a:fillRect/>
          </a:stretch>
        </p:blipFill>
        <p:spPr>
          <a:xfrm>
            <a:off x="6165882" y="1115166"/>
            <a:ext cx="2851580" cy="360000"/>
          </a:xfrm>
          <a:prstGeom prst="rect">
            <a:avLst/>
          </a:prstGeom>
        </p:spPr>
      </p:pic>
      <p:sp>
        <p:nvSpPr>
          <p:cNvPr id="6" name="正方形/長方形 5"/>
          <p:cNvSpPr/>
          <p:nvPr/>
        </p:nvSpPr>
        <p:spPr>
          <a:xfrm>
            <a:off x="7880711" y="110500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414323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保存</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画面右下の「保存」ボタンをクリックします。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画面左下に以下のメッセージが表示されます。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７ ／ １２ ）</a:t>
            </a:r>
            <a:endParaRPr kumimoji="1" lang="ja-JP" altLang="en-US" sz="2000" dirty="0">
              <a:latin typeface="Meiryo UI" pitchFamily="50" charset="-128"/>
              <a:ea typeface="Meiryo UI" pitchFamily="50" charset="-128"/>
              <a:cs typeface="Meiryo UI" pitchFamily="50" charset="-128"/>
            </a:endParaRPr>
          </a:p>
        </p:txBody>
      </p:sp>
      <p:pic>
        <p:nvPicPr>
          <p:cNvPr id="4" name="図 3"/>
          <p:cNvPicPr>
            <a:picLocks noChangeAspect="1"/>
          </p:cNvPicPr>
          <p:nvPr/>
        </p:nvPicPr>
        <p:blipFill>
          <a:blip r:embed="rId2"/>
          <a:stretch>
            <a:fillRect/>
          </a:stretch>
        </p:blipFill>
        <p:spPr>
          <a:xfrm>
            <a:off x="260351" y="2100820"/>
            <a:ext cx="6038849" cy="3267897"/>
          </a:xfrm>
          <a:prstGeom prst="rect">
            <a:avLst/>
          </a:prstGeom>
        </p:spPr>
      </p:pic>
      <p:pic>
        <p:nvPicPr>
          <p:cNvPr id="6" name="図 5"/>
          <p:cNvPicPr>
            <a:picLocks noChangeAspect="1"/>
          </p:cNvPicPr>
          <p:nvPr/>
        </p:nvPicPr>
        <p:blipFill>
          <a:blip r:embed="rId3"/>
          <a:stretch>
            <a:fillRect/>
          </a:stretch>
        </p:blipFill>
        <p:spPr>
          <a:xfrm>
            <a:off x="260351" y="5824631"/>
            <a:ext cx="4162425" cy="666750"/>
          </a:xfrm>
          <a:prstGeom prst="rect">
            <a:avLst/>
          </a:prstGeom>
        </p:spPr>
      </p:pic>
      <p:pic>
        <p:nvPicPr>
          <p:cNvPr id="7" name="図 6"/>
          <p:cNvPicPr>
            <a:picLocks noChangeAspect="1"/>
          </p:cNvPicPr>
          <p:nvPr/>
        </p:nvPicPr>
        <p:blipFill>
          <a:blip r:embed="rId4"/>
          <a:stretch>
            <a:fillRect/>
          </a:stretch>
        </p:blipFill>
        <p:spPr>
          <a:xfrm>
            <a:off x="6165882" y="1115166"/>
            <a:ext cx="2851580" cy="360000"/>
          </a:xfrm>
          <a:prstGeom prst="rect">
            <a:avLst/>
          </a:prstGeom>
        </p:spPr>
      </p:pic>
      <p:sp>
        <p:nvSpPr>
          <p:cNvPr id="8" name="正方形/長方形 7"/>
          <p:cNvSpPr/>
          <p:nvPr/>
        </p:nvSpPr>
        <p:spPr>
          <a:xfrm>
            <a:off x="8452211" y="110500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967075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Arial" panose="020B0604020202020204" pitchFamily="34" charset="0"/>
              <a:buChar char="•"/>
            </a:pPr>
            <a:r>
              <a:rPr lang="ja-JP" altLang="en-US" dirty="0">
                <a:latin typeface="Meiryo UI" pitchFamily="50" charset="-128"/>
                <a:ea typeface="Meiryo UI" pitchFamily="50" charset="-128"/>
                <a:cs typeface="Meiryo UI" pitchFamily="50" charset="-128"/>
              </a:rPr>
              <a:t>見積回答の登録</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登録して頂いた見積依頼伝票</a:t>
            </a:r>
            <a:r>
              <a:rPr lang="en-US" altLang="ja-JP" dirty="0">
                <a:latin typeface="Meiryo UI" pitchFamily="50" charset="-128"/>
                <a:ea typeface="Meiryo UI" pitchFamily="50" charset="-128"/>
                <a:cs typeface="Meiryo UI" pitchFamily="50" charset="-128"/>
              </a:rPr>
              <a:t>2</a:t>
            </a:r>
            <a:r>
              <a:rPr lang="ja-JP" altLang="en-US" dirty="0" err="1">
                <a:latin typeface="Meiryo UI" pitchFamily="50" charset="-128"/>
                <a:ea typeface="Meiryo UI" pitchFamily="50" charset="-128"/>
                <a:cs typeface="Meiryo UI" pitchFamily="50" charset="-128"/>
              </a:rPr>
              <a:t>つに</a:t>
            </a:r>
            <a:r>
              <a:rPr lang="ja-JP" altLang="en-US" dirty="0">
                <a:latin typeface="Meiryo UI" pitchFamily="50" charset="-128"/>
                <a:ea typeface="Meiryo UI" pitchFamily="50" charset="-128"/>
                <a:cs typeface="Meiryo UI" pitchFamily="50" charset="-128"/>
              </a:rPr>
              <a:t>仕入先からの回答結果を入力します。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以下の処理を</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伝票分行います。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結果比較するため、</a:t>
            </a: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伝票目と</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伝票目で金額と支払条件を変えて登録します。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登録手順</a:t>
            </a:r>
            <a:r>
              <a:rPr lang="en-US" altLang="ja-JP" dirty="0">
                <a:latin typeface="Meiryo UI" pitchFamily="50" charset="-128"/>
                <a:ea typeface="Meiryo UI" pitchFamily="50" charset="-128"/>
                <a:cs typeface="Meiryo UI" pitchFamily="50" charset="-128"/>
              </a:rPr>
              <a:t>】</a:t>
            </a:r>
          </a:p>
          <a:p>
            <a:pPr marL="285750" indent="-285750" eaLnBrk="0" hangingPunct="0">
              <a:lnSpc>
                <a:spcPct val="150000"/>
              </a:lnSpc>
              <a:spcBef>
                <a:spcPct val="20000"/>
              </a:spcBef>
              <a:buClr>
                <a:srgbClr val="002289"/>
              </a:buClr>
              <a:buSzPct val="113000"/>
              <a:buFont typeface="Arial" panose="020B0604020202020204" pitchFamily="34" charset="0"/>
              <a:buChar char="•"/>
            </a:pP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伝票目</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金額：</a:t>
            </a:r>
            <a:r>
              <a:rPr lang="en-US" altLang="ja-JP" dirty="0">
                <a:latin typeface="Meiryo UI" pitchFamily="50" charset="-128"/>
                <a:ea typeface="Meiryo UI" pitchFamily="50" charset="-128"/>
                <a:cs typeface="Meiryo UI" pitchFamily="50" charset="-128"/>
              </a:rPr>
              <a:t>9,800 </a:t>
            </a:r>
            <a:r>
              <a:rPr lang="ja-JP" altLang="en-US" dirty="0" err="1">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　支払条件：</a:t>
            </a:r>
            <a:r>
              <a:rPr lang="en-US" altLang="ja-JP" dirty="0">
                <a:latin typeface="Meiryo UI" pitchFamily="50" charset="-128"/>
                <a:ea typeface="Meiryo UI" pitchFamily="50" charset="-128"/>
                <a:cs typeface="Meiryo UI" pitchFamily="50" charset="-128"/>
              </a:rPr>
              <a:t>Z001)</a:t>
            </a:r>
          </a:p>
          <a:p>
            <a:pPr marL="285750" indent="-285750" eaLnBrk="0" hangingPunct="0">
              <a:lnSpc>
                <a:spcPct val="150000"/>
              </a:lnSpc>
              <a:spcBef>
                <a:spcPct val="20000"/>
              </a:spcBef>
              <a:buClr>
                <a:srgbClr val="002289"/>
              </a:buClr>
              <a:buSzPct val="113000"/>
              <a:buFont typeface="Arial" panose="020B0604020202020204" pitchFamily="34" charset="0"/>
              <a:buChar char="•"/>
            </a:pPr>
            <a:endParaRPr lang="en-US" altLang="ja-JP" dirty="0">
              <a:latin typeface="Meiryo UI" pitchFamily="50" charset="-128"/>
              <a:ea typeface="Meiryo UI" pitchFamily="50" charset="-128"/>
              <a:cs typeface="Meiryo UI" pitchFamily="50" charset="-128"/>
            </a:endParaRPr>
          </a:p>
          <a:p>
            <a:pPr marL="285750" indent="-285750" eaLnBrk="0" hangingPunct="0">
              <a:lnSpc>
                <a:spcPct val="150000"/>
              </a:lnSpc>
              <a:spcBef>
                <a:spcPct val="20000"/>
              </a:spcBef>
              <a:buClr>
                <a:srgbClr val="002289"/>
              </a:buClr>
              <a:buSzPct val="113000"/>
              <a:buFont typeface="Arial" panose="020B0604020202020204" pitchFamily="34" charset="0"/>
              <a:buChar char="•"/>
            </a:pPr>
            <a:endParaRPr lang="en-US" altLang="ja-JP" dirty="0">
              <a:latin typeface="Meiryo UI" pitchFamily="50" charset="-128"/>
              <a:ea typeface="Meiryo UI" pitchFamily="50" charset="-128"/>
              <a:cs typeface="Meiryo UI" pitchFamily="50" charset="-128"/>
            </a:endParaRPr>
          </a:p>
          <a:p>
            <a:pPr marL="285750" indent="-285750" eaLnBrk="0" hangingPunct="0">
              <a:lnSpc>
                <a:spcPct val="150000"/>
              </a:lnSpc>
              <a:spcBef>
                <a:spcPct val="20000"/>
              </a:spcBef>
              <a:buClr>
                <a:srgbClr val="002289"/>
              </a:buClr>
              <a:buSzPct val="113000"/>
              <a:buFont typeface="Arial" panose="020B0604020202020204" pitchFamily="34" charset="0"/>
              <a:buChar char="•"/>
            </a:pP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伝票目</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金額：</a:t>
            </a:r>
            <a:r>
              <a:rPr lang="en-US" altLang="ja-JP" dirty="0">
                <a:latin typeface="Meiryo UI" pitchFamily="50" charset="-128"/>
                <a:ea typeface="Meiryo UI" pitchFamily="50" charset="-128"/>
                <a:cs typeface="Meiryo UI" pitchFamily="50" charset="-128"/>
              </a:rPr>
              <a:t>10,000</a:t>
            </a:r>
            <a:r>
              <a:rPr lang="ja-JP" altLang="en-US" dirty="0">
                <a:latin typeface="Meiryo UI" pitchFamily="50" charset="-128"/>
                <a:ea typeface="Meiryo UI" pitchFamily="50" charset="-128"/>
                <a:cs typeface="Meiryo UI" pitchFamily="50" charset="-128"/>
              </a:rPr>
              <a:t>　、　支払条件：</a:t>
            </a:r>
            <a:r>
              <a:rPr lang="en-US" altLang="ja-JP" dirty="0">
                <a:latin typeface="Meiryo UI" pitchFamily="50" charset="-128"/>
                <a:ea typeface="Meiryo UI" pitchFamily="50" charset="-128"/>
                <a:cs typeface="Meiryo UI" pitchFamily="50" charset="-128"/>
              </a:rPr>
              <a:t>0001)</a:t>
            </a:r>
          </a:p>
        </p:txBody>
      </p:sp>
      <p:sp>
        <p:nvSpPr>
          <p:cNvPr id="11" name="角丸四角形 10"/>
          <p:cNvSpPr/>
          <p:nvPr/>
        </p:nvSpPr>
        <p:spPr>
          <a:xfrm>
            <a:off x="54240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①伝票起票</a:t>
            </a:r>
            <a:endParaRPr kumimoji="1" lang="ja-JP" altLang="en-US" sz="1400" dirty="0">
              <a:latin typeface="Meiryo UI" panose="020B0604030504040204" pitchFamily="50" charset="-128"/>
              <a:ea typeface="Meiryo UI" panose="020B0604030504040204"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８ ／ １２ ）</a:t>
            </a:r>
            <a:endParaRPr kumimoji="1" lang="ja-JP" altLang="en-US" sz="2000" dirty="0">
              <a:latin typeface="Meiryo UI" pitchFamily="50" charset="-128"/>
              <a:ea typeface="Meiryo UI" pitchFamily="50" charset="-128"/>
              <a:cs typeface="Meiryo UI" pitchFamily="50" charset="-128"/>
            </a:endParaRPr>
          </a:p>
        </p:txBody>
      </p:sp>
      <p:sp>
        <p:nvSpPr>
          <p:cNvPr id="24" name="角丸四角形 23"/>
          <p:cNvSpPr/>
          <p:nvPr/>
        </p:nvSpPr>
        <p:spPr>
          <a:xfrm>
            <a:off x="201834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②第一画面</a:t>
            </a:r>
            <a:endParaRPr kumimoji="1" lang="ja-JP" altLang="en-US" sz="1400" dirty="0">
              <a:latin typeface="Meiryo UI" panose="020B0604030504040204" pitchFamily="50" charset="-128"/>
              <a:ea typeface="Meiryo UI" panose="020B0604030504040204" pitchFamily="50" charset="-128"/>
            </a:endParaRPr>
          </a:p>
        </p:txBody>
      </p:sp>
      <p:sp>
        <p:nvSpPr>
          <p:cNvPr id="26" name="角丸四角形 25"/>
          <p:cNvSpPr/>
          <p:nvPr/>
        </p:nvSpPr>
        <p:spPr>
          <a:xfrm>
            <a:off x="349428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③明細概要</a:t>
            </a:r>
            <a:endParaRPr lang="en-US" altLang="ja-JP" sz="1400" dirty="0">
              <a:latin typeface="Meiryo UI" panose="020B0604030504040204" pitchFamily="50" charset="-128"/>
              <a:ea typeface="Meiryo UI" panose="020B0604030504040204" pitchFamily="50" charset="-128"/>
            </a:endParaRPr>
          </a:p>
        </p:txBody>
      </p:sp>
      <p:sp>
        <p:nvSpPr>
          <p:cNvPr id="28" name="角丸四角形 27"/>
          <p:cNvSpPr/>
          <p:nvPr/>
        </p:nvSpPr>
        <p:spPr>
          <a:xfrm>
            <a:off x="497022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④ヘッダ詳細</a:t>
            </a:r>
            <a:endParaRPr lang="en-US" altLang="ja-JP" sz="1400" dirty="0">
              <a:latin typeface="Meiryo UI" panose="020B0604030504040204" pitchFamily="50" charset="-128"/>
              <a:ea typeface="Meiryo UI" panose="020B0604030504040204" pitchFamily="50" charset="-128"/>
            </a:endParaRPr>
          </a:p>
        </p:txBody>
      </p:sp>
      <p:sp>
        <p:nvSpPr>
          <p:cNvPr id="29" name="角丸四角形 28"/>
          <p:cNvSpPr/>
          <p:nvPr/>
        </p:nvSpPr>
        <p:spPr>
          <a:xfrm>
            <a:off x="6446165" y="3935550"/>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⑤保存</a:t>
            </a:r>
            <a:endParaRPr lang="en-US" altLang="ja-JP" sz="1400" dirty="0">
              <a:latin typeface="Meiryo UI" panose="020B0604030504040204" pitchFamily="50" charset="-128"/>
              <a:ea typeface="Meiryo UI" panose="020B0604030504040204" pitchFamily="50" charset="-128"/>
            </a:endParaRPr>
          </a:p>
        </p:txBody>
      </p:sp>
      <p:sp>
        <p:nvSpPr>
          <p:cNvPr id="10" name="角丸四角形 9"/>
          <p:cNvSpPr/>
          <p:nvPr/>
        </p:nvSpPr>
        <p:spPr>
          <a:xfrm>
            <a:off x="542405" y="537009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①第一画面</a:t>
            </a:r>
            <a:endParaRPr kumimoji="1" lang="ja-JP" altLang="en-US" sz="1400" dirty="0">
              <a:latin typeface="Meiryo UI" panose="020B0604030504040204" pitchFamily="50" charset="-128"/>
              <a:ea typeface="Meiryo UI" panose="020B0604030504040204" pitchFamily="50" charset="-128"/>
            </a:endParaRPr>
          </a:p>
        </p:txBody>
      </p:sp>
      <p:sp>
        <p:nvSpPr>
          <p:cNvPr id="13" name="角丸四角形 12"/>
          <p:cNvSpPr/>
          <p:nvPr/>
        </p:nvSpPr>
        <p:spPr>
          <a:xfrm>
            <a:off x="2018345" y="537009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②明細概要</a:t>
            </a:r>
            <a:endParaRPr lang="en-US" altLang="ja-JP" sz="1400" dirty="0">
              <a:latin typeface="Meiryo UI" panose="020B0604030504040204" pitchFamily="50" charset="-128"/>
              <a:ea typeface="Meiryo UI" panose="020B0604030504040204" pitchFamily="50" charset="-128"/>
            </a:endParaRPr>
          </a:p>
        </p:txBody>
      </p:sp>
      <p:sp>
        <p:nvSpPr>
          <p:cNvPr id="14" name="角丸四角形 13"/>
          <p:cNvSpPr/>
          <p:nvPr/>
        </p:nvSpPr>
        <p:spPr>
          <a:xfrm>
            <a:off x="3494285" y="537009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③ヘッダ詳細</a:t>
            </a:r>
            <a:endParaRPr lang="en-US" altLang="ja-JP" sz="1400" dirty="0">
              <a:latin typeface="Meiryo UI" panose="020B0604030504040204" pitchFamily="50" charset="-128"/>
              <a:ea typeface="Meiryo UI" panose="020B0604030504040204" pitchFamily="50" charset="-128"/>
            </a:endParaRPr>
          </a:p>
        </p:txBody>
      </p:sp>
      <p:sp>
        <p:nvSpPr>
          <p:cNvPr id="15" name="角丸四角形 14"/>
          <p:cNvSpPr/>
          <p:nvPr/>
        </p:nvSpPr>
        <p:spPr>
          <a:xfrm>
            <a:off x="4970225" y="537009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④保存</a:t>
            </a:r>
            <a:endParaRPr lang="en-US" altLang="ja-JP" sz="1400" dirty="0">
              <a:latin typeface="Meiryo UI" panose="020B0604030504040204" pitchFamily="50" charset="-128"/>
              <a:ea typeface="Meiryo UI" panose="020B0604030504040204" pitchFamily="50" charset="-128"/>
            </a:endParaRPr>
          </a:p>
        </p:txBody>
      </p:sp>
      <p:sp>
        <p:nvSpPr>
          <p:cNvPr id="2" name="正方形/長方形 1"/>
          <p:cNvSpPr/>
          <p:nvPr/>
        </p:nvSpPr>
        <p:spPr>
          <a:xfrm>
            <a:off x="198684" y="4899991"/>
            <a:ext cx="6390960" cy="14809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5849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6741409" y="1115166"/>
            <a:ext cx="2276053" cy="360000"/>
          </a:xfrm>
          <a:prstGeom prst="rect">
            <a:avLst/>
          </a:prstGeom>
        </p:spPr>
      </p:pic>
      <p:pic>
        <p:nvPicPr>
          <p:cNvPr id="6" name="図 5"/>
          <p:cNvPicPr>
            <a:picLocks noChangeAspect="1"/>
          </p:cNvPicPr>
          <p:nvPr/>
        </p:nvPicPr>
        <p:blipFill>
          <a:blip r:embed="rId3"/>
          <a:stretch>
            <a:fillRect/>
          </a:stretch>
        </p:blipFill>
        <p:spPr>
          <a:xfrm>
            <a:off x="467720" y="2660221"/>
            <a:ext cx="5258629" cy="3948172"/>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第一画面</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続いて</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伝票目の処理に移ります。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見積依頼番号を入力し、画面右下にある「概要」をクリックします。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９ ／ １２ ）</a:t>
            </a:r>
            <a:endParaRPr kumimoji="1" lang="ja-JP" altLang="en-US" sz="2000" dirty="0">
              <a:latin typeface="Meiryo UI" pitchFamily="50" charset="-128"/>
              <a:ea typeface="Meiryo UI" pitchFamily="50" charset="-128"/>
              <a:cs typeface="Meiryo UI" pitchFamily="50" charset="-128"/>
            </a:endParaRPr>
          </a:p>
        </p:txBody>
      </p:sp>
      <p:graphicFrame>
        <p:nvGraphicFramePr>
          <p:cNvPr id="3" name="表 2"/>
          <p:cNvGraphicFramePr>
            <a:graphicFrameLocks noGrp="1"/>
          </p:cNvGraphicFramePr>
          <p:nvPr>
            <p:extLst>
              <p:ext uri="{D42A27DB-BD31-4B8C-83A1-F6EECF244321}">
                <p14:modId xmlns:p14="http://schemas.microsoft.com/office/powerpoint/2010/main" val="4077745516"/>
              </p:ext>
            </p:extLst>
          </p:nvPr>
        </p:nvGraphicFramePr>
        <p:xfrm>
          <a:off x="4226560" y="3570556"/>
          <a:ext cx="4348480" cy="741680"/>
        </p:xfrm>
        <a:graphic>
          <a:graphicData uri="http://schemas.openxmlformats.org/drawingml/2006/table">
            <a:tbl>
              <a:tblPr firstRow="1" bandRow="1">
                <a:tableStyleId>{7DF18680-E054-41AD-8BC1-D1AEF772440D}</a:tableStyleId>
              </a:tblPr>
              <a:tblGrid>
                <a:gridCol w="221488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見積依頼番号</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回目に控えた番号</a:t>
                      </a:r>
                    </a:p>
                  </a:txBody>
                  <a:tcPr anchor="ctr"/>
                </a:tc>
                <a:extLst>
                  <a:ext uri="{0D108BD9-81ED-4DB2-BD59-A6C34878D82A}">
                    <a16:rowId xmlns:a16="http://schemas.microsoft.com/office/drawing/2014/main" val="10001"/>
                  </a:ext>
                </a:extLst>
              </a:tr>
            </a:tbl>
          </a:graphicData>
        </a:graphic>
      </p:graphicFrame>
      <p:sp>
        <p:nvSpPr>
          <p:cNvPr id="15" name="正方形/長方形 14"/>
          <p:cNvSpPr/>
          <p:nvPr/>
        </p:nvSpPr>
        <p:spPr>
          <a:xfrm>
            <a:off x="1076960" y="4821674"/>
            <a:ext cx="2672080" cy="3802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p:nvSpPr>
        <p:spPr>
          <a:xfrm>
            <a:off x="5040549" y="6057795"/>
            <a:ext cx="599440" cy="4818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6752951" y="111262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620315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198683" y="2529822"/>
            <a:ext cx="8824586" cy="2564646"/>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明細概要</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明細概要の画面へ遷移します。正味価格を入力します。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入力後、「ヘッダ詳細」ボタンをクリックします。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１０ ／ １２ ）</a:t>
            </a:r>
            <a:endParaRPr kumimoji="1" lang="ja-JP" altLang="en-US" sz="2000" dirty="0">
              <a:latin typeface="Meiryo UI" pitchFamily="50" charset="-128"/>
              <a:ea typeface="Meiryo UI" pitchFamily="50" charset="-128"/>
              <a:cs typeface="Meiryo UI" pitchFamily="50" charset="-128"/>
            </a:endParaRPr>
          </a:p>
        </p:txBody>
      </p:sp>
      <p:graphicFrame>
        <p:nvGraphicFramePr>
          <p:cNvPr id="6" name="表 5"/>
          <p:cNvGraphicFramePr>
            <a:graphicFrameLocks noGrp="1"/>
          </p:cNvGraphicFramePr>
          <p:nvPr>
            <p:extLst>
              <p:ext uri="{D42A27DB-BD31-4B8C-83A1-F6EECF244321}">
                <p14:modId xmlns:p14="http://schemas.microsoft.com/office/powerpoint/2010/main" val="2555800658"/>
              </p:ext>
            </p:extLst>
          </p:nvPr>
        </p:nvGraphicFramePr>
        <p:xfrm>
          <a:off x="4490720" y="4556760"/>
          <a:ext cx="3373120" cy="741680"/>
        </p:xfrm>
        <a:graphic>
          <a:graphicData uri="http://schemas.openxmlformats.org/drawingml/2006/table">
            <a:tbl>
              <a:tblPr firstRow="1" bandRow="1">
                <a:tableStyleId>{7DF18680-E054-41AD-8BC1-D1AEF772440D}</a:tableStyleId>
              </a:tblPr>
              <a:tblGrid>
                <a:gridCol w="1686560">
                  <a:extLst>
                    <a:ext uri="{9D8B030D-6E8A-4147-A177-3AD203B41FA5}">
                      <a16:colId xmlns:a16="http://schemas.microsoft.com/office/drawing/2014/main" val="20000"/>
                    </a:ext>
                  </a:extLst>
                </a:gridCol>
                <a:gridCol w="168656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正味価格</a:t>
                      </a:r>
                    </a:p>
                  </a:txBody>
                  <a:tcPr/>
                </a:tc>
                <a:tc>
                  <a:txBody>
                    <a:bodyPr/>
                    <a:lstStyle/>
                    <a:p>
                      <a:pPr algn="ctr"/>
                      <a:r>
                        <a:rPr kumimoji="1" lang="en-US" altLang="ja-JP" dirty="0">
                          <a:latin typeface="Meiryo UI" panose="020B0604030504040204" pitchFamily="50" charset="-128"/>
                          <a:ea typeface="Meiryo UI" panose="020B0604030504040204" pitchFamily="50" charset="-128"/>
                        </a:rPr>
                        <a:t>10,000</a:t>
                      </a:r>
                      <a:endParaRPr kumimoji="1" lang="ja-JP" altLang="en-US"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001"/>
                  </a:ext>
                </a:extLst>
              </a:tr>
            </a:tbl>
          </a:graphicData>
        </a:graphic>
      </p:graphicFrame>
      <p:sp>
        <p:nvSpPr>
          <p:cNvPr id="7" name="正方形/長方形 6"/>
          <p:cNvSpPr/>
          <p:nvPr/>
        </p:nvSpPr>
        <p:spPr>
          <a:xfrm>
            <a:off x="4216400" y="2976880"/>
            <a:ext cx="609600" cy="2844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4795520" y="4237382"/>
            <a:ext cx="863600" cy="2228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3"/>
          <a:stretch>
            <a:fillRect/>
          </a:stretch>
        </p:blipFill>
        <p:spPr>
          <a:xfrm>
            <a:off x="6741409" y="1115166"/>
            <a:ext cx="2276053" cy="360000"/>
          </a:xfrm>
          <a:prstGeom prst="rect">
            <a:avLst/>
          </a:prstGeom>
        </p:spPr>
      </p:pic>
      <p:sp>
        <p:nvSpPr>
          <p:cNvPr id="9" name="正方形/長方形 8"/>
          <p:cNvSpPr/>
          <p:nvPr/>
        </p:nvSpPr>
        <p:spPr>
          <a:xfrm>
            <a:off x="7316831" y="111262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95150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198682" y="2062480"/>
            <a:ext cx="7472441" cy="4043680"/>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ヘッダ詳細</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支払条件を変更します。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１１ ／ １２ ）</a:t>
            </a:r>
            <a:endParaRPr kumimoji="1" lang="ja-JP" altLang="en-US" sz="2000" dirty="0">
              <a:latin typeface="Meiryo UI" pitchFamily="50" charset="-128"/>
              <a:ea typeface="Meiryo UI" pitchFamily="50" charset="-128"/>
              <a:cs typeface="Meiryo UI" pitchFamily="50" charset="-128"/>
            </a:endParaRPr>
          </a:p>
        </p:txBody>
      </p:sp>
      <p:sp>
        <p:nvSpPr>
          <p:cNvPr id="3" name="正方形/長方形 2"/>
          <p:cNvSpPr/>
          <p:nvPr/>
        </p:nvSpPr>
        <p:spPr>
          <a:xfrm>
            <a:off x="629212" y="4446558"/>
            <a:ext cx="803348" cy="1965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6" name="表 5"/>
          <p:cNvGraphicFramePr>
            <a:graphicFrameLocks noGrp="1"/>
          </p:cNvGraphicFramePr>
          <p:nvPr>
            <p:extLst>
              <p:ext uri="{D42A27DB-BD31-4B8C-83A1-F6EECF244321}">
                <p14:modId xmlns:p14="http://schemas.microsoft.com/office/powerpoint/2010/main" val="2717350516"/>
              </p:ext>
            </p:extLst>
          </p:nvPr>
        </p:nvGraphicFramePr>
        <p:xfrm>
          <a:off x="3486069" y="4765039"/>
          <a:ext cx="5537200" cy="980440"/>
        </p:xfrm>
        <a:graphic>
          <a:graphicData uri="http://schemas.openxmlformats.org/drawingml/2006/table">
            <a:tbl>
              <a:tblPr firstRow="1" bandRow="1">
                <a:tableStyleId>{7DF18680-E054-41AD-8BC1-D1AEF772440D}</a:tableStyleId>
              </a:tblPr>
              <a:tblGrid>
                <a:gridCol w="2255520">
                  <a:extLst>
                    <a:ext uri="{9D8B030D-6E8A-4147-A177-3AD203B41FA5}">
                      <a16:colId xmlns:a16="http://schemas.microsoft.com/office/drawing/2014/main" val="20000"/>
                    </a:ext>
                  </a:extLst>
                </a:gridCol>
                <a:gridCol w="328168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支払条件 </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0001</a:t>
                      </a:r>
                    </a:p>
                    <a:p>
                      <a:pPr algn="ctr"/>
                      <a:r>
                        <a:rPr kumimoji="1" lang="ja-JP" altLang="en-US" sz="1600" dirty="0">
                          <a:latin typeface="Meiryo UI" panose="020B0604030504040204" pitchFamily="50" charset="-128"/>
                          <a:ea typeface="Meiryo UI" panose="020B0604030504040204" pitchFamily="50" charset="-128"/>
                        </a:rPr>
                        <a:t>（即日支払　正味支払）</a:t>
                      </a:r>
                    </a:p>
                  </a:txBody>
                  <a:tcPr anchor="ctr"/>
                </a:tc>
                <a:extLst>
                  <a:ext uri="{0D108BD9-81ED-4DB2-BD59-A6C34878D82A}">
                    <a16:rowId xmlns:a16="http://schemas.microsoft.com/office/drawing/2014/main" val="10001"/>
                  </a:ext>
                </a:extLst>
              </a:tr>
            </a:tbl>
          </a:graphicData>
        </a:graphic>
      </p:graphicFrame>
      <p:pic>
        <p:nvPicPr>
          <p:cNvPr id="7" name="図 6"/>
          <p:cNvPicPr>
            <a:picLocks noChangeAspect="1"/>
          </p:cNvPicPr>
          <p:nvPr/>
        </p:nvPicPr>
        <p:blipFill>
          <a:blip r:embed="rId3"/>
          <a:stretch>
            <a:fillRect/>
          </a:stretch>
        </p:blipFill>
        <p:spPr>
          <a:xfrm>
            <a:off x="6741409" y="1115166"/>
            <a:ext cx="2276053" cy="360000"/>
          </a:xfrm>
          <a:prstGeom prst="rect">
            <a:avLst/>
          </a:prstGeom>
        </p:spPr>
      </p:pic>
      <p:sp>
        <p:nvSpPr>
          <p:cNvPr id="8" name="正方形/長方形 7"/>
          <p:cNvSpPr/>
          <p:nvPr/>
        </p:nvSpPr>
        <p:spPr>
          <a:xfrm>
            <a:off x="7888331" y="111262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84510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保存</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画面右下の「保存」ボタンをクリックします。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画面左下に以下のメッセージが表示されます。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６．３</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見積回答の登録 （ １２ ／ １２ ）</a:t>
            </a:r>
            <a:endParaRPr kumimoji="1" lang="ja-JP" altLang="en-US" sz="2000" dirty="0">
              <a:latin typeface="Meiryo UI" pitchFamily="50" charset="-128"/>
              <a:ea typeface="Meiryo UI" pitchFamily="50" charset="-128"/>
              <a:cs typeface="Meiryo UI" pitchFamily="50" charset="-128"/>
            </a:endParaRPr>
          </a:p>
        </p:txBody>
      </p:sp>
      <p:pic>
        <p:nvPicPr>
          <p:cNvPr id="2" name="図 1"/>
          <p:cNvPicPr>
            <a:picLocks noChangeAspect="1"/>
          </p:cNvPicPr>
          <p:nvPr/>
        </p:nvPicPr>
        <p:blipFill>
          <a:blip r:embed="rId2"/>
          <a:stretch>
            <a:fillRect/>
          </a:stretch>
        </p:blipFill>
        <p:spPr>
          <a:xfrm>
            <a:off x="198682" y="2070063"/>
            <a:ext cx="6120837" cy="3312265"/>
          </a:xfrm>
          <a:prstGeom prst="rect">
            <a:avLst/>
          </a:prstGeom>
        </p:spPr>
      </p:pic>
      <p:pic>
        <p:nvPicPr>
          <p:cNvPr id="3" name="図 2"/>
          <p:cNvPicPr>
            <a:picLocks noChangeAspect="1"/>
          </p:cNvPicPr>
          <p:nvPr/>
        </p:nvPicPr>
        <p:blipFill>
          <a:blip r:embed="rId3"/>
          <a:stretch>
            <a:fillRect/>
          </a:stretch>
        </p:blipFill>
        <p:spPr>
          <a:xfrm>
            <a:off x="198682" y="5828665"/>
            <a:ext cx="4248150" cy="666750"/>
          </a:xfrm>
          <a:prstGeom prst="rect">
            <a:avLst/>
          </a:prstGeom>
        </p:spPr>
      </p:pic>
      <p:pic>
        <p:nvPicPr>
          <p:cNvPr id="6" name="図 5"/>
          <p:cNvPicPr>
            <a:picLocks noChangeAspect="1"/>
          </p:cNvPicPr>
          <p:nvPr/>
        </p:nvPicPr>
        <p:blipFill>
          <a:blip r:embed="rId4"/>
          <a:stretch>
            <a:fillRect/>
          </a:stretch>
        </p:blipFill>
        <p:spPr>
          <a:xfrm>
            <a:off x="6741409" y="1115166"/>
            <a:ext cx="2276053" cy="360000"/>
          </a:xfrm>
          <a:prstGeom prst="rect">
            <a:avLst/>
          </a:prstGeom>
        </p:spPr>
      </p:pic>
      <p:sp>
        <p:nvSpPr>
          <p:cNvPr id="7" name="正方形/長方形 6"/>
          <p:cNvSpPr/>
          <p:nvPr/>
        </p:nvSpPr>
        <p:spPr>
          <a:xfrm>
            <a:off x="8452211" y="111262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68150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購買管理プロセス分野における確認日程④</a:t>
            </a:r>
            <a:endParaRPr lang="en-US" altLang="ja-JP" dirty="0">
              <a:latin typeface="Meiryo UI" pitchFamily="50" charset="-128"/>
              <a:ea typeface="Meiryo UI" pitchFamily="50" charset="-128"/>
              <a:cs typeface="Meiryo UI" pitchFamily="50" charset="-128"/>
            </a:endParaRPr>
          </a:p>
          <a:p>
            <a:pPr eaLnBrk="0" hangingPunct="0">
              <a:spcBef>
                <a:spcPct val="20000"/>
              </a:spcBef>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09"/>
          <a:ext cx="8383982" cy="2989978"/>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61426">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26</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MM-4</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6. (XXXX)</a:t>
                      </a:r>
                      <a:r>
                        <a:rPr kumimoji="1" lang="ja-JP" altLang="en-US" sz="1400" dirty="0">
                          <a:latin typeface="Meiryo UI" pitchFamily="50" charset="-128"/>
                          <a:ea typeface="Meiryo UI" pitchFamily="50" charset="-128"/>
                          <a:cs typeface="Meiryo UI" pitchFamily="50" charset="-128"/>
                        </a:rPr>
                        <a:t>様における業務プロセスの確認</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633467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6.1 </a:t>
                      </a:r>
                      <a:r>
                        <a:rPr kumimoji="1" lang="ja-JP" altLang="en-US" sz="1400" dirty="0">
                          <a:latin typeface="Meiryo UI" pitchFamily="50" charset="-128"/>
                          <a:ea typeface="Meiryo UI" pitchFamily="50" charset="-128"/>
                          <a:cs typeface="Meiryo UI" pitchFamily="50" charset="-128"/>
                        </a:rPr>
                        <a:t>購買依頼の登録・承認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6.2 </a:t>
                      </a:r>
                      <a:r>
                        <a:rPr kumimoji="1" lang="ja-JP" altLang="en-US" sz="1400" dirty="0">
                          <a:latin typeface="Meiryo UI" pitchFamily="50" charset="-128"/>
                          <a:ea typeface="Meiryo UI" pitchFamily="50" charset="-128"/>
                          <a:cs typeface="Meiryo UI" pitchFamily="50" charset="-128"/>
                        </a:rPr>
                        <a:t>見積依頼の登録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6.3 </a:t>
                      </a:r>
                      <a:r>
                        <a:rPr kumimoji="1" lang="ja-JP" altLang="en-US" sz="1400" dirty="0">
                          <a:latin typeface="Meiryo UI" pitchFamily="50" charset="-128"/>
                          <a:ea typeface="Meiryo UI" pitchFamily="50" charset="-128"/>
                          <a:cs typeface="Meiryo UI" pitchFamily="50" charset="-128"/>
                        </a:rPr>
                        <a:t>見積回答の登録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6.4 </a:t>
                      </a:r>
                      <a:r>
                        <a:rPr kumimoji="1" lang="ja-JP" altLang="en-US" sz="1400" dirty="0">
                          <a:latin typeface="Meiryo UI" pitchFamily="50" charset="-128"/>
                          <a:ea typeface="Meiryo UI" pitchFamily="50" charset="-128"/>
                          <a:cs typeface="Meiryo UI" pitchFamily="50" charset="-128"/>
                        </a:rPr>
                        <a:t>見積結果の比較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6.5 </a:t>
                      </a:r>
                      <a:r>
                        <a:rPr kumimoji="1" lang="ja-JP" altLang="en-US" sz="1400" dirty="0">
                          <a:latin typeface="Meiryo UI" pitchFamily="50" charset="-128"/>
                          <a:ea typeface="Meiryo UI" pitchFamily="50" charset="-128"/>
                          <a:cs typeface="Meiryo UI" pitchFamily="50" charset="-128"/>
                        </a:rPr>
                        <a:t>購買発注の登録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6.6 </a:t>
                      </a:r>
                      <a:r>
                        <a:rPr kumimoji="1" lang="ja-JP" altLang="en-US" sz="1400" dirty="0">
                          <a:latin typeface="Meiryo UI" pitchFamily="50" charset="-128"/>
                          <a:ea typeface="Meiryo UI" pitchFamily="50" charset="-128"/>
                          <a:cs typeface="Meiryo UI" pitchFamily="50" charset="-128"/>
                        </a:rPr>
                        <a:t>購買発注の入庫</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6.7 </a:t>
                      </a:r>
                      <a:r>
                        <a:rPr kumimoji="1" lang="ja-JP" altLang="en-US" sz="1400" dirty="0">
                          <a:latin typeface="Meiryo UI" pitchFamily="50" charset="-128"/>
                          <a:ea typeface="Meiryo UI" pitchFamily="50" charset="-128"/>
                          <a:cs typeface="Meiryo UI" pitchFamily="50" charset="-128"/>
                        </a:rPr>
                        <a:t>自動請求書照合</a:t>
                      </a:r>
                      <a:r>
                        <a:rPr kumimoji="1" lang="en-US" altLang="ja-JP" sz="1400" dirty="0">
                          <a:latin typeface="Meiryo UI" pitchFamily="50" charset="-128"/>
                          <a:ea typeface="Meiryo UI" pitchFamily="50" charset="-128"/>
                          <a:cs typeface="Meiryo UI" pitchFamily="50" charset="-128"/>
                        </a:rPr>
                        <a:t>(ERS)</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70965439"/>
                  </a:ext>
                </a:extLst>
              </a:tr>
            </a:tbl>
          </a:graphicData>
        </a:graphic>
      </p:graphicFrame>
      <p:sp>
        <p:nvSpPr>
          <p:cNvPr id="5" name="正方形/長方形 4"/>
          <p:cNvSpPr/>
          <p:nvPr/>
        </p:nvSpPr>
        <p:spPr>
          <a:xfrm>
            <a:off x="198683" y="3160632"/>
            <a:ext cx="8368847" cy="3180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674333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フローチャート: 書類 251"/>
          <p:cNvSpPr/>
          <p:nvPr/>
        </p:nvSpPr>
        <p:spPr>
          <a:xfrm>
            <a:off x="5746649" y="6303143"/>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251" name="フローチャート: 書類 250"/>
          <p:cNvSpPr/>
          <p:nvPr/>
        </p:nvSpPr>
        <p:spPr>
          <a:xfrm>
            <a:off x="5653174" y="5537028"/>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見積結果の比較</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１ ／ １２ ）</a:t>
            </a:r>
            <a:endParaRPr kumimoji="1" lang="ja-JP" altLang="en-US" sz="2000" dirty="0">
              <a:latin typeface="Meiryo UI" pitchFamily="50" charset="-128"/>
              <a:ea typeface="Meiryo UI" pitchFamily="50" charset="-128"/>
              <a:cs typeface="Meiryo UI" pitchFamily="50" charset="-128"/>
            </a:endParaRPr>
          </a:p>
        </p:txBody>
      </p:sp>
      <p:sp>
        <p:nvSpPr>
          <p:cNvPr id="169" name="正方形/長方形 168"/>
          <p:cNvSpPr/>
          <p:nvPr/>
        </p:nvSpPr>
        <p:spPr>
          <a:xfrm>
            <a:off x="3690998" y="5990872"/>
            <a:ext cx="1635566" cy="61724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自動請求書照合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(ERS)</a:t>
            </a:r>
            <a:endParaRPr lang="ja-JP" altLang="en-US" sz="1600" dirty="0">
              <a:latin typeface="Meiryo UI" panose="020B0604030504040204" pitchFamily="50" charset="-128"/>
              <a:ea typeface="Meiryo UI" panose="020B0604030504040204" pitchFamily="50" charset="-128"/>
            </a:endParaRPr>
          </a:p>
        </p:txBody>
      </p:sp>
      <p:sp>
        <p:nvSpPr>
          <p:cNvPr id="170" name="フローチャート: 判断 169"/>
          <p:cNvSpPr/>
          <p:nvPr/>
        </p:nvSpPr>
        <p:spPr>
          <a:xfrm>
            <a:off x="4046538" y="1892364"/>
            <a:ext cx="914400" cy="612648"/>
          </a:xfrm>
          <a:prstGeom prst="flowChartDecision">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承認</a:t>
            </a:r>
          </a:p>
        </p:txBody>
      </p:sp>
      <p:sp>
        <p:nvSpPr>
          <p:cNvPr id="182" name="正方形/長方形 181"/>
          <p:cNvSpPr/>
          <p:nvPr/>
        </p:nvSpPr>
        <p:spPr>
          <a:xfrm>
            <a:off x="3690998" y="129410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購買依頼</a:t>
            </a:r>
            <a:endParaRPr lang="en-US" altLang="ja-JP" sz="1600" dirty="0">
              <a:latin typeface="Meiryo UI" panose="020B0604030504040204" pitchFamily="50" charset="-128"/>
              <a:ea typeface="Meiryo UI" panose="020B0604030504040204" pitchFamily="50" charset="-128"/>
            </a:endParaRPr>
          </a:p>
        </p:txBody>
      </p:sp>
      <p:sp>
        <p:nvSpPr>
          <p:cNvPr id="183" name="正方形/長方形 182"/>
          <p:cNvSpPr/>
          <p:nvPr/>
        </p:nvSpPr>
        <p:spPr>
          <a:xfrm>
            <a:off x="3685955" y="2687040"/>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見積依頼</a:t>
            </a:r>
            <a:endParaRPr lang="en-US" altLang="ja-JP" sz="1600" dirty="0">
              <a:latin typeface="Meiryo UI" panose="020B0604030504040204" pitchFamily="50" charset="-128"/>
              <a:ea typeface="Meiryo UI" panose="020B0604030504040204" pitchFamily="50" charset="-128"/>
            </a:endParaRPr>
          </a:p>
        </p:txBody>
      </p:sp>
      <p:sp>
        <p:nvSpPr>
          <p:cNvPr id="184" name="正方形/長方形 183"/>
          <p:cNvSpPr/>
          <p:nvPr/>
        </p:nvSpPr>
        <p:spPr>
          <a:xfrm>
            <a:off x="3685955" y="335007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見積回答</a:t>
            </a:r>
            <a:endParaRPr lang="en-US" altLang="ja-JP" sz="1600" dirty="0">
              <a:latin typeface="Meiryo UI" panose="020B0604030504040204" pitchFamily="50" charset="-128"/>
              <a:ea typeface="Meiryo UI" panose="020B0604030504040204" pitchFamily="50" charset="-128"/>
            </a:endParaRPr>
          </a:p>
        </p:txBody>
      </p:sp>
      <p:sp>
        <p:nvSpPr>
          <p:cNvPr id="185" name="正方形/長方形 184"/>
          <p:cNvSpPr/>
          <p:nvPr/>
        </p:nvSpPr>
        <p:spPr>
          <a:xfrm>
            <a:off x="3685955" y="4027243"/>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見積結果比較</a:t>
            </a:r>
            <a:endParaRPr lang="en-US" altLang="ja-JP" sz="1600" dirty="0">
              <a:latin typeface="Meiryo UI" panose="020B0604030504040204" pitchFamily="50" charset="-128"/>
              <a:ea typeface="Meiryo UI" panose="020B0604030504040204" pitchFamily="50" charset="-128"/>
            </a:endParaRPr>
          </a:p>
        </p:txBody>
      </p:sp>
      <p:sp>
        <p:nvSpPr>
          <p:cNvPr id="187" name="正方形/長方形 186"/>
          <p:cNvSpPr/>
          <p:nvPr/>
        </p:nvSpPr>
        <p:spPr>
          <a:xfrm>
            <a:off x="3678590" y="471966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購買発注</a:t>
            </a:r>
            <a:endParaRPr lang="en-US" altLang="ja-JP" sz="1600" dirty="0">
              <a:latin typeface="Meiryo UI" panose="020B0604030504040204" pitchFamily="50" charset="-128"/>
              <a:ea typeface="Meiryo UI" panose="020B0604030504040204" pitchFamily="50" charset="-128"/>
            </a:endParaRPr>
          </a:p>
        </p:txBody>
      </p:sp>
      <p:sp>
        <p:nvSpPr>
          <p:cNvPr id="188" name="正方形/長方形 187"/>
          <p:cNvSpPr/>
          <p:nvPr/>
        </p:nvSpPr>
        <p:spPr>
          <a:xfrm>
            <a:off x="3690463" y="537703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発注入庫</a:t>
            </a:r>
            <a:endParaRPr lang="en-US" altLang="ja-JP" sz="1600" dirty="0">
              <a:latin typeface="Meiryo UI" panose="020B0604030504040204" pitchFamily="50" charset="-128"/>
              <a:ea typeface="Meiryo UI" panose="020B0604030504040204" pitchFamily="50" charset="-128"/>
            </a:endParaRPr>
          </a:p>
        </p:txBody>
      </p:sp>
      <p:cxnSp>
        <p:nvCxnSpPr>
          <p:cNvPr id="190" name="直線矢印コネクタ 189"/>
          <p:cNvCxnSpPr>
            <a:stCxn id="182" idx="2"/>
            <a:endCxn id="170" idx="0"/>
          </p:cNvCxnSpPr>
          <p:nvPr/>
        </p:nvCxnSpPr>
        <p:spPr>
          <a:xfrm flipH="1">
            <a:off x="4503738" y="1723733"/>
            <a:ext cx="5043" cy="1686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矢印コネクタ 194"/>
          <p:cNvCxnSpPr>
            <a:stCxn id="170" idx="2"/>
            <a:endCxn id="183" idx="0"/>
          </p:cNvCxnSpPr>
          <p:nvPr/>
        </p:nvCxnSpPr>
        <p:spPr>
          <a:xfrm>
            <a:off x="4503738" y="2505012"/>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矢印コネクタ 199"/>
          <p:cNvCxnSpPr/>
          <p:nvPr/>
        </p:nvCxnSpPr>
        <p:spPr>
          <a:xfrm>
            <a:off x="4496373" y="3148547"/>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矢印コネクタ 200"/>
          <p:cNvCxnSpPr>
            <a:stCxn id="184" idx="2"/>
            <a:endCxn id="185" idx="0"/>
          </p:cNvCxnSpPr>
          <p:nvPr/>
        </p:nvCxnSpPr>
        <p:spPr>
          <a:xfrm>
            <a:off x="4503738" y="3779706"/>
            <a:ext cx="0" cy="247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矢印コネクタ 202"/>
          <p:cNvCxnSpPr>
            <a:endCxn id="187" idx="0"/>
          </p:cNvCxnSpPr>
          <p:nvPr/>
        </p:nvCxnSpPr>
        <p:spPr>
          <a:xfrm flipH="1">
            <a:off x="4496373" y="4468194"/>
            <a:ext cx="10644" cy="25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a:endCxn id="188" idx="0"/>
          </p:cNvCxnSpPr>
          <p:nvPr/>
        </p:nvCxnSpPr>
        <p:spPr>
          <a:xfrm flipH="1">
            <a:off x="4508246" y="5178223"/>
            <a:ext cx="2050" cy="1988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p:cNvCxnSpPr>
            <a:stCxn id="188" idx="2"/>
            <a:endCxn id="169" idx="0"/>
          </p:cNvCxnSpPr>
          <p:nvPr/>
        </p:nvCxnSpPr>
        <p:spPr>
          <a:xfrm>
            <a:off x="4508246" y="5806663"/>
            <a:ext cx="535" cy="184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角丸四角形 212"/>
          <p:cNvSpPr/>
          <p:nvPr/>
        </p:nvSpPr>
        <p:spPr>
          <a:xfrm>
            <a:off x="713289" y="2687040"/>
            <a:ext cx="1212884" cy="3951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A</a:t>
            </a:r>
            <a:endParaRPr kumimoji="1" lang="ja-JP" altLang="en-US" dirty="0"/>
          </a:p>
        </p:txBody>
      </p:sp>
      <p:sp>
        <p:nvSpPr>
          <p:cNvPr id="215" name="角丸四角形 214"/>
          <p:cNvSpPr/>
          <p:nvPr/>
        </p:nvSpPr>
        <p:spPr>
          <a:xfrm>
            <a:off x="7039941" y="2683844"/>
            <a:ext cx="1212884" cy="1749073"/>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B</a:t>
            </a:r>
            <a:endParaRPr kumimoji="1" lang="ja-JP" altLang="en-US" dirty="0"/>
          </a:p>
        </p:txBody>
      </p:sp>
      <p:cxnSp>
        <p:nvCxnSpPr>
          <p:cNvPr id="216" name="直線矢印コネクタ 215"/>
          <p:cNvCxnSpPr>
            <a:stCxn id="183" idx="1"/>
          </p:cNvCxnSpPr>
          <p:nvPr/>
        </p:nvCxnSpPr>
        <p:spPr>
          <a:xfrm flipH="1" flipV="1">
            <a:off x="1951038" y="2898900"/>
            <a:ext cx="1734917" cy="2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p:cNvCxnSpPr/>
          <p:nvPr/>
        </p:nvCxnSpPr>
        <p:spPr>
          <a:xfrm flipH="1" flipV="1">
            <a:off x="1951038" y="4905375"/>
            <a:ext cx="1708693" cy="24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矢印コネクタ 219"/>
          <p:cNvCxnSpPr>
            <a:stCxn id="215" idx="1"/>
          </p:cNvCxnSpPr>
          <p:nvPr/>
        </p:nvCxnSpPr>
        <p:spPr>
          <a:xfrm flipH="1">
            <a:off x="5310374" y="3558381"/>
            <a:ext cx="1729567" cy="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矢印コネクタ 220"/>
          <p:cNvCxnSpPr>
            <a:endCxn id="184" idx="1"/>
          </p:cNvCxnSpPr>
          <p:nvPr/>
        </p:nvCxnSpPr>
        <p:spPr>
          <a:xfrm>
            <a:off x="1951038" y="3558380"/>
            <a:ext cx="1734917" cy="65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224"/>
          <p:cNvCxnSpPr/>
          <p:nvPr/>
        </p:nvCxnSpPr>
        <p:spPr>
          <a:xfrm flipV="1">
            <a:off x="1935163" y="5475889"/>
            <a:ext cx="1743427" cy="70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矢印コネクタ 230"/>
          <p:cNvCxnSpPr/>
          <p:nvPr/>
        </p:nvCxnSpPr>
        <p:spPr>
          <a:xfrm flipH="1">
            <a:off x="1939671" y="5718175"/>
            <a:ext cx="1752696" cy="401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矢印コネクタ 234"/>
          <p:cNvCxnSpPr>
            <a:stCxn id="183" idx="3"/>
          </p:cNvCxnSpPr>
          <p:nvPr/>
        </p:nvCxnSpPr>
        <p:spPr>
          <a:xfrm flipV="1">
            <a:off x="5321521" y="2889047"/>
            <a:ext cx="1741563" cy="128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フローチャート: 書類 244"/>
          <p:cNvSpPr/>
          <p:nvPr/>
        </p:nvSpPr>
        <p:spPr>
          <a:xfrm>
            <a:off x="5166677" y="6258001"/>
            <a:ext cx="646510" cy="471757"/>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請求書</a:t>
            </a:r>
            <a:endParaRPr lang="en-US" altLang="ja-JP" sz="1200" dirty="0">
              <a:latin typeface="Meiryo UI" panose="020B0604030504040204" pitchFamily="50" charset="-128"/>
              <a:ea typeface="Meiryo UI" panose="020B0604030504040204" pitchFamily="50" charset="-128"/>
            </a:endParaRPr>
          </a:p>
        </p:txBody>
      </p:sp>
      <p:sp>
        <p:nvSpPr>
          <p:cNvPr id="246" name="フローチャート: 書類 245"/>
          <p:cNvSpPr/>
          <p:nvPr/>
        </p:nvSpPr>
        <p:spPr>
          <a:xfrm>
            <a:off x="5126426" y="5464485"/>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入庫</a:t>
            </a:r>
            <a:endParaRPr kumimoji="1" lang="ja-JP" altLang="en-US" sz="1200" dirty="0">
              <a:latin typeface="Meiryo UI" panose="020B0604030504040204" pitchFamily="50" charset="-128"/>
              <a:ea typeface="Meiryo UI" panose="020B0604030504040204" pitchFamily="50" charset="-128"/>
            </a:endParaRPr>
          </a:p>
        </p:txBody>
      </p:sp>
      <p:sp>
        <p:nvSpPr>
          <p:cNvPr id="247" name="フローチャート: 書類 246"/>
          <p:cNvSpPr/>
          <p:nvPr/>
        </p:nvSpPr>
        <p:spPr>
          <a:xfrm>
            <a:off x="2466603" y="4689290"/>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発注</a:t>
            </a:r>
            <a:endParaRPr kumimoji="1" lang="ja-JP" altLang="en-US" sz="1200" dirty="0">
              <a:latin typeface="Meiryo UI" panose="020B0604030504040204" pitchFamily="50" charset="-128"/>
              <a:ea typeface="Meiryo UI" panose="020B0604030504040204" pitchFamily="50" charset="-128"/>
            </a:endParaRPr>
          </a:p>
        </p:txBody>
      </p:sp>
      <p:sp>
        <p:nvSpPr>
          <p:cNvPr id="248" name="フローチャート: 書類 247"/>
          <p:cNvSpPr/>
          <p:nvPr/>
        </p:nvSpPr>
        <p:spPr>
          <a:xfrm>
            <a:off x="2472332" y="271392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latin typeface="Meiryo UI" panose="020B0604030504040204" pitchFamily="50" charset="-128"/>
                <a:ea typeface="Meiryo UI" panose="020B0604030504040204" pitchFamily="50" charset="-128"/>
              </a:rPr>
              <a:t>見積</a:t>
            </a: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49" name="フローチャート: 書類 248"/>
          <p:cNvSpPr/>
          <p:nvPr/>
        </p:nvSpPr>
        <p:spPr>
          <a:xfrm>
            <a:off x="5857476" y="2674237"/>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見積</a:t>
            </a:r>
            <a:r>
              <a:rPr lang="en-US" altLang="ja-JP" sz="1200" dirty="0">
                <a:latin typeface="Meiryo UI" panose="020B0604030504040204" pitchFamily="50" charset="-128"/>
                <a:ea typeface="Meiryo UI" panose="020B0604030504040204" pitchFamily="50" charset="-128"/>
              </a:rPr>
              <a:t>2</a:t>
            </a:r>
            <a:endParaRPr kumimoji="1" lang="ja-JP" altLang="en-US" sz="1200" dirty="0">
              <a:latin typeface="Meiryo UI" panose="020B0604030504040204" pitchFamily="50" charset="-128"/>
              <a:ea typeface="Meiryo UI" panose="020B0604030504040204" pitchFamily="50" charset="-128"/>
            </a:endParaRPr>
          </a:p>
        </p:txBody>
      </p:sp>
      <p:sp>
        <p:nvSpPr>
          <p:cNvPr id="250" name="フローチャート: 書類 249"/>
          <p:cNvSpPr/>
          <p:nvPr/>
        </p:nvSpPr>
        <p:spPr>
          <a:xfrm>
            <a:off x="4957867" y="151954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依頼</a:t>
            </a:r>
            <a:endParaRPr kumimoji="1" lang="ja-JP" altLang="en-US" sz="1200" dirty="0">
              <a:latin typeface="Meiryo UI" panose="020B0604030504040204" pitchFamily="50" charset="-128"/>
              <a:ea typeface="Meiryo UI" panose="020B0604030504040204" pitchFamily="50" charset="-128"/>
            </a:endParaRPr>
          </a:p>
        </p:txBody>
      </p:sp>
      <p:sp>
        <p:nvSpPr>
          <p:cNvPr id="265" name="1 つの角を切り取った四角形 264"/>
          <p:cNvSpPr/>
          <p:nvPr/>
        </p:nvSpPr>
        <p:spPr>
          <a:xfrm>
            <a:off x="2472497" y="3423022"/>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6" name="1 つの角を切り取った四角形 265"/>
          <p:cNvSpPr/>
          <p:nvPr/>
        </p:nvSpPr>
        <p:spPr>
          <a:xfrm>
            <a:off x="5851003" y="3453053"/>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7" name="1 つの角を切り取った四角形 266"/>
          <p:cNvSpPr/>
          <p:nvPr/>
        </p:nvSpPr>
        <p:spPr>
          <a:xfrm>
            <a:off x="2461882" y="5319657"/>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品目</a:t>
            </a:r>
          </a:p>
        </p:txBody>
      </p:sp>
      <p:sp>
        <p:nvSpPr>
          <p:cNvPr id="269" name="1 つの角を切り取った四角形 268"/>
          <p:cNvSpPr/>
          <p:nvPr/>
        </p:nvSpPr>
        <p:spPr>
          <a:xfrm>
            <a:off x="2458374" y="5751024"/>
            <a:ext cx="670276" cy="33411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検収書</a:t>
            </a:r>
          </a:p>
        </p:txBody>
      </p:sp>
      <p:sp>
        <p:nvSpPr>
          <p:cNvPr id="2" name="正方形/長方形 1"/>
          <p:cNvSpPr/>
          <p:nvPr/>
        </p:nvSpPr>
        <p:spPr>
          <a:xfrm>
            <a:off x="3518452" y="3915063"/>
            <a:ext cx="1931229" cy="6240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122481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Arial" panose="020B0604020202020204" pitchFamily="34" charset="0"/>
              <a:buChar char="•"/>
            </a:pPr>
            <a:r>
              <a:rPr lang="ja-JP" altLang="en-US" dirty="0">
                <a:latin typeface="Meiryo UI" pitchFamily="50" charset="-128"/>
                <a:ea typeface="Meiryo UI" pitchFamily="50" charset="-128"/>
                <a:cs typeface="Meiryo UI" pitchFamily="50" charset="-128"/>
              </a:rPr>
              <a:t>見積結果の比較</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回答を入力した見積依頼伝票</a:t>
            </a:r>
            <a:r>
              <a:rPr lang="en-US" altLang="ja-JP" dirty="0">
                <a:latin typeface="Meiryo UI" pitchFamily="50" charset="-128"/>
                <a:ea typeface="Meiryo UI" pitchFamily="50" charset="-128"/>
                <a:cs typeface="Meiryo UI" pitchFamily="50" charset="-128"/>
              </a:rPr>
              <a:t>2</a:t>
            </a:r>
            <a:r>
              <a:rPr lang="ja-JP" altLang="en-US" dirty="0" err="1">
                <a:latin typeface="Meiryo UI" pitchFamily="50" charset="-128"/>
                <a:ea typeface="Meiryo UI" pitchFamily="50" charset="-128"/>
                <a:cs typeface="Meiryo UI" pitchFamily="50" charset="-128"/>
              </a:rPr>
              <a:t>つを</a:t>
            </a:r>
            <a:r>
              <a:rPr lang="ja-JP" altLang="en-US" dirty="0">
                <a:latin typeface="Meiryo UI" pitchFamily="50" charset="-128"/>
                <a:ea typeface="Meiryo UI" pitchFamily="50" charset="-128"/>
                <a:cs typeface="Meiryo UI" pitchFamily="50" charset="-128"/>
              </a:rPr>
              <a:t>比較し、採用と不採用を判定します。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今回は前章で登録した</a:t>
            </a:r>
            <a:r>
              <a:rPr lang="en-US" altLang="ja-JP" dirty="0">
                <a:latin typeface="Meiryo UI" pitchFamily="50" charset="-128"/>
                <a:ea typeface="Meiryo UI" pitchFamily="50" charset="-128"/>
                <a:cs typeface="Meiryo UI" pitchFamily="50" charset="-128"/>
              </a:rPr>
              <a:t>1</a:t>
            </a:r>
            <a:r>
              <a:rPr lang="ja-JP" altLang="en-US" dirty="0">
                <a:latin typeface="Meiryo UI" pitchFamily="50" charset="-128"/>
                <a:ea typeface="Meiryo UI" pitchFamily="50" charset="-128"/>
                <a:cs typeface="Meiryo UI" pitchFamily="50" charset="-128"/>
              </a:rPr>
              <a:t>伝票目を採用、</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伝票目を不採用とします。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登録手順</a:t>
            </a:r>
            <a:r>
              <a:rPr lang="en-US" altLang="ja-JP" dirty="0">
                <a:latin typeface="Meiryo UI" pitchFamily="50" charset="-128"/>
                <a:ea typeface="Meiryo UI" pitchFamily="50" charset="-128"/>
                <a:cs typeface="Meiryo UI" pitchFamily="50" charset="-128"/>
              </a:rPr>
              <a:t>】</a:t>
            </a: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11" name="角丸四角形 10"/>
          <p:cNvSpPr/>
          <p:nvPr/>
        </p:nvSpPr>
        <p:spPr>
          <a:xfrm>
            <a:off x="413196" y="396536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①画面起動</a:t>
            </a:r>
            <a:endParaRPr kumimoji="1" lang="ja-JP" altLang="en-US" sz="1400" dirty="0">
              <a:latin typeface="Meiryo UI" panose="020B0604030504040204" pitchFamily="50" charset="-128"/>
              <a:ea typeface="Meiryo UI" panose="020B0604030504040204"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２ ／ １２ ）</a:t>
            </a:r>
            <a:endParaRPr kumimoji="1" lang="ja-JP" altLang="en-US" sz="2000" dirty="0">
              <a:latin typeface="Meiryo UI" pitchFamily="50" charset="-128"/>
              <a:ea typeface="Meiryo UI" pitchFamily="50" charset="-128"/>
              <a:cs typeface="Meiryo UI" pitchFamily="50" charset="-128"/>
            </a:endParaRPr>
          </a:p>
        </p:txBody>
      </p:sp>
      <p:sp>
        <p:nvSpPr>
          <p:cNvPr id="24" name="角丸四角形 23"/>
          <p:cNvSpPr/>
          <p:nvPr/>
        </p:nvSpPr>
        <p:spPr>
          <a:xfrm>
            <a:off x="1889136" y="396536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②伝票検索</a:t>
            </a:r>
            <a:endParaRPr kumimoji="1" lang="ja-JP" altLang="en-US" sz="1400" dirty="0">
              <a:latin typeface="Meiryo UI" panose="020B0604030504040204" pitchFamily="50" charset="-128"/>
              <a:ea typeface="Meiryo UI" panose="020B0604030504040204" pitchFamily="50" charset="-128"/>
            </a:endParaRPr>
          </a:p>
        </p:txBody>
      </p:sp>
      <p:sp>
        <p:nvSpPr>
          <p:cNvPr id="26" name="角丸四角形 25"/>
          <p:cNvSpPr/>
          <p:nvPr/>
        </p:nvSpPr>
        <p:spPr>
          <a:xfrm>
            <a:off x="3365076" y="396536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③回答比較</a:t>
            </a:r>
            <a:endParaRPr lang="en-US" altLang="ja-JP" sz="1400" dirty="0">
              <a:latin typeface="Meiryo UI" panose="020B0604030504040204" pitchFamily="50" charset="-128"/>
              <a:ea typeface="Meiryo UI" panose="020B0604030504040204" pitchFamily="50" charset="-128"/>
            </a:endParaRPr>
          </a:p>
        </p:txBody>
      </p:sp>
      <p:sp>
        <p:nvSpPr>
          <p:cNvPr id="28" name="角丸四角形 27"/>
          <p:cNvSpPr/>
          <p:nvPr/>
        </p:nvSpPr>
        <p:spPr>
          <a:xfrm>
            <a:off x="4841016" y="396536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④採用伝票</a:t>
            </a:r>
            <a:endParaRPr lang="en-US" altLang="ja-JP" sz="1400" dirty="0">
              <a:latin typeface="Meiryo UI" panose="020B0604030504040204" pitchFamily="50" charset="-128"/>
              <a:ea typeface="Meiryo UI" panose="020B0604030504040204" pitchFamily="50" charset="-128"/>
            </a:endParaRPr>
          </a:p>
          <a:p>
            <a:pPr algn="ctr"/>
            <a:r>
              <a:rPr lang="ja-JP" altLang="en-US" sz="1400" dirty="0">
                <a:latin typeface="Meiryo UI" panose="020B0604030504040204" pitchFamily="50" charset="-128"/>
                <a:ea typeface="Meiryo UI" panose="020B0604030504040204" pitchFamily="50" charset="-128"/>
              </a:rPr>
              <a:t>入力</a:t>
            </a:r>
            <a:endParaRPr lang="en-US" altLang="ja-JP" sz="1400" dirty="0">
              <a:latin typeface="Meiryo UI" panose="020B0604030504040204" pitchFamily="50" charset="-128"/>
              <a:ea typeface="Meiryo UI" panose="020B0604030504040204" pitchFamily="50" charset="-128"/>
            </a:endParaRPr>
          </a:p>
        </p:txBody>
      </p:sp>
      <p:sp>
        <p:nvSpPr>
          <p:cNvPr id="9" name="角丸四角形 8"/>
          <p:cNvSpPr/>
          <p:nvPr/>
        </p:nvSpPr>
        <p:spPr>
          <a:xfrm>
            <a:off x="6316956" y="3965367"/>
            <a:ext cx="1408684" cy="9050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⑤不採用伝票入力</a:t>
            </a: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36003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6186874" y="1115060"/>
            <a:ext cx="2830588" cy="360000"/>
          </a:xfrm>
          <a:prstGeom prst="rect">
            <a:avLst/>
          </a:prstGeom>
        </p:spPr>
      </p:pic>
      <p:pic>
        <p:nvPicPr>
          <p:cNvPr id="2" name="図 1"/>
          <p:cNvPicPr>
            <a:picLocks noChangeAspect="1"/>
          </p:cNvPicPr>
          <p:nvPr/>
        </p:nvPicPr>
        <p:blipFill>
          <a:blip r:embed="rId3"/>
          <a:stretch>
            <a:fillRect/>
          </a:stretch>
        </p:blipFill>
        <p:spPr>
          <a:xfrm>
            <a:off x="5352536" y="1618709"/>
            <a:ext cx="3344424" cy="5025072"/>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画面起動</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購買管理」→「購買管理」</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「見積依頼</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見積」→「見積」と遷移します。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ME49 –</a:t>
            </a:r>
            <a:r>
              <a:rPr lang="ja-JP" altLang="en-US" dirty="0">
                <a:latin typeface="Meiryo UI" pitchFamily="50" charset="-128"/>
                <a:ea typeface="Meiryo UI" pitchFamily="50" charset="-128"/>
                <a:cs typeface="Meiryo UI" pitchFamily="50" charset="-128"/>
              </a:rPr>
              <a:t> 価格比較」を選択、</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またはコマンド入力欄に</a:t>
            </a:r>
            <a:r>
              <a:rPr lang="en-US" altLang="ja-JP" dirty="0">
                <a:latin typeface="Meiryo UI" pitchFamily="50" charset="-128"/>
                <a:ea typeface="Meiryo UI" pitchFamily="50" charset="-128"/>
                <a:cs typeface="Meiryo UI" pitchFamily="50" charset="-128"/>
              </a:rPr>
              <a:t>’ME49’</a:t>
            </a:r>
            <a:r>
              <a:rPr lang="ja-JP" altLang="en-US" dirty="0">
                <a:latin typeface="Meiryo UI" pitchFamily="50" charset="-128"/>
                <a:ea typeface="Meiryo UI" pitchFamily="50" charset="-128"/>
                <a:cs typeface="Meiryo UI" pitchFamily="50" charset="-128"/>
              </a:rPr>
              <a:t>と入力します。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３ ／ １２ ）</a:t>
            </a:r>
            <a:endParaRPr kumimoji="1" lang="ja-JP" altLang="en-US" sz="2000" dirty="0">
              <a:latin typeface="Meiryo UI" pitchFamily="50" charset="-128"/>
              <a:ea typeface="Meiryo UI" pitchFamily="50" charset="-128"/>
              <a:cs typeface="Meiryo UI" pitchFamily="50" charset="-128"/>
            </a:endParaRPr>
          </a:p>
        </p:txBody>
      </p:sp>
      <p:sp>
        <p:nvSpPr>
          <p:cNvPr id="6" name="正方形/長方形 5"/>
          <p:cNvSpPr/>
          <p:nvPr/>
        </p:nvSpPr>
        <p:spPr>
          <a:xfrm>
            <a:off x="6453242" y="6299200"/>
            <a:ext cx="1502038" cy="2471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右カーブ矢印 6"/>
          <p:cNvSpPr/>
          <p:nvPr/>
        </p:nvSpPr>
        <p:spPr>
          <a:xfrm>
            <a:off x="5284717" y="3329210"/>
            <a:ext cx="312418" cy="949520"/>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8" name="右カーブ矢印 7"/>
          <p:cNvSpPr/>
          <p:nvPr/>
        </p:nvSpPr>
        <p:spPr>
          <a:xfrm>
            <a:off x="5520104" y="4190460"/>
            <a:ext cx="241935" cy="411689"/>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9" name="右カーブ矢印 8"/>
          <p:cNvSpPr/>
          <p:nvPr/>
        </p:nvSpPr>
        <p:spPr>
          <a:xfrm>
            <a:off x="5685357" y="4547706"/>
            <a:ext cx="172543" cy="254276"/>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0" name="右カーブ矢印 9"/>
          <p:cNvSpPr/>
          <p:nvPr/>
        </p:nvSpPr>
        <p:spPr>
          <a:xfrm>
            <a:off x="5643441" y="4730174"/>
            <a:ext cx="348534" cy="789824"/>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1" name="右カーブ矢印 10"/>
          <p:cNvSpPr/>
          <p:nvPr/>
        </p:nvSpPr>
        <p:spPr>
          <a:xfrm>
            <a:off x="5926620" y="5466492"/>
            <a:ext cx="185147" cy="471948"/>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3" name="右カーブ矢印 12"/>
          <p:cNvSpPr/>
          <p:nvPr/>
        </p:nvSpPr>
        <p:spPr>
          <a:xfrm>
            <a:off x="6090822" y="5868025"/>
            <a:ext cx="218538" cy="657957"/>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4" name="正方形/長方形 13"/>
          <p:cNvSpPr/>
          <p:nvPr/>
        </p:nvSpPr>
        <p:spPr>
          <a:xfrm>
            <a:off x="5600062" y="2133506"/>
            <a:ext cx="1857377" cy="2848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6189071" y="111262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829428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伝票検索</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赤枠を入力し、「実行」ボタンをクリックします。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４ ／ １２ ）</a:t>
            </a:r>
            <a:endParaRPr kumimoji="1" lang="ja-JP" altLang="en-US" sz="2000" dirty="0">
              <a:latin typeface="Meiryo UI" pitchFamily="50" charset="-128"/>
              <a:ea typeface="Meiryo UI" pitchFamily="50" charset="-128"/>
              <a:cs typeface="Meiryo UI" pitchFamily="50" charset="-128"/>
            </a:endParaRPr>
          </a:p>
        </p:txBody>
      </p:sp>
      <p:pic>
        <p:nvPicPr>
          <p:cNvPr id="4" name="図 3"/>
          <p:cNvPicPr>
            <a:picLocks noChangeAspect="1"/>
          </p:cNvPicPr>
          <p:nvPr/>
        </p:nvPicPr>
        <p:blipFill>
          <a:blip r:embed="rId3"/>
          <a:stretch>
            <a:fillRect/>
          </a:stretch>
        </p:blipFill>
        <p:spPr>
          <a:xfrm>
            <a:off x="198683" y="2040667"/>
            <a:ext cx="6248409" cy="4482054"/>
          </a:xfrm>
          <a:prstGeom prst="rect">
            <a:avLst/>
          </a:prstGeom>
        </p:spPr>
      </p:pic>
      <p:graphicFrame>
        <p:nvGraphicFramePr>
          <p:cNvPr id="8" name="表 7"/>
          <p:cNvGraphicFramePr>
            <a:graphicFrameLocks noGrp="1"/>
          </p:cNvGraphicFramePr>
          <p:nvPr>
            <p:extLst>
              <p:ext uri="{D42A27DB-BD31-4B8C-83A1-F6EECF244321}">
                <p14:modId xmlns:p14="http://schemas.microsoft.com/office/powerpoint/2010/main" val="409340864"/>
              </p:ext>
            </p:extLst>
          </p:nvPr>
        </p:nvGraphicFramePr>
        <p:xfrm>
          <a:off x="4561697" y="4317999"/>
          <a:ext cx="4510468" cy="1483360"/>
        </p:xfrm>
        <a:graphic>
          <a:graphicData uri="http://schemas.openxmlformats.org/drawingml/2006/table">
            <a:tbl>
              <a:tblPr firstRow="1" bandRow="1">
                <a:tableStyleId>{7DF18680-E054-41AD-8BC1-D1AEF772440D}</a:tableStyleId>
              </a:tblPr>
              <a:tblGrid>
                <a:gridCol w="2255520">
                  <a:extLst>
                    <a:ext uri="{9D8B030D-6E8A-4147-A177-3AD203B41FA5}">
                      <a16:colId xmlns:a16="http://schemas.microsoft.com/office/drawing/2014/main" val="20000"/>
                    </a:ext>
                  </a:extLst>
                </a:gridCol>
                <a:gridCol w="2254948">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購買組織</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1510</a:t>
                      </a:r>
                    </a:p>
                  </a:txBody>
                  <a:tcPr anchor="ctr"/>
                </a:tc>
                <a:extLst>
                  <a:ext uri="{0D108BD9-81ED-4DB2-BD59-A6C34878D82A}">
                    <a16:rowId xmlns:a16="http://schemas.microsoft.com/office/drawing/2014/main" val="10001"/>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一括見積依頼</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控えた購買依頼番号</a:t>
                      </a:r>
                      <a:endParaRPr kumimoji="1" lang="en-US" altLang="ja-JP"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割合基準</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a:t>
                      </a:r>
                    </a:p>
                  </a:txBody>
                  <a:tcPr anchor="ctr"/>
                </a:tc>
                <a:extLst>
                  <a:ext uri="{0D108BD9-81ED-4DB2-BD59-A6C34878D82A}">
                    <a16:rowId xmlns:a16="http://schemas.microsoft.com/office/drawing/2014/main" val="10003"/>
                  </a:ext>
                </a:extLst>
              </a:tr>
            </a:tbl>
          </a:graphicData>
        </a:graphic>
      </p:graphicFrame>
      <p:sp>
        <p:nvSpPr>
          <p:cNvPr id="6" name="正方形/長方形 5"/>
          <p:cNvSpPr/>
          <p:nvPr/>
        </p:nvSpPr>
        <p:spPr>
          <a:xfrm>
            <a:off x="1727200" y="3078480"/>
            <a:ext cx="1747520" cy="7010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5958931" y="6126480"/>
            <a:ext cx="457681" cy="3657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1978991" y="5362260"/>
            <a:ext cx="853661" cy="2632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p:cNvPicPr>
            <a:picLocks noChangeAspect="1"/>
          </p:cNvPicPr>
          <p:nvPr/>
        </p:nvPicPr>
        <p:blipFill>
          <a:blip r:embed="rId4"/>
          <a:stretch>
            <a:fillRect/>
          </a:stretch>
        </p:blipFill>
        <p:spPr>
          <a:xfrm>
            <a:off x="6186874" y="1115060"/>
            <a:ext cx="2830588" cy="360000"/>
          </a:xfrm>
          <a:prstGeom prst="rect">
            <a:avLst/>
          </a:prstGeom>
        </p:spPr>
      </p:pic>
      <p:sp>
        <p:nvSpPr>
          <p:cNvPr id="13" name="正方形/長方形 12"/>
          <p:cNvSpPr/>
          <p:nvPr/>
        </p:nvSpPr>
        <p:spPr>
          <a:xfrm>
            <a:off x="6752951" y="111262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074321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回答比較</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この画面で価格比較ができます。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「追加情報」ボタンをボタンクリックします。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５ ／ １２ ）</a:t>
            </a:r>
            <a:endParaRPr kumimoji="1" lang="ja-JP" altLang="en-US" sz="2000" dirty="0">
              <a:latin typeface="Meiryo UI" pitchFamily="50" charset="-128"/>
              <a:ea typeface="Meiryo UI" pitchFamily="50" charset="-128"/>
              <a:cs typeface="Meiryo UI" pitchFamily="50" charset="-128"/>
            </a:endParaRPr>
          </a:p>
        </p:txBody>
      </p:sp>
      <p:pic>
        <p:nvPicPr>
          <p:cNvPr id="3" name="図 2"/>
          <p:cNvPicPr>
            <a:picLocks noChangeAspect="1"/>
          </p:cNvPicPr>
          <p:nvPr/>
        </p:nvPicPr>
        <p:blipFill>
          <a:blip r:embed="rId3"/>
          <a:stretch>
            <a:fillRect/>
          </a:stretch>
        </p:blipFill>
        <p:spPr>
          <a:xfrm>
            <a:off x="260351" y="2584173"/>
            <a:ext cx="8561400" cy="3947697"/>
          </a:xfrm>
          <a:prstGeom prst="rect">
            <a:avLst/>
          </a:prstGeom>
        </p:spPr>
      </p:pic>
      <p:sp>
        <p:nvSpPr>
          <p:cNvPr id="4" name="正方形/長方形 3"/>
          <p:cNvSpPr/>
          <p:nvPr/>
        </p:nvSpPr>
        <p:spPr>
          <a:xfrm>
            <a:off x="5367130" y="3120887"/>
            <a:ext cx="536713" cy="2981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p:cNvPicPr>
            <a:picLocks noChangeAspect="1"/>
          </p:cNvPicPr>
          <p:nvPr/>
        </p:nvPicPr>
        <p:blipFill>
          <a:blip r:embed="rId4"/>
          <a:stretch>
            <a:fillRect/>
          </a:stretch>
        </p:blipFill>
        <p:spPr>
          <a:xfrm>
            <a:off x="6186874" y="1115060"/>
            <a:ext cx="2830588" cy="360000"/>
          </a:xfrm>
          <a:prstGeom prst="rect">
            <a:avLst/>
          </a:prstGeom>
        </p:spPr>
      </p:pic>
      <p:sp>
        <p:nvSpPr>
          <p:cNvPr id="7" name="正方形/長方形 6"/>
          <p:cNvSpPr/>
          <p:nvPr/>
        </p:nvSpPr>
        <p:spPr>
          <a:xfrm>
            <a:off x="7324451" y="111262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28750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回答比較</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この画面では支払条件が比較できます。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ひとつ前の画面へ戻ります。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６ ／ １２ ）</a:t>
            </a:r>
            <a:endParaRPr kumimoji="1" lang="ja-JP" altLang="en-US" sz="2000" dirty="0">
              <a:latin typeface="Meiryo UI" pitchFamily="50" charset="-128"/>
              <a:ea typeface="Meiryo UI" pitchFamily="50" charset="-128"/>
              <a:cs typeface="Meiryo UI" pitchFamily="50" charset="-128"/>
            </a:endParaRPr>
          </a:p>
        </p:txBody>
      </p:sp>
      <p:pic>
        <p:nvPicPr>
          <p:cNvPr id="2" name="図 1"/>
          <p:cNvPicPr>
            <a:picLocks noChangeAspect="1"/>
          </p:cNvPicPr>
          <p:nvPr/>
        </p:nvPicPr>
        <p:blipFill>
          <a:blip r:embed="rId3"/>
          <a:stretch>
            <a:fillRect/>
          </a:stretch>
        </p:blipFill>
        <p:spPr>
          <a:xfrm>
            <a:off x="198683" y="2529840"/>
            <a:ext cx="5907477" cy="4053317"/>
          </a:xfrm>
          <a:prstGeom prst="rect">
            <a:avLst/>
          </a:prstGeom>
        </p:spPr>
      </p:pic>
      <p:sp>
        <p:nvSpPr>
          <p:cNvPr id="3" name="正方形/長方形 2"/>
          <p:cNvSpPr/>
          <p:nvPr/>
        </p:nvSpPr>
        <p:spPr>
          <a:xfrm>
            <a:off x="436880" y="2733040"/>
            <a:ext cx="335280" cy="2844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p:cNvPicPr>
            <a:picLocks noChangeAspect="1"/>
          </p:cNvPicPr>
          <p:nvPr/>
        </p:nvPicPr>
        <p:blipFill>
          <a:blip r:embed="rId4"/>
          <a:stretch>
            <a:fillRect/>
          </a:stretch>
        </p:blipFill>
        <p:spPr>
          <a:xfrm>
            <a:off x="6186874" y="1115060"/>
            <a:ext cx="2830588" cy="360000"/>
          </a:xfrm>
          <a:prstGeom prst="rect">
            <a:avLst/>
          </a:prstGeom>
        </p:spPr>
      </p:pic>
      <p:sp>
        <p:nvSpPr>
          <p:cNvPr id="7" name="正方形/長方形 6"/>
          <p:cNvSpPr/>
          <p:nvPr/>
        </p:nvSpPr>
        <p:spPr>
          <a:xfrm>
            <a:off x="7324451" y="1112626"/>
            <a:ext cx="552970"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454370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p:cNvPicPr>
            <a:picLocks noChangeAspect="1"/>
          </p:cNvPicPr>
          <p:nvPr/>
        </p:nvPicPr>
        <p:blipFill rotWithShape="1">
          <a:blip r:embed="rId3"/>
          <a:srcRect r="56023" b="18930"/>
          <a:stretch/>
        </p:blipFill>
        <p:spPr>
          <a:xfrm>
            <a:off x="4180828" y="1510448"/>
            <a:ext cx="3957332" cy="2918807"/>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採用伝票入力</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比較結果を入力します。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今回は価格の安い方を採用します。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伝票番号をダブルクリックします。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明細概要の画面へ遷移します。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「明細詳細」ボタンをクリックします。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７ ／ １２ ）</a:t>
            </a:r>
            <a:endParaRPr kumimoji="1" lang="ja-JP" altLang="en-US" sz="2000" dirty="0">
              <a:latin typeface="Meiryo UI" pitchFamily="50" charset="-128"/>
              <a:ea typeface="Meiryo UI" pitchFamily="50" charset="-128"/>
              <a:cs typeface="Meiryo UI" pitchFamily="50" charset="-128"/>
            </a:endParaRPr>
          </a:p>
        </p:txBody>
      </p:sp>
      <p:sp>
        <p:nvSpPr>
          <p:cNvPr id="4" name="正方形/長方形 3"/>
          <p:cNvSpPr/>
          <p:nvPr/>
        </p:nvSpPr>
        <p:spPr>
          <a:xfrm>
            <a:off x="6103620" y="2521456"/>
            <a:ext cx="606231" cy="1912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p:cNvPicPr>
            <a:picLocks noChangeAspect="1"/>
          </p:cNvPicPr>
          <p:nvPr/>
        </p:nvPicPr>
        <p:blipFill>
          <a:blip r:embed="rId4"/>
          <a:stretch>
            <a:fillRect/>
          </a:stretch>
        </p:blipFill>
        <p:spPr>
          <a:xfrm>
            <a:off x="3709069" y="4488467"/>
            <a:ext cx="5314199" cy="2146242"/>
          </a:xfrm>
          <a:prstGeom prst="rect">
            <a:avLst/>
          </a:prstGeom>
        </p:spPr>
      </p:pic>
      <p:sp>
        <p:nvSpPr>
          <p:cNvPr id="9" name="正方形/長方形 8"/>
          <p:cNvSpPr/>
          <p:nvPr/>
        </p:nvSpPr>
        <p:spPr>
          <a:xfrm>
            <a:off x="7750176" y="4805459"/>
            <a:ext cx="387984" cy="1932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p:cNvPicPr>
            <a:picLocks noChangeAspect="1"/>
          </p:cNvPicPr>
          <p:nvPr/>
        </p:nvPicPr>
        <p:blipFill>
          <a:blip r:embed="rId5"/>
          <a:stretch>
            <a:fillRect/>
          </a:stretch>
        </p:blipFill>
        <p:spPr>
          <a:xfrm>
            <a:off x="6186874" y="1115060"/>
            <a:ext cx="2830588" cy="360000"/>
          </a:xfrm>
          <a:prstGeom prst="rect">
            <a:avLst/>
          </a:prstGeom>
        </p:spPr>
      </p:pic>
      <p:sp>
        <p:nvSpPr>
          <p:cNvPr id="11" name="正方形/長方形 10"/>
          <p:cNvSpPr/>
          <p:nvPr/>
        </p:nvSpPr>
        <p:spPr>
          <a:xfrm>
            <a:off x="788833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721027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採用伝票入力</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見積コメントを入力します。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８ ／ １２ ）</a:t>
            </a:r>
            <a:endParaRPr kumimoji="1" lang="ja-JP" altLang="en-US" sz="2000" dirty="0">
              <a:latin typeface="Meiryo UI" pitchFamily="50" charset="-128"/>
              <a:ea typeface="Meiryo UI" pitchFamily="50" charset="-128"/>
              <a:cs typeface="Meiryo UI" pitchFamily="50" charset="-128"/>
            </a:endParaRPr>
          </a:p>
        </p:txBody>
      </p:sp>
      <p:pic>
        <p:nvPicPr>
          <p:cNvPr id="3" name="図 2"/>
          <p:cNvPicPr>
            <a:picLocks noChangeAspect="1"/>
          </p:cNvPicPr>
          <p:nvPr/>
        </p:nvPicPr>
        <p:blipFill>
          <a:blip r:embed="rId3"/>
          <a:stretch>
            <a:fillRect/>
          </a:stretch>
        </p:blipFill>
        <p:spPr>
          <a:xfrm>
            <a:off x="198683" y="2100822"/>
            <a:ext cx="8142677" cy="4406375"/>
          </a:xfrm>
          <a:prstGeom prst="rect">
            <a:avLst/>
          </a:prstGeom>
        </p:spPr>
      </p:pic>
      <p:graphicFrame>
        <p:nvGraphicFramePr>
          <p:cNvPr id="7" name="表 6"/>
          <p:cNvGraphicFramePr>
            <a:graphicFrameLocks noGrp="1"/>
          </p:cNvGraphicFramePr>
          <p:nvPr>
            <p:extLst>
              <p:ext uri="{D42A27DB-BD31-4B8C-83A1-F6EECF244321}">
                <p14:modId xmlns:p14="http://schemas.microsoft.com/office/powerpoint/2010/main" val="458921203"/>
              </p:ext>
            </p:extLst>
          </p:nvPr>
        </p:nvGraphicFramePr>
        <p:xfrm>
          <a:off x="4370561" y="4775199"/>
          <a:ext cx="4510468" cy="980440"/>
        </p:xfrm>
        <a:graphic>
          <a:graphicData uri="http://schemas.openxmlformats.org/drawingml/2006/table">
            <a:tbl>
              <a:tblPr firstRow="1" bandRow="1">
                <a:tableStyleId>{7DF18680-E054-41AD-8BC1-D1AEF772440D}</a:tableStyleId>
              </a:tblPr>
              <a:tblGrid>
                <a:gridCol w="2255520">
                  <a:extLst>
                    <a:ext uri="{9D8B030D-6E8A-4147-A177-3AD203B41FA5}">
                      <a16:colId xmlns:a16="http://schemas.microsoft.com/office/drawing/2014/main" val="20000"/>
                    </a:ext>
                  </a:extLst>
                </a:gridCol>
                <a:gridCol w="2254948">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見積コメント</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OK1</a:t>
                      </a:r>
                    </a:p>
                    <a:p>
                      <a:pPr algn="ctr"/>
                      <a:r>
                        <a:rPr kumimoji="1" lang="en-US" altLang="ja-JP" sz="1600" dirty="0">
                          <a:latin typeface="Meiryo UI" panose="020B0604030504040204" pitchFamily="50" charset="-128"/>
                          <a:ea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rPr>
                        <a:t>価格理由への承認</a:t>
                      </a:r>
                      <a:r>
                        <a:rPr kumimoji="1" lang="en-US" altLang="ja-JP" sz="1600" dirty="0">
                          <a:latin typeface="Meiryo UI" panose="020B0604030504040204" pitchFamily="50" charset="-128"/>
                          <a:ea typeface="Meiryo UI" panose="020B0604030504040204" pitchFamily="50" charset="-128"/>
                        </a:rPr>
                        <a:t>)</a:t>
                      </a:r>
                    </a:p>
                  </a:txBody>
                  <a:tcPr anchor="ctr"/>
                </a:tc>
                <a:extLst>
                  <a:ext uri="{0D108BD9-81ED-4DB2-BD59-A6C34878D82A}">
                    <a16:rowId xmlns:a16="http://schemas.microsoft.com/office/drawing/2014/main" val="10001"/>
                  </a:ext>
                </a:extLst>
              </a:tr>
            </a:tbl>
          </a:graphicData>
        </a:graphic>
      </p:graphicFrame>
      <p:sp>
        <p:nvSpPr>
          <p:cNvPr id="4" name="正方形/長方形 3"/>
          <p:cNvSpPr/>
          <p:nvPr/>
        </p:nvSpPr>
        <p:spPr>
          <a:xfrm>
            <a:off x="589280" y="5730240"/>
            <a:ext cx="772160" cy="1930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4"/>
          <a:stretch>
            <a:fillRect/>
          </a:stretch>
        </p:blipFill>
        <p:spPr>
          <a:xfrm>
            <a:off x="6186874" y="1115060"/>
            <a:ext cx="2830588" cy="360000"/>
          </a:xfrm>
          <a:prstGeom prst="rect">
            <a:avLst/>
          </a:prstGeom>
        </p:spPr>
      </p:pic>
      <p:sp>
        <p:nvSpPr>
          <p:cNvPr id="9" name="正方形/長方形 8"/>
          <p:cNvSpPr/>
          <p:nvPr/>
        </p:nvSpPr>
        <p:spPr>
          <a:xfrm>
            <a:off x="788833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048853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採用伝票入力</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r>
              <a:rPr lang="ja-JP" altLang="en-US" dirty="0">
                <a:latin typeface="Meiryo UI" pitchFamily="50" charset="-128"/>
                <a:ea typeface="Meiryo UI" pitchFamily="50" charset="-128"/>
                <a:cs typeface="Meiryo UI" pitchFamily="50" charset="-128"/>
              </a:rPr>
              <a:t>右下の「保存」ボタンをクリックします。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r>
              <a:rPr lang="ja-JP" altLang="en-US" dirty="0">
                <a:latin typeface="Meiryo UI" pitchFamily="50" charset="-128"/>
                <a:ea typeface="Meiryo UI" pitchFamily="50" charset="-128"/>
                <a:cs typeface="Meiryo UI" pitchFamily="50" charset="-128"/>
              </a:rPr>
              <a:t>画面左下に以下のメッセージが表示されます。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９ ／ １２ ）</a:t>
            </a:r>
            <a:endParaRPr kumimoji="1" lang="ja-JP" altLang="en-US" sz="2000" dirty="0">
              <a:latin typeface="Meiryo UI" pitchFamily="50" charset="-128"/>
              <a:ea typeface="Meiryo UI" pitchFamily="50" charset="-128"/>
              <a:cs typeface="Meiryo UI" pitchFamily="50" charset="-128"/>
            </a:endParaRPr>
          </a:p>
        </p:txBody>
      </p:sp>
      <p:pic>
        <p:nvPicPr>
          <p:cNvPr id="4" name="図 3"/>
          <p:cNvPicPr>
            <a:picLocks noChangeAspect="1"/>
          </p:cNvPicPr>
          <p:nvPr/>
        </p:nvPicPr>
        <p:blipFill>
          <a:blip r:embed="rId3"/>
          <a:stretch>
            <a:fillRect/>
          </a:stretch>
        </p:blipFill>
        <p:spPr>
          <a:xfrm>
            <a:off x="198683" y="5737808"/>
            <a:ext cx="4295775" cy="657225"/>
          </a:xfrm>
          <a:prstGeom prst="rect">
            <a:avLst/>
          </a:prstGeom>
        </p:spPr>
      </p:pic>
      <p:pic>
        <p:nvPicPr>
          <p:cNvPr id="8" name="図 7"/>
          <p:cNvPicPr>
            <a:picLocks noChangeAspect="1"/>
          </p:cNvPicPr>
          <p:nvPr/>
        </p:nvPicPr>
        <p:blipFill>
          <a:blip r:embed="rId4"/>
          <a:stretch>
            <a:fillRect/>
          </a:stretch>
        </p:blipFill>
        <p:spPr>
          <a:xfrm>
            <a:off x="198683" y="2100822"/>
            <a:ext cx="6068566" cy="3283978"/>
          </a:xfrm>
          <a:prstGeom prst="rect">
            <a:avLst/>
          </a:prstGeom>
        </p:spPr>
      </p:pic>
      <p:sp>
        <p:nvSpPr>
          <p:cNvPr id="6" name="正方形/長方形 5"/>
          <p:cNvSpPr/>
          <p:nvPr/>
        </p:nvSpPr>
        <p:spPr>
          <a:xfrm>
            <a:off x="5577840" y="5090160"/>
            <a:ext cx="314960" cy="2946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p:cNvPicPr>
            <a:picLocks noChangeAspect="1"/>
          </p:cNvPicPr>
          <p:nvPr/>
        </p:nvPicPr>
        <p:blipFill>
          <a:blip r:embed="rId5"/>
          <a:stretch>
            <a:fillRect/>
          </a:stretch>
        </p:blipFill>
        <p:spPr>
          <a:xfrm>
            <a:off x="6186874" y="1115060"/>
            <a:ext cx="2830588" cy="360000"/>
          </a:xfrm>
          <a:prstGeom prst="rect">
            <a:avLst/>
          </a:prstGeom>
        </p:spPr>
      </p:pic>
      <p:sp>
        <p:nvSpPr>
          <p:cNvPr id="9" name="正方形/長方形 8"/>
          <p:cNvSpPr/>
          <p:nvPr/>
        </p:nvSpPr>
        <p:spPr>
          <a:xfrm>
            <a:off x="788833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585745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3"/>
          <a:stretch>
            <a:fillRect/>
          </a:stretch>
        </p:blipFill>
        <p:spPr>
          <a:xfrm>
            <a:off x="3768962" y="4544746"/>
            <a:ext cx="5254307" cy="2013699"/>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不採用伝票入力</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続いて</a:t>
            </a:r>
            <a:r>
              <a:rPr lang="en-US" altLang="ja-JP" dirty="0">
                <a:latin typeface="Meiryo UI" pitchFamily="50" charset="-128"/>
                <a:ea typeface="Meiryo UI" pitchFamily="50" charset="-128"/>
                <a:cs typeface="Meiryo UI" pitchFamily="50" charset="-128"/>
              </a:rPr>
              <a:t>2</a:t>
            </a:r>
            <a:r>
              <a:rPr lang="ja-JP" altLang="en-US" dirty="0">
                <a:latin typeface="Meiryo UI" pitchFamily="50" charset="-128"/>
                <a:ea typeface="Meiryo UI" pitchFamily="50" charset="-128"/>
                <a:cs typeface="Meiryo UI" pitchFamily="50" charset="-128"/>
              </a:rPr>
              <a:t>伝票目の処理をします。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今回は価格の高いほうは不採用に</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します。伝票番号をダブルクリックします。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明細概要の画面へ遷移します。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「明細詳細」ボタンをクリックします。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１０ ／ １２ ）</a:t>
            </a:r>
            <a:endParaRPr kumimoji="1" lang="ja-JP" altLang="en-US" sz="2000" dirty="0">
              <a:latin typeface="Meiryo UI" pitchFamily="50" charset="-128"/>
              <a:ea typeface="Meiryo UI" pitchFamily="50" charset="-128"/>
              <a:cs typeface="Meiryo UI" pitchFamily="50" charset="-128"/>
            </a:endParaRPr>
          </a:p>
        </p:txBody>
      </p:sp>
      <p:sp>
        <p:nvSpPr>
          <p:cNvPr id="9" name="正方形/長方形 8"/>
          <p:cNvSpPr/>
          <p:nvPr/>
        </p:nvSpPr>
        <p:spPr>
          <a:xfrm>
            <a:off x="7577456" y="4825779"/>
            <a:ext cx="387984" cy="1932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p:cNvPicPr>
            <a:picLocks noChangeAspect="1"/>
          </p:cNvPicPr>
          <p:nvPr/>
        </p:nvPicPr>
        <p:blipFill>
          <a:blip r:embed="rId4"/>
          <a:stretch>
            <a:fillRect/>
          </a:stretch>
        </p:blipFill>
        <p:spPr>
          <a:xfrm>
            <a:off x="6186874" y="1115060"/>
            <a:ext cx="2830588" cy="360000"/>
          </a:xfrm>
          <a:prstGeom prst="rect">
            <a:avLst/>
          </a:prstGeom>
        </p:spPr>
      </p:pic>
      <p:sp>
        <p:nvSpPr>
          <p:cNvPr id="11" name="正方形/長方形 10"/>
          <p:cNvSpPr/>
          <p:nvPr/>
        </p:nvSpPr>
        <p:spPr>
          <a:xfrm>
            <a:off x="845983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p:cNvPicPr>
            <a:picLocks noChangeAspect="1"/>
          </p:cNvPicPr>
          <p:nvPr/>
        </p:nvPicPr>
        <p:blipFill rotWithShape="1">
          <a:blip r:embed="rId5"/>
          <a:srcRect r="56023" b="18930"/>
          <a:stretch/>
        </p:blipFill>
        <p:spPr>
          <a:xfrm>
            <a:off x="4180828" y="1510448"/>
            <a:ext cx="3957332" cy="2918807"/>
          </a:xfrm>
          <a:prstGeom prst="rect">
            <a:avLst/>
          </a:prstGeom>
        </p:spPr>
      </p:pic>
      <p:sp>
        <p:nvSpPr>
          <p:cNvPr id="14" name="正方形/長方形 13"/>
          <p:cNvSpPr/>
          <p:nvPr/>
        </p:nvSpPr>
        <p:spPr>
          <a:xfrm>
            <a:off x="6995160" y="2521456"/>
            <a:ext cx="606231" cy="1912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480169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不採用伝票入力</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見積コメントを入力します。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不採用の場合は「拒否区分」をオンにします。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１１ ／１２ ）</a:t>
            </a:r>
            <a:endParaRPr kumimoji="1" lang="ja-JP" altLang="en-US" sz="2000" dirty="0">
              <a:latin typeface="Meiryo UI" pitchFamily="50" charset="-128"/>
              <a:ea typeface="Meiryo UI" pitchFamily="50" charset="-128"/>
              <a:cs typeface="Meiryo UI" pitchFamily="50" charset="-128"/>
            </a:endParaRPr>
          </a:p>
        </p:txBody>
      </p:sp>
      <p:pic>
        <p:nvPicPr>
          <p:cNvPr id="3" name="図 2"/>
          <p:cNvPicPr>
            <a:picLocks noChangeAspect="1"/>
          </p:cNvPicPr>
          <p:nvPr/>
        </p:nvPicPr>
        <p:blipFill>
          <a:blip r:embed="rId3"/>
          <a:stretch>
            <a:fillRect/>
          </a:stretch>
        </p:blipFill>
        <p:spPr>
          <a:xfrm>
            <a:off x="198684" y="2580640"/>
            <a:ext cx="7256006" cy="3926557"/>
          </a:xfrm>
          <a:prstGeom prst="rect">
            <a:avLst/>
          </a:prstGeom>
        </p:spPr>
      </p:pic>
      <p:graphicFrame>
        <p:nvGraphicFramePr>
          <p:cNvPr id="7" name="表 6"/>
          <p:cNvGraphicFramePr>
            <a:graphicFrameLocks noGrp="1"/>
          </p:cNvGraphicFramePr>
          <p:nvPr>
            <p:extLst>
              <p:ext uri="{D42A27DB-BD31-4B8C-83A1-F6EECF244321}">
                <p14:modId xmlns:p14="http://schemas.microsoft.com/office/powerpoint/2010/main" val="1559994455"/>
              </p:ext>
            </p:extLst>
          </p:nvPr>
        </p:nvGraphicFramePr>
        <p:xfrm>
          <a:off x="4635910" y="4673599"/>
          <a:ext cx="4387359" cy="1351280"/>
        </p:xfrm>
        <a:graphic>
          <a:graphicData uri="http://schemas.openxmlformats.org/drawingml/2006/table">
            <a:tbl>
              <a:tblPr firstRow="1" bandRow="1">
                <a:tableStyleId>{7DF18680-E054-41AD-8BC1-D1AEF772440D}</a:tableStyleId>
              </a:tblPr>
              <a:tblGrid>
                <a:gridCol w="1959119">
                  <a:extLst>
                    <a:ext uri="{9D8B030D-6E8A-4147-A177-3AD203B41FA5}">
                      <a16:colId xmlns:a16="http://schemas.microsoft.com/office/drawing/2014/main" val="20000"/>
                    </a:ext>
                  </a:extLst>
                </a:gridCol>
                <a:gridCol w="242824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見積コメント</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AB1</a:t>
                      </a:r>
                    </a:p>
                    <a:p>
                      <a:pPr algn="ctr"/>
                      <a:r>
                        <a:rPr kumimoji="1" lang="en-US" altLang="ja-JP" sz="1600" dirty="0">
                          <a:latin typeface="Meiryo UI" panose="020B0604030504040204" pitchFamily="50" charset="-128"/>
                          <a:ea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rPr>
                        <a:t>価格理由への拒否</a:t>
                      </a:r>
                      <a:r>
                        <a:rPr kumimoji="1" lang="en-US" altLang="ja-JP" sz="1600" dirty="0">
                          <a:latin typeface="Meiryo UI" panose="020B0604030504040204" pitchFamily="50" charset="-128"/>
                          <a:ea typeface="Meiryo UI" panose="020B0604030504040204" pitchFamily="50" charset="-128"/>
                        </a:rPr>
                        <a:t>)</a:t>
                      </a:r>
                    </a:p>
                  </a:txBody>
                  <a:tcPr anchor="ctr"/>
                </a:tc>
                <a:extLst>
                  <a:ext uri="{0D108BD9-81ED-4DB2-BD59-A6C34878D82A}">
                    <a16:rowId xmlns:a16="http://schemas.microsoft.com/office/drawing/2014/main" val="10001"/>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拒否区分</a:t>
                      </a:r>
                    </a:p>
                  </a:txBody>
                  <a:tcPr anchor="ctr"/>
                </a:tc>
                <a:tc>
                  <a:txBody>
                    <a:bodyPr/>
                    <a:lstStyle/>
                    <a:p>
                      <a:pPr algn="ctr"/>
                      <a:r>
                        <a:rPr kumimoji="1" lang="en-US" altLang="ja-JP" sz="1600" dirty="0">
                          <a:latin typeface="Meiryo UI" panose="020B0604030504040204" pitchFamily="50" charset="-128"/>
                          <a:ea typeface="Meiryo UI" panose="020B0604030504040204" pitchFamily="50" charset="-128"/>
                        </a:rPr>
                        <a:t>‘on’</a:t>
                      </a:r>
                    </a:p>
                  </a:txBody>
                  <a:tcPr anchor="ctr"/>
                </a:tc>
                <a:extLst>
                  <a:ext uri="{0D108BD9-81ED-4DB2-BD59-A6C34878D82A}">
                    <a16:rowId xmlns:a16="http://schemas.microsoft.com/office/drawing/2014/main" val="10002"/>
                  </a:ext>
                </a:extLst>
              </a:tr>
            </a:tbl>
          </a:graphicData>
        </a:graphic>
      </p:graphicFrame>
      <p:sp>
        <p:nvSpPr>
          <p:cNvPr id="4" name="正方形/長方形 3"/>
          <p:cNvSpPr/>
          <p:nvPr/>
        </p:nvSpPr>
        <p:spPr>
          <a:xfrm>
            <a:off x="198682" y="5811520"/>
            <a:ext cx="1091638" cy="304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4"/>
          <a:stretch>
            <a:fillRect/>
          </a:stretch>
        </p:blipFill>
        <p:spPr>
          <a:xfrm>
            <a:off x="6186874" y="1115060"/>
            <a:ext cx="2830588" cy="360000"/>
          </a:xfrm>
          <a:prstGeom prst="rect">
            <a:avLst/>
          </a:prstGeom>
        </p:spPr>
      </p:pic>
      <p:sp>
        <p:nvSpPr>
          <p:cNvPr id="9" name="正方形/長方形 8"/>
          <p:cNvSpPr/>
          <p:nvPr/>
        </p:nvSpPr>
        <p:spPr>
          <a:xfrm>
            <a:off x="845983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025320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3"/>
          <a:stretch>
            <a:fillRect/>
          </a:stretch>
        </p:blipFill>
        <p:spPr>
          <a:xfrm>
            <a:off x="198682" y="2097944"/>
            <a:ext cx="6059877" cy="3279278"/>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不採用伝票入力</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r>
              <a:rPr lang="ja-JP" altLang="en-US" dirty="0">
                <a:latin typeface="Meiryo UI" pitchFamily="50" charset="-128"/>
                <a:ea typeface="Meiryo UI" pitchFamily="50" charset="-128"/>
                <a:cs typeface="Meiryo UI" pitchFamily="50" charset="-128"/>
              </a:rPr>
              <a:t>右下の「保存」ボタンをクリックします。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r>
              <a:rPr lang="ja-JP" altLang="en-US" dirty="0">
                <a:latin typeface="Meiryo UI" pitchFamily="50" charset="-128"/>
                <a:ea typeface="Meiryo UI" pitchFamily="50" charset="-128"/>
                <a:cs typeface="Meiryo UI" pitchFamily="50" charset="-128"/>
              </a:rPr>
              <a:t>画面左下に以下のメッセージが表示されます。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６．４</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見積結果の比較 （ １２ ／ １２ ）</a:t>
            </a:r>
            <a:endParaRPr kumimoji="1" lang="ja-JP" altLang="en-US" sz="2000" dirty="0">
              <a:latin typeface="Meiryo UI" pitchFamily="50" charset="-128"/>
              <a:ea typeface="Meiryo UI" pitchFamily="50" charset="-128"/>
              <a:cs typeface="Meiryo UI" pitchFamily="50" charset="-128"/>
            </a:endParaRPr>
          </a:p>
        </p:txBody>
      </p:sp>
      <p:sp>
        <p:nvSpPr>
          <p:cNvPr id="6" name="正方形/長方形 5"/>
          <p:cNvSpPr/>
          <p:nvPr/>
        </p:nvSpPr>
        <p:spPr>
          <a:xfrm>
            <a:off x="5577840" y="5090160"/>
            <a:ext cx="314960" cy="2946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p:cNvPicPr>
            <a:picLocks noChangeAspect="1"/>
          </p:cNvPicPr>
          <p:nvPr/>
        </p:nvPicPr>
        <p:blipFill>
          <a:blip r:embed="rId4"/>
          <a:stretch>
            <a:fillRect/>
          </a:stretch>
        </p:blipFill>
        <p:spPr>
          <a:xfrm>
            <a:off x="198682" y="5803801"/>
            <a:ext cx="4162425" cy="733425"/>
          </a:xfrm>
          <a:prstGeom prst="rect">
            <a:avLst/>
          </a:prstGeom>
        </p:spPr>
      </p:pic>
      <p:pic>
        <p:nvPicPr>
          <p:cNvPr id="7" name="図 6"/>
          <p:cNvPicPr>
            <a:picLocks noChangeAspect="1"/>
          </p:cNvPicPr>
          <p:nvPr/>
        </p:nvPicPr>
        <p:blipFill>
          <a:blip r:embed="rId5"/>
          <a:stretch>
            <a:fillRect/>
          </a:stretch>
        </p:blipFill>
        <p:spPr>
          <a:xfrm>
            <a:off x="6186874" y="1115060"/>
            <a:ext cx="2830588" cy="360000"/>
          </a:xfrm>
          <a:prstGeom prst="rect">
            <a:avLst/>
          </a:prstGeom>
        </p:spPr>
      </p:pic>
      <p:sp>
        <p:nvSpPr>
          <p:cNvPr id="8" name="正方形/長方形 7"/>
          <p:cNvSpPr/>
          <p:nvPr/>
        </p:nvSpPr>
        <p:spPr>
          <a:xfrm>
            <a:off x="845983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890840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購買管理プロセス分野における確認日程④</a:t>
            </a:r>
            <a:endParaRPr lang="en-US" altLang="ja-JP" dirty="0">
              <a:latin typeface="Meiryo UI" pitchFamily="50" charset="-128"/>
              <a:ea typeface="Meiryo UI" pitchFamily="50" charset="-128"/>
              <a:cs typeface="Meiryo UI" pitchFamily="50" charset="-128"/>
            </a:endParaRPr>
          </a:p>
          <a:p>
            <a:pPr eaLnBrk="0" hangingPunct="0">
              <a:spcBef>
                <a:spcPct val="20000"/>
              </a:spcBef>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09"/>
          <a:ext cx="8383982" cy="2989978"/>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61426">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26</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MM-4</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6. (XXXX)</a:t>
                      </a:r>
                      <a:r>
                        <a:rPr kumimoji="1" lang="ja-JP" altLang="en-US" sz="1400" dirty="0">
                          <a:latin typeface="Meiryo UI" pitchFamily="50" charset="-128"/>
                          <a:ea typeface="Meiryo UI" pitchFamily="50" charset="-128"/>
                          <a:cs typeface="Meiryo UI" pitchFamily="50" charset="-128"/>
                        </a:rPr>
                        <a:t>様における業務プロセスの確認</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633467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6.1 </a:t>
                      </a:r>
                      <a:r>
                        <a:rPr kumimoji="1" lang="ja-JP" altLang="en-US" sz="1400" dirty="0">
                          <a:latin typeface="Meiryo UI" pitchFamily="50" charset="-128"/>
                          <a:ea typeface="Meiryo UI" pitchFamily="50" charset="-128"/>
                          <a:cs typeface="Meiryo UI" pitchFamily="50" charset="-128"/>
                        </a:rPr>
                        <a:t>購買依頼の登録・承認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6.2 </a:t>
                      </a:r>
                      <a:r>
                        <a:rPr kumimoji="1" lang="ja-JP" altLang="en-US" sz="1400" dirty="0">
                          <a:latin typeface="Meiryo UI" pitchFamily="50" charset="-128"/>
                          <a:ea typeface="Meiryo UI" pitchFamily="50" charset="-128"/>
                          <a:cs typeface="Meiryo UI" pitchFamily="50" charset="-128"/>
                        </a:rPr>
                        <a:t>見積依頼の登録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6.3 </a:t>
                      </a:r>
                      <a:r>
                        <a:rPr kumimoji="1" lang="ja-JP" altLang="en-US" sz="1400" dirty="0">
                          <a:latin typeface="Meiryo UI" pitchFamily="50" charset="-128"/>
                          <a:ea typeface="Meiryo UI" pitchFamily="50" charset="-128"/>
                          <a:cs typeface="Meiryo UI" pitchFamily="50" charset="-128"/>
                        </a:rPr>
                        <a:t>見積回答の登録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6.4 </a:t>
                      </a:r>
                      <a:r>
                        <a:rPr kumimoji="1" lang="ja-JP" altLang="en-US" sz="1400" dirty="0">
                          <a:latin typeface="Meiryo UI" pitchFamily="50" charset="-128"/>
                          <a:ea typeface="Meiryo UI" pitchFamily="50" charset="-128"/>
                          <a:cs typeface="Meiryo UI" pitchFamily="50" charset="-128"/>
                        </a:rPr>
                        <a:t>見積結果の比較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6.5 </a:t>
                      </a:r>
                      <a:r>
                        <a:rPr kumimoji="1" lang="ja-JP" altLang="en-US" sz="1400" dirty="0">
                          <a:latin typeface="Meiryo UI" pitchFamily="50" charset="-128"/>
                          <a:ea typeface="Meiryo UI" pitchFamily="50" charset="-128"/>
                          <a:cs typeface="Meiryo UI" pitchFamily="50" charset="-128"/>
                        </a:rPr>
                        <a:t>購買発注の登録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6.6 </a:t>
                      </a:r>
                      <a:r>
                        <a:rPr kumimoji="1" lang="ja-JP" altLang="en-US" sz="1400" dirty="0">
                          <a:latin typeface="Meiryo UI" pitchFamily="50" charset="-128"/>
                          <a:ea typeface="Meiryo UI" pitchFamily="50" charset="-128"/>
                          <a:cs typeface="Meiryo UI" pitchFamily="50" charset="-128"/>
                        </a:rPr>
                        <a:t>購買発注の入庫</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6.7 </a:t>
                      </a:r>
                      <a:r>
                        <a:rPr kumimoji="1" lang="ja-JP" altLang="en-US" sz="1400" dirty="0">
                          <a:latin typeface="Meiryo UI" pitchFamily="50" charset="-128"/>
                          <a:ea typeface="Meiryo UI" pitchFamily="50" charset="-128"/>
                          <a:cs typeface="Meiryo UI" pitchFamily="50" charset="-128"/>
                        </a:rPr>
                        <a:t>自動請求書照合</a:t>
                      </a:r>
                      <a:r>
                        <a:rPr kumimoji="1" lang="en-US" altLang="ja-JP" sz="1400" dirty="0">
                          <a:latin typeface="Meiryo UI" pitchFamily="50" charset="-128"/>
                          <a:ea typeface="Meiryo UI" pitchFamily="50" charset="-128"/>
                          <a:cs typeface="Meiryo UI" pitchFamily="50" charset="-128"/>
                        </a:rPr>
                        <a:t>(ERS)</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70965439"/>
                  </a:ext>
                </a:extLst>
              </a:tr>
            </a:tbl>
          </a:graphicData>
        </a:graphic>
      </p:graphicFrame>
      <p:sp>
        <p:nvSpPr>
          <p:cNvPr id="5" name="正方形/長方形 4"/>
          <p:cNvSpPr/>
          <p:nvPr/>
        </p:nvSpPr>
        <p:spPr>
          <a:xfrm>
            <a:off x="198683" y="3488621"/>
            <a:ext cx="8368847" cy="3180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873014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フローチャート: 書類 251"/>
          <p:cNvSpPr/>
          <p:nvPr/>
        </p:nvSpPr>
        <p:spPr>
          <a:xfrm>
            <a:off x="5746649" y="6303143"/>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251" name="フローチャート: 書類 250"/>
          <p:cNvSpPr/>
          <p:nvPr/>
        </p:nvSpPr>
        <p:spPr>
          <a:xfrm>
            <a:off x="5653174" y="5537028"/>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購買発注の登録</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１ ／ １０ ）</a:t>
            </a:r>
            <a:endParaRPr kumimoji="1" lang="ja-JP" altLang="en-US" sz="2000" dirty="0">
              <a:latin typeface="Meiryo UI" pitchFamily="50" charset="-128"/>
              <a:ea typeface="Meiryo UI" pitchFamily="50" charset="-128"/>
              <a:cs typeface="Meiryo UI" pitchFamily="50" charset="-128"/>
            </a:endParaRPr>
          </a:p>
        </p:txBody>
      </p:sp>
      <p:sp>
        <p:nvSpPr>
          <p:cNvPr id="169" name="正方形/長方形 168"/>
          <p:cNvSpPr/>
          <p:nvPr/>
        </p:nvSpPr>
        <p:spPr>
          <a:xfrm>
            <a:off x="3690998" y="5990872"/>
            <a:ext cx="1635566" cy="61724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自動請求書照合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(ERS)</a:t>
            </a:r>
            <a:endParaRPr lang="ja-JP" altLang="en-US" sz="1600" dirty="0">
              <a:latin typeface="Meiryo UI" panose="020B0604030504040204" pitchFamily="50" charset="-128"/>
              <a:ea typeface="Meiryo UI" panose="020B0604030504040204" pitchFamily="50" charset="-128"/>
            </a:endParaRPr>
          </a:p>
        </p:txBody>
      </p:sp>
      <p:sp>
        <p:nvSpPr>
          <p:cNvPr id="170" name="フローチャート: 判断 169"/>
          <p:cNvSpPr/>
          <p:nvPr/>
        </p:nvSpPr>
        <p:spPr>
          <a:xfrm>
            <a:off x="4046538" y="1892364"/>
            <a:ext cx="914400" cy="612648"/>
          </a:xfrm>
          <a:prstGeom prst="flowChartDecision">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承認</a:t>
            </a:r>
          </a:p>
        </p:txBody>
      </p:sp>
      <p:sp>
        <p:nvSpPr>
          <p:cNvPr id="182" name="正方形/長方形 181"/>
          <p:cNvSpPr/>
          <p:nvPr/>
        </p:nvSpPr>
        <p:spPr>
          <a:xfrm>
            <a:off x="3690998" y="129410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購買依頼</a:t>
            </a:r>
            <a:endParaRPr lang="en-US" altLang="ja-JP" sz="1600" dirty="0">
              <a:latin typeface="Meiryo UI" panose="020B0604030504040204" pitchFamily="50" charset="-128"/>
              <a:ea typeface="Meiryo UI" panose="020B0604030504040204" pitchFamily="50" charset="-128"/>
            </a:endParaRPr>
          </a:p>
        </p:txBody>
      </p:sp>
      <p:sp>
        <p:nvSpPr>
          <p:cNvPr id="183" name="正方形/長方形 182"/>
          <p:cNvSpPr/>
          <p:nvPr/>
        </p:nvSpPr>
        <p:spPr>
          <a:xfrm>
            <a:off x="3685955" y="2687040"/>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見積依頼</a:t>
            </a:r>
            <a:endParaRPr lang="en-US" altLang="ja-JP" sz="1600" dirty="0">
              <a:latin typeface="Meiryo UI" panose="020B0604030504040204" pitchFamily="50" charset="-128"/>
              <a:ea typeface="Meiryo UI" panose="020B0604030504040204" pitchFamily="50" charset="-128"/>
            </a:endParaRPr>
          </a:p>
        </p:txBody>
      </p:sp>
      <p:sp>
        <p:nvSpPr>
          <p:cNvPr id="184" name="正方形/長方形 183"/>
          <p:cNvSpPr/>
          <p:nvPr/>
        </p:nvSpPr>
        <p:spPr>
          <a:xfrm>
            <a:off x="3685955" y="335007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見積回答</a:t>
            </a:r>
            <a:endParaRPr lang="en-US" altLang="ja-JP" sz="1600" dirty="0">
              <a:latin typeface="Meiryo UI" panose="020B0604030504040204" pitchFamily="50" charset="-128"/>
              <a:ea typeface="Meiryo UI" panose="020B0604030504040204" pitchFamily="50" charset="-128"/>
            </a:endParaRPr>
          </a:p>
        </p:txBody>
      </p:sp>
      <p:sp>
        <p:nvSpPr>
          <p:cNvPr id="185" name="正方形/長方形 184"/>
          <p:cNvSpPr/>
          <p:nvPr/>
        </p:nvSpPr>
        <p:spPr>
          <a:xfrm>
            <a:off x="3685955" y="4027243"/>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見積結果比較</a:t>
            </a:r>
            <a:endParaRPr lang="en-US" altLang="ja-JP" sz="1600" dirty="0">
              <a:latin typeface="Meiryo UI" panose="020B0604030504040204" pitchFamily="50" charset="-128"/>
              <a:ea typeface="Meiryo UI" panose="020B0604030504040204" pitchFamily="50" charset="-128"/>
            </a:endParaRPr>
          </a:p>
        </p:txBody>
      </p:sp>
      <p:sp>
        <p:nvSpPr>
          <p:cNvPr id="187" name="正方形/長方形 186"/>
          <p:cNvSpPr/>
          <p:nvPr/>
        </p:nvSpPr>
        <p:spPr>
          <a:xfrm>
            <a:off x="3678590" y="471966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購買発注</a:t>
            </a:r>
            <a:endParaRPr lang="en-US" altLang="ja-JP" sz="1600" dirty="0">
              <a:latin typeface="Meiryo UI" panose="020B0604030504040204" pitchFamily="50" charset="-128"/>
              <a:ea typeface="Meiryo UI" panose="020B0604030504040204" pitchFamily="50" charset="-128"/>
            </a:endParaRPr>
          </a:p>
        </p:txBody>
      </p:sp>
      <p:sp>
        <p:nvSpPr>
          <p:cNvPr id="188" name="正方形/長方形 187"/>
          <p:cNvSpPr/>
          <p:nvPr/>
        </p:nvSpPr>
        <p:spPr>
          <a:xfrm>
            <a:off x="3690463" y="537703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発注入庫</a:t>
            </a:r>
            <a:endParaRPr lang="en-US" altLang="ja-JP" sz="1600" dirty="0">
              <a:latin typeface="Meiryo UI" panose="020B0604030504040204" pitchFamily="50" charset="-128"/>
              <a:ea typeface="Meiryo UI" panose="020B0604030504040204" pitchFamily="50" charset="-128"/>
            </a:endParaRPr>
          </a:p>
        </p:txBody>
      </p:sp>
      <p:cxnSp>
        <p:nvCxnSpPr>
          <p:cNvPr id="190" name="直線矢印コネクタ 189"/>
          <p:cNvCxnSpPr>
            <a:stCxn id="182" idx="2"/>
            <a:endCxn id="170" idx="0"/>
          </p:cNvCxnSpPr>
          <p:nvPr/>
        </p:nvCxnSpPr>
        <p:spPr>
          <a:xfrm flipH="1">
            <a:off x="4503738" y="1723733"/>
            <a:ext cx="5043" cy="1686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矢印コネクタ 194"/>
          <p:cNvCxnSpPr>
            <a:stCxn id="170" idx="2"/>
            <a:endCxn id="183" idx="0"/>
          </p:cNvCxnSpPr>
          <p:nvPr/>
        </p:nvCxnSpPr>
        <p:spPr>
          <a:xfrm>
            <a:off x="4503738" y="2505012"/>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矢印コネクタ 199"/>
          <p:cNvCxnSpPr/>
          <p:nvPr/>
        </p:nvCxnSpPr>
        <p:spPr>
          <a:xfrm>
            <a:off x="4496373" y="3148547"/>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矢印コネクタ 200"/>
          <p:cNvCxnSpPr>
            <a:stCxn id="184" idx="2"/>
            <a:endCxn id="185" idx="0"/>
          </p:cNvCxnSpPr>
          <p:nvPr/>
        </p:nvCxnSpPr>
        <p:spPr>
          <a:xfrm>
            <a:off x="4503738" y="3779706"/>
            <a:ext cx="0" cy="247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矢印コネクタ 202"/>
          <p:cNvCxnSpPr>
            <a:endCxn id="187" idx="0"/>
          </p:cNvCxnSpPr>
          <p:nvPr/>
        </p:nvCxnSpPr>
        <p:spPr>
          <a:xfrm flipH="1">
            <a:off x="4496373" y="4468194"/>
            <a:ext cx="10644" cy="25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a:endCxn id="188" idx="0"/>
          </p:cNvCxnSpPr>
          <p:nvPr/>
        </p:nvCxnSpPr>
        <p:spPr>
          <a:xfrm flipH="1">
            <a:off x="4508246" y="5178223"/>
            <a:ext cx="2050" cy="1988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p:cNvCxnSpPr>
            <a:stCxn id="188" idx="2"/>
            <a:endCxn id="169" idx="0"/>
          </p:cNvCxnSpPr>
          <p:nvPr/>
        </p:nvCxnSpPr>
        <p:spPr>
          <a:xfrm>
            <a:off x="4508246" y="5806663"/>
            <a:ext cx="535" cy="184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角丸四角形 212"/>
          <p:cNvSpPr/>
          <p:nvPr/>
        </p:nvSpPr>
        <p:spPr>
          <a:xfrm>
            <a:off x="713289" y="2687040"/>
            <a:ext cx="1212884" cy="3951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A</a:t>
            </a:r>
            <a:endParaRPr kumimoji="1" lang="ja-JP" altLang="en-US" dirty="0"/>
          </a:p>
        </p:txBody>
      </p:sp>
      <p:sp>
        <p:nvSpPr>
          <p:cNvPr id="215" name="角丸四角形 214"/>
          <p:cNvSpPr/>
          <p:nvPr/>
        </p:nvSpPr>
        <p:spPr>
          <a:xfrm>
            <a:off x="7039941" y="2683844"/>
            <a:ext cx="1212884" cy="1749073"/>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B</a:t>
            </a:r>
            <a:endParaRPr kumimoji="1" lang="ja-JP" altLang="en-US" dirty="0"/>
          </a:p>
        </p:txBody>
      </p:sp>
      <p:cxnSp>
        <p:nvCxnSpPr>
          <p:cNvPr id="216" name="直線矢印コネクタ 215"/>
          <p:cNvCxnSpPr>
            <a:stCxn id="183" idx="1"/>
          </p:cNvCxnSpPr>
          <p:nvPr/>
        </p:nvCxnSpPr>
        <p:spPr>
          <a:xfrm flipH="1" flipV="1">
            <a:off x="1951038" y="2898900"/>
            <a:ext cx="1734917" cy="2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p:cNvCxnSpPr/>
          <p:nvPr/>
        </p:nvCxnSpPr>
        <p:spPr>
          <a:xfrm flipH="1" flipV="1">
            <a:off x="1951038" y="4905375"/>
            <a:ext cx="1708693" cy="24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矢印コネクタ 219"/>
          <p:cNvCxnSpPr>
            <a:stCxn id="215" idx="1"/>
          </p:cNvCxnSpPr>
          <p:nvPr/>
        </p:nvCxnSpPr>
        <p:spPr>
          <a:xfrm flipH="1">
            <a:off x="5310374" y="3558381"/>
            <a:ext cx="1729567" cy="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矢印コネクタ 220"/>
          <p:cNvCxnSpPr>
            <a:endCxn id="184" idx="1"/>
          </p:cNvCxnSpPr>
          <p:nvPr/>
        </p:nvCxnSpPr>
        <p:spPr>
          <a:xfrm>
            <a:off x="1951038" y="3558380"/>
            <a:ext cx="1734917" cy="65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224"/>
          <p:cNvCxnSpPr/>
          <p:nvPr/>
        </p:nvCxnSpPr>
        <p:spPr>
          <a:xfrm flipV="1">
            <a:off x="1935163" y="5475889"/>
            <a:ext cx="1743427" cy="70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矢印コネクタ 230"/>
          <p:cNvCxnSpPr/>
          <p:nvPr/>
        </p:nvCxnSpPr>
        <p:spPr>
          <a:xfrm flipH="1">
            <a:off x="1939671" y="5718175"/>
            <a:ext cx="1752696" cy="401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矢印コネクタ 234"/>
          <p:cNvCxnSpPr>
            <a:stCxn id="183" idx="3"/>
          </p:cNvCxnSpPr>
          <p:nvPr/>
        </p:nvCxnSpPr>
        <p:spPr>
          <a:xfrm flipV="1">
            <a:off x="5321521" y="2889047"/>
            <a:ext cx="1741563" cy="128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フローチャート: 書類 244"/>
          <p:cNvSpPr/>
          <p:nvPr/>
        </p:nvSpPr>
        <p:spPr>
          <a:xfrm>
            <a:off x="5166677" y="6258001"/>
            <a:ext cx="646510" cy="471757"/>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請求書</a:t>
            </a:r>
            <a:endParaRPr lang="en-US" altLang="ja-JP" sz="1200" dirty="0">
              <a:latin typeface="Meiryo UI" panose="020B0604030504040204" pitchFamily="50" charset="-128"/>
              <a:ea typeface="Meiryo UI" panose="020B0604030504040204" pitchFamily="50" charset="-128"/>
            </a:endParaRPr>
          </a:p>
        </p:txBody>
      </p:sp>
      <p:sp>
        <p:nvSpPr>
          <p:cNvPr id="246" name="フローチャート: 書類 245"/>
          <p:cNvSpPr/>
          <p:nvPr/>
        </p:nvSpPr>
        <p:spPr>
          <a:xfrm>
            <a:off x="5126426" y="5464485"/>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入庫</a:t>
            </a:r>
            <a:endParaRPr kumimoji="1" lang="ja-JP" altLang="en-US" sz="1200" dirty="0">
              <a:latin typeface="Meiryo UI" panose="020B0604030504040204" pitchFamily="50" charset="-128"/>
              <a:ea typeface="Meiryo UI" panose="020B0604030504040204" pitchFamily="50" charset="-128"/>
            </a:endParaRPr>
          </a:p>
        </p:txBody>
      </p:sp>
      <p:sp>
        <p:nvSpPr>
          <p:cNvPr id="247" name="フローチャート: 書類 246"/>
          <p:cNvSpPr/>
          <p:nvPr/>
        </p:nvSpPr>
        <p:spPr>
          <a:xfrm>
            <a:off x="2466603" y="4689290"/>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発注</a:t>
            </a:r>
            <a:endParaRPr kumimoji="1" lang="ja-JP" altLang="en-US" sz="1200" dirty="0">
              <a:latin typeface="Meiryo UI" panose="020B0604030504040204" pitchFamily="50" charset="-128"/>
              <a:ea typeface="Meiryo UI" panose="020B0604030504040204" pitchFamily="50" charset="-128"/>
            </a:endParaRPr>
          </a:p>
        </p:txBody>
      </p:sp>
      <p:sp>
        <p:nvSpPr>
          <p:cNvPr id="248" name="フローチャート: 書類 247"/>
          <p:cNvSpPr/>
          <p:nvPr/>
        </p:nvSpPr>
        <p:spPr>
          <a:xfrm>
            <a:off x="2472332" y="271392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latin typeface="Meiryo UI" panose="020B0604030504040204" pitchFamily="50" charset="-128"/>
                <a:ea typeface="Meiryo UI" panose="020B0604030504040204" pitchFamily="50" charset="-128"/>
              </a:rPr>
              <a:t>見積</a:t>
            </a: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49" name="フローチャート: 書類 248"/>
          <p:cNvSpPr/>
          <p:nvPr/>
        </p:nvSpPr>
        <p:spPr>
          <a:xfrm>
            <a:off x="5857476" y="2674237"/>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見積</a:t>
            </a:r>
            <a:r>
              <a:rPr lang="en-US" altLang="ja-JP" sz="1200" dirty="0">
                <a:latin typeface="Meiryo UI" panose="020B0604030504040204" pitchFamily="50" charset="-128"/>
                <a:ea typeface="Meiryo UI" panose="020B0604030504040204" pitchFamily="50" charset="-128"/>
              </a:rPr>
              <a:t>2</a:t>
            </a:r>
            <a:endParaRPr kumimoji="1" lang="ja-JP" altLang="en-US" sz="1200" dirty="0">
              <a:latin typeface="Meiryo UI" panose="020B0604030504040204" pitchFamily="50" charset="-128"/>
              <a:ea typeface="Meiryo UI" panose="020B0604030504040204" pitchFamily="50" charset="-128"/>
            </a:endParaRPr>
          </a:p>
        </p:txBody>
      </p:sp>
      <p:sp>
        <p:nvSpPr>
          <p:cNvPr id="250" name="フローチャート: 書類 249"/>
          <p:cNvSpPr/>
          <p:nvPr/>
        </p:nvSpPr>
        <p:spPr>
          <a:xfrm>
            <a:off x="4957867" y="151954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依頼</a:t>
            </a:r>
            <a:endParaRPr kumimoji="1" lang="ja-JP" altLang="en-US" sz="1200" dirty="0">
              <a:latin typeface="Meiryo UI" panose="020B0604030504040204" pitchFamily="50" charset="-128"/>
              <a:ea typeface="Meiryo UI" panose="020B0604030504040204" pitchFamily="50" charset="-128"/>
            </a:endParaRPr>
          </a:p>
        </p:txBody>
      </p:sp>
      <p:sp>
        <p:nvSpPr>
          <p:cNvPr id="265" name="1 つの角を切り取った四角形 264"/>
          <p:cNvSpPr/>
          <p:nvPr/>
        </p:nvSpPr>
        <p:spPr>
          <a:xfrm>
            <a:off x="2472497" y="3423022"/>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6" name="1 つの角を切り取った四角形 265"/>
          <p:cNvSpPr/>
          <p:nvPr/>
        </p:nvSpPr>
        <p:spPr>
          <a:xfrm>
            <a:off x="5851003" y="3453053"/>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7" name="1 つの角を切り取った四角形 266"/>
          <p:cNvSpPr/>
          <p:nvPr/>
        </p:nvSpPr>
        <p:spPr>
          <a:xfrm>
            <a:off x="2461882" y="5319657"/>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品目</a:t>
            </a:r>
          </a:p>
        </p:txBody>
      </p:sp>
      <p:sp>
        <p:nvSpPr>
          <p:cNvPr id="269" name="1 つの角を切り取った四角形 268"/>
          <p:cNvSpPr/>
          <p:nvPr/>
        </p:nvSpPr>
        <p:spPr>
          <a:xfrm>
            <a:off x="2458374" y="5751024"/>
            <a:ext cx="670276" cy="33411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検収書</a:t>
            </a:r>
          </a:p>
        </p:txBody>
      </p:sp>
      <p:sp>
        <p:nvSpPr>
          <p:cNvPr id="2" name="正方形/長方形 1"/>
          <p:cNvSpPr/>
          <p:nvPr/>
        </p:nvSpPr>
        <p:spPr>
          <a:xfrm>
            <a:off x="2317707" y="4528520"/>
            <a:ext cx="3070311" cy="70555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188165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Arial" panose="020B0604020202020204" pitchFamily="34" charset="0"/>
              <a:buChar char="•"/>
            </a:pPr>
            <a:r>
              <a:rPr lang="ja-JP" altLang="en-US" dirty="0">
                <a:latin typeface="Meiryo UI" pitchFamily="50" charset="-128"/>
                <a:ea typeface="Meiryo UI" pitchFamily="50" charset="-128"/>
                <a:cs typeface="Meiryo UI" pitchFamily="50" charset="-128"/>
              </a:rPr>
              <a:t>購買発注の登録</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先ほど、見積比較をしていただいて採用したほうの伝票を発注へ変換します。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その際に不採用にした伝票を発注変換しようとするとどのような動きになるかも確認します。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登録手順</a:t>
            </a:r>
            <a:r>
              <a:rPr lang="en-US" altLang="ja-JP" dirty="0">
                <a:latin typeface="Meiryo UI" pitchFamily="50" charset="-128"/>
                <a:ea typeface="Meiryo UI" pitchFamily="50" charset="-128"/>
                <a:cs typeface="Meiryo UI" pitchFamily="50" charset="-128"/>
              </a:rPr>
              <a:t>】</a:t>
            </a: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11" name="角丸四角形 10"/>
          <p:cNvSpPr/>
          <p:nvPr/>
        </p:nvSpPr>
        <p:spPr>
          <a:xfrm>
            <a:off x="526634" y="3953979"/>
            <a:ext cx="1500949" cy="97582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①伝票起票</a:t>
            </a:r>
            <a:endParaRPr kumimoji="1" lang="ja-JP" altLang="en-US" sz="1400" dirty="0">
              <a:latin typeface="Meiryo UI" panose="020B0604030504040204" pitchFamily="50" charset="-128"/>
              <a:ea typeface="Meiryo UI" panose="020B0604030504040204" pitchFamily="50" charset="-128"/>
            </a:endParaRPr>
          </a:p>
        </p:txBody>
      </p:sp>
      <p:sp>
        <p:nvSpPr>
          <p:cNvPr id="15" name="角丸四角形 14"/>
          <p:cNvSpPr/>
          <p:nvPr/>
        </p:nvSpPr>
        <p:spPr>
          <a:xfrm>
            <a:off x="2147601" y="3947745"/>
            <a:ext cx="1550897" cy="98205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②見積依頼検索</a:t>
            </a:r>
            <a:endParaRPr lang="en-US" altLang="ja-JP" sz="1400" dirty="0">
              <a:latin typeface="Meiryo UI" panose="020B0604030504040204" pitchFamily="50" charset="-128"/>
              <a:ea typeface="Meiryo UI" panose="020B0604030504040204" pitchFamily="50" charset="-128"/>
            </a:endParaRPr>
          </a:p>
        </p:txBody>
      </p:sp>
      <p:sp>
        <p:nvSpPr>
          <p:cNvPr id="19" name="角丸四角形 18"/>
          <p:cNvSpPr/>
          <p:nvPr/>
        </p:nvSpPr>
        <p:spPr>
          <a:xfrm>
            <a:off x="3818515" y="3947744"/>
            <a:ext cx="1540289" cy="9820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③不採用伝票の</a:t>
            </a:r>
            <a:endParaRPr lang="en-US" altLang="ja-JP" sz="1400" dirty="0">
              <a:latin typeface="Meiryo UI" panose="020B0604030504040204" pitchFamily="50" charset="-128"/>
              <a:ea typeface="Meiryo UI" panose="020B0604030504040204" pitchFamily="50" charset="-128"/>
            </a:endParaRPr>
          </a:p>
          <a:p>
            <a:pPr algn="ctr"/>
            <a:r>
              <a:rPr kumimoji="1" lang="ja-JP" altLang="en-US" sz="1400" dirty="0">
                <a:latin typeface="Meiryo UI" panose="020B0604030504040204" pitchFamily="50" charset="-128"/>
                <a:ea typeface="Meiryo UI" panose="020B0604030504040204" pitchFamily="50" charset="-128"/>
              </a:rPr>
              <a:t>警告確認</a:t>
            </a:r>
          </a:p>
        </p:txBody>
      </p:sp>
      <p:sp>
        <p:nvSpPr>
          <p:cNvPr id="20" name="角丸四角形 19"/>
          <p:cNvSpPr/>
          <p:nvPr/>
        </p:nvSpPr>
        <p:spPr>
          <a:xfrm>
            <a:off x="5478821" y="3931115"/>
            <a:ext cx="1571113" cy="99868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④採用伝票登録</a:t>
            </a:r>
            <a:endParaRPr kumimoji="1" lang="en-US" altLang="ja-JP" sz="1400" dirty="0">
              <a:latin typeface="Meiryo UI" panose="020B0604030504040204" pitchFamily="50" charset="-128"/>
              <a:ea typeface="Meiryo UI" panose="020B0604030504040204"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２ ／ １０ ）</a:t>
            </a:r>
            <a:endParaRPr kumimoji="1" lang="ja-JP" altLang="en-US" sz="2000" dirty="0">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4778062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6712411" y="1107440"/>
            <a:ext cx="2301428" cy="360000"/>
          </a:xfrm>
          <a:prstGeom prst="rect">
            <a:avLst/>
          </a:prstGeom>
        </p:spPr>
      </p:pic>
      <p:pic>
        <p:nvPicPr>
          <p:cNvPr id="3" name="図 2"/>
          <p:cNvPicPr>
            <a:picLocks noChangeAspect="1"/>
          </p:cNvPicPr>
          <p:nvPr/>
        </p:nvPicPr>
        <p:blipFill>
          <a:blip r:embed="rId3"/>
          <a:stretch>
            <a:fillRect/>
          </a:stretch>
        </p:blipFill>
        <p:spPr>
          <a:xfrm>
            <a:off x="4978776" y="2077656"/>
            <a:ext cx="3982343" cy="4477236"/>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伝票起票</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購買管理」→「購買管理」</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「購買発注」→「登録」と遷移します。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ME21N –</a:t>
            </a:r>
            <a:r>
              <a:rPr lang="ja-JP" altLang="en-US" dirty="0">
                <a:latin typeface="Meiryo UI" pitchFamily="50" charset="-128"/>
                <a:ea typeface="Meiryo UI" pitchFamily="50" charset="-128"/>
                <a:cs typeface="Meiryo UI" pitchFamily="50" charset="-128"/>
              </a:rPr>
              <a:t> 仕入先</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供給プラント選定済み」</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を選択、またはコマンド入力欄に</a:t>
            </a:r>
            <a:r>
              <a:rPr lang="en-US" altLang="ja-JP" dirty="0">
                <a:latin typeface="Meiryo UI" pitchFamily="50" charset="-128"/>
                <a:ea typeface="Meiryo UI" pitchFamily="50" charset="-128"/>
                <a:cs typeface="Meiryo UI" pitchFamily="50" charset="-128"/>
              </a:rPr>
              <a:t>’ME21N’</a:t>
            </a:r>
            <a:r>
              <a:rPr lang="ja-JP" altLang="en-US" dirty="0">
                <a:latin typeface="Meiryo UI" pitchFamily="50" charset="-128"/>
                <a:ea typeface="Meiryo UI" pitchFamily="50" charset="-128"/>
                <a:cs typeface="Meiryo UI" pitchFamily="50" charset="-128"/>
              </a:rPr>
              <a:t>と入力</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３ ／ １０ ）</a:t>
            </a:r>
            <a:endParaRPr kumimoji="1" lang="ja-JP" altLang="en-US" sz="2000" dirty="0">
              <a:latin typeface="Meiryo UI" pitchFamily="50" charset="-128"/>
              <a:ea typeface="Meiryo UI" pitchFamily="50" charset="-128"/>
              <a:cs typeface="Meiryo UI" pitchFamily="50" charset="-128"/>
            </a:endParaRPr>
          </a:p>
        </p:txBody>
      </p:sp>
      <p:sp>
        <p:nvSpPr>
          <p:cNvPr id="6" name="正方形/長方形 5"/>
          <p:cNvSpPr/>
          <p:nvPr/>
        </p:nvSpPr>
        <p:spPr>
          <a:xfrm>
            <a:off x="6067410" y="5804950"/>
            <a:ext cx="2436510" cy="2579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右カーブ矢印 8"/>
          <p:cNvSpPr/>
          <p:nvPr/>
        </p:nvSpPr>
        <p:spPr>
          <a:xfrm>
            <a:off x="4954213" y="3937428"/>
            <a:ext cx="219496" cy="792746"/>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1" name="右カーブ矢印 10"/>
          <p:cNvSpPr/>
          <p:nvPr/>
        </p:nvSpPr>
        <p:spPr>
          <a:xfrm>
            <a:off x="5846716" y="5688550"/>
            <a:ext cx="133282" cy="280942"/>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3" name="右カーブ矢印 12"/>
          <p:cNvSpPr/>
          <p:nvPr/>
        </p:nvSpPr>
        <p:spPr>
          <a:xfrm>
            <a:off x="5173709" y="4674844"/>
            <a:ext cx="218538" cy="657957"/>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4" name="正方形/長方形 13"/>
          <p:cNvSpPr/>
          <p:nvPr/>
        </p:nvSpPr>
        <p:spPr>
          <a:xfrm>
            <a:off x="5234011" y="2603914"/>
            <a:ext cx="1684949" cy="2687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右カーブ矢印 14"/>
          <p:cNvSpPr/>
          <p:nvPr/>
        </p:nvSpPr>
        <p:spPr>
          <a:xfrm>
            <a:off x="5626022" y="5509838"/>
            <a:ext cx="133282" cy="280942"/>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6" name="右カーブ矢印 15"/>
          <p:cNvSpPr/>
          <p:nvPr/>
        </p:nvSpPr>
        <p:spPr>
          <a:xfrm>
            <a:off x="5446075" y="5259376"/>
            <a:ext cx="133282" cy="280942"/>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8" name="正方形/長方形 17"/>
          <p:cNvSpPr/>
          <p:nvPr/>
        </p:nvSpPr>
        <p:spPr>
          <a:xfrm>
            <a:off x="669961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363205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伝票起票</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伝票概要欄が閉じていたらオンにします。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４ ／ １０ ）</a:t>
            </a:r>
            <a:endParaRPr kumimoji="1" lang="ja-JP" altLang="en-US" sz="2000" dirty="0">
              <a:latin typeface="Meiryo UI" pitchFamily="50" charset="-128"/>
              <a:ea typeface="Meiryo UI" pitchFamily="50" charset="-128"/>
              <a:cs typeface="Meiryo UI" pitchFamily="50" charset="-128"/>
            </a:endParaRPr>
          </a:p>
        </p:txBody>
      </p:sp>
      <p:pic>
        <p:nvPicPr>
          <p:cNvPr id="4" name="図 3"/>
          <p:cNvPicPr>
            <a:picLocks noChangeAspect="1"/>
          </p:cNvPicPr>
          <p:nvPr/>
        </p:nvPicPr>
        <p:blipFill>
          <a:blip r:embed="rId3"/>
          <a:stretch>
            <a:fillRect/>
          </a:stretch>
        </p:blipFill>
        <p:spPr>
          <a:xfrm>
            <a:off x="260350" y="2071787"/>
            <a:ext cx="7684769" cy="4158581"/>
          </a:xfrm>
          <a:prstGeom prst="rect">
            <a:avLst/>
          </a:prstGeom>
        </p:spPr>
      </p:pic>
      <p:pic>
        <p:nvPicPr>
          <p:cNvPr id="7" name="図 6"/>
          <p:cNvPicPr>
            <a:picLocks noChangeAspect="1"/>
          </p:cNvPicPr>
          <p:nvPr/>
        </p:nvPicPr>
        <p:blipFill>
          <a:blip r:embed="rId4"/>
          <a:stretch>
            <a:fillRect/>
          </a:stretch>
        </p:blipFill>
        <p:spPr>
          <a:xfrm>
            <a:off x="1799509" y="2704193"/>
            <a:ext cx="7223760" cy="3909108"/>
          </a:xfrm>
          <a:prstGeom prst="rect">
            <a:avLst/>
          </a:prstGeom>
        </p:spPr>
      </p:pic>
      <p:sp>
        <p:nvSpPr>
          <p:cNvPr id="8" name="正方形/長方形 7"/>
          <p:cNvSpPr/>
          <p:nvPr/>
        </p:nvSpPr>
        <p:spPr>
          <a:xfrm>
            <a:off x="1259840" y="2485925"/>
            <a:ext cx="579120" cy="1861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1788160" y="3302000"/>
            <a:ext cx="1188720" cy="3093033"/>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矢印コネクタ 10"/>
          <p:cNvCxnSpPr>
            <a:stCxn id="8" idx="2"/>
          </p:cNvCxnSpPr>
          <p:nvPr/>
        </p:nvCxnSpPr>
        <p:spPr>
          <a:xfrm>
            <a:off x="1549400" y="2672080"/>
            <a:ext cx="235259"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図 9"/>
          <p:cNvPicPr>
            <a:picLocks noChangeAspect="1"/>
          </p:cNvPicPr>
          <p:nvPr/>
        </p:nvPicPr>
        <p:blipFill>
          <a:blip r:embed="rId5"/>
          <a:stretch>
            <a:fillRect/>
          </a:stretch>
        </p:blipFill>
        <p:spPr>
          <a:xfrm>
            <a:off x="6712411" y="1107440"/>
            <a:ext cx="2301428" cy="360000"/>
          </a:xfrm>
          <a:prstGeom prst="rect">
            <a:avLst/>
          </a:prstGeom>
        </p:spPr>
      </p:pic>
      <p:sp>
        <p:nvSpPr>
          <p:cNvPr id="13" name="正方形/長方形 12"/>
          <p:cNvSpPr/>
          <p:nvPr/>
        </p:nvSpPr>
        <p:spPr>
          <a:xfrm>
            <a:off x="669961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099037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見積依頼検索</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「選択バリアント」ボタンをクリックし、「見積依頼」を選択します。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５ ／ １０ ）</a:t>
            </a:r>
            <a:endParaRPr kumimoji="1" lang="ja-JP" altLang="en-US" sz="2000" dirty="0">
              <a:latin typeface="Meiryo UI" pitchFamily="50" charset="-128"/>
              <a:ea typeface="Meiryo UI" pitchFamily="50" charset="-128"/>
              <a:cs typeface="Meiryo UI" pitchFamily="50" charset="-128"/>
            </a:endParaRPr>
          </a:p>
        </p:txBody>
      </p:sp>
      <p:pic>
        <p:nvPicPr>
          <p:cNvPr id="2" name="図 1"/>
          <p:cNvPicPr>
            <a:picLocks noChangeAspect="1"/>
          </p:cNvPicPr>
          <p:nvPr/>
        </p:nvPicPr>
        <p:blipFill rotWithShape="1">
          <a:blip r:embed="rId3"/>
          <a:srcRect r="422" b="5494"/>
          <a:stretch/>
        </p:blipFill>
        <p:spPr>
          <a:xfrm>
            <a:off x="198683" y="2133600"/>
            <a:ext cx="8376357" cy="4471734"/>
          </a:xfrm>
          <a:prstGeom prst="rect">
            <a:avLst/>
          </a:prstGeom>
        </p:spPr>
      </p:pic>
      <p:sp>
        <p:nvSpPr>
          <p:cNvPr id="3" name="正方形/長方形 2"/>
          <p:cNvSpPr/>
          <p:nvPr/>
        </p:nvSpPr>
        <p:spPr>
          <a:xfrm>
            <a:off x="260351" y="3962400"/>
            <a:ext cx="1192529" cy="2235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260351" y="3304200"/>
            <a:ext cx="227329" cy="1400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右カーブ矢印 13"/>
          <p:cNvSpPr/>
          <p:nvPr/>
        </p:nvSpPr>
        <p:spPr>
          <a:xfrm>
            <a:off x="40855" y="3374220"/>
            <a:ext cx="219496" cy="792746"/>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pic>
        <p:nvPicPr>
          <p:cNvPr id="8" name="図 7"/>
          <p:cNvPicPr>
            <a:picLocks noChangeAspect="1"/>
          </p:cNvPicPr>
          <p:nvPr/>
        </p:nvPicPr>
        <p:blipFill>
          <a:blip r:embed="rId4"/>
          <a:stretch>
            <a:fillRect/>
          </a:stretch>
        </p:blipFill>
        <p:spPr>
          <a:xfrm>
            <a:off x="6712411" y="1107440"/>
            <a:ext cx="2301428" cy="360000"/>
          </a:xfrm>
          <a:prstGeom prst="rect">
            <a:avLst/>
          </a:prstGeom>
        </p:spPr>
      </p:pic>
      <p:sp>
        <p:nvSpPr>
          <p:cNvPr id="9" name="正方形/長方形 8"/>
          <p:cNvSpPr/>
          <p:nvPr/>
        </p:nvSpPr>
        <p:spPr>
          <a:xfrm>
            <a:off x="727111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746957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p:cNvPicPr>
            <a:picLocks noChangeAspect="1"/>
          </p:cNvPicPr>
          <p:nvPr/>
        </p:nvPicPr>
        <p:blipFill>
          <a:blip r:embed="rId3"/>
          <a:stretch>
            <a:fillRect/>
          </a:stretch>
        </p:blipFill>
        <p:spPr>
          <a:xfrm>
            <a:off x="260351" y="2030846"/>
            <a:ext cx="4758689" cy="4563733"/>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見積依頼検索</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検索条件を入力します。赤枠を入力</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①</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し、実行ボタン</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②</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６ ／ １０ ）</a:t>
            </a:r>
            <a:endParaRPr kumimoji="1" lang="ja-JP" altLang="en-US" sz="2000" dirty="0">
              <a:latin typeface="Meiryo UI" pitchFamily="50" charset="-128"/>
              <a:ea typeface="Meiryo UI" pitchFamily="50" charset="-128"/>
              <a:cs typeface="Meiryo UI" pitchFamily="50" charset="-128"/>
            </a:endParaRPr>
          </a:p>
        </p:txBody>
      </p:sp>
      <p:sp>
        <p:nvSpPr>
          <p:cNvPr id="3" name="正方形/長方形 2"/>
          <p:cNvSpPr/>
          <p:nvPr/>
        </p:nvSpPr>
        <p:spPr>
          <a:xfrm>
            <a:off x="1601471" y="3535680"/>
            <a:ext cx="1558289" cy="1930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1479551" y="4762156"/>
            <a:ext cx="1009649" cy="3889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4" name="表 3"/>
          <p:cNvGraphicFramePr>
            <a:graphicFrameLocks noGrp="1"/>
          </p:cNvGraphicFramePr>
          <p:nvPr>
            <p:extLst>
              <p:ext uri="{D42A27DB-BD31-4B8C-83A1-F6EECF244321}">
                <p14:modId xmlns:p14="http://schemas.microsoft.com/office/powerpoint/2010/main" val="2189268014"/>
              </p:ext>
            </p:extLst>
          </p:nvPr>
        </p:nvGraphicFramePr>
        <p:xfrm>
          <a:off x="3942080" y="3535680"/>
          <a:ext cx="4460240" cy="1483360"/>
        </p:xfrm>
        <a:graphic>
          <a:graphicData uri="http://schemas.openxmlformats.org/drawingml/2006/table">
            <a:tbl>
              <a:tblPr firstRow="1" bandRow="1">
                <a:tableStyleId>{7DF18680-E054-41AD-8BC1-D1AEF772440D}</a:tableStyleId>
              </a:tblPr>
              <a:tblGrid>
                <a:gridCol w="2042160">
                  <a:extLst>
                    <a:ext uri="{9D8B030D-6E8A-4147-A177-3AD203B41FA5}">
                      <a16:colId xmlns:a16="http://schemas.microsoft.com/office/drawing/2014/main" val="20000"/>
                    </a:ext>
                  </a:extLst>
                </a:gridCol>
                <a:gridCol w="241808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品目コード</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YxxITEM01</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1"/>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購買組織</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1510</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購買グループ</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003</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3"/>
                  </a:ext>
                </a:extLst>
              </a:tr>
            </a:tbl>
          </a:graphicData>
        </a:graphic>
      </p:graphicFrame>
      <p:sp>
        <p:nvSpPr>
          <p:cNvPr id="10" name="正方形/長方形 9"/>
          <p:cNvSpPr/>
          <p:nvPr/>
        </p:nvSpPr>
        <p:spPr>
          <a:xfrm>
            <a:off x="4612727" y="6268719"/>
            <a:ext cx="406314" cy="3231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p:cNvPicPr>
            <a:picLocks noChangeAspect="1"/>
          </p:cNvPicPr>
          <p:nvPr/>
        </p:nvPicPr>
        <p:blipFill>
          <a:blip r:embed="rId4"/>
          <a:stretch>
            <a:fillRect/>
          </a:stretch>
        </p:blipFill>
        <p:spPr>
          <a:xfrm>
            <a:off x="6712411" y="1107440"/>
            <a:ext cx="2301428" cy="360000"/>
          </a:xfrm>
          <a:prstGeom prst="rect">
            <a:avLst/>
          </a:prstGeom>
        </p:spPr>
      </p:pic>
      <p:sp>
        <p:nvSpPr>
          <p:cNvPr id="11" name="正方形/長方形 10"/>
          <p:cNvSpPr/>
          <p:nvPr/>
        </p:nvSpPr>
        <p:spPr>
          <a:xfrm>
            <a:off x="727111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719467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rotWithShape="1">
          <a:blip r:embed="rId3"/>
          <a:srcRect r="59602" b="50618"/>
          <a:stretch/>
        </p:blipFill>
        <p:spPr>
          <a:xfrm>
            <a:off x="4745670" y="1628176"/>
            <a:ext cx="4312021" cy="2964144"/>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不採用伝票の警告確認</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検索結果が表示されます。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不採用の伝票をショッピングカートに入れます。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伝票番号が大きいほうが不採用伝票となります。</a:t>
            </a:r>
            <a:r>
              <a:rPr lang="en-US" altLang="ja-JP" sz="1600" dirty="0">
                <a:latin typeface="Meiryo UI" pitchFamily="50" charset="-128"/>
                <a:ea typeface="Meiryo UI" pitchFamily="50" charset="-128"/>
                <a:cs typeface="Meiryo UI" pitchFamily="50" charset="-128"/>
              </a:rPr>
              <a:t>)</a:t>
            </a:r>
          </a:p>
          <a:p>
            <a:pPr eaLnBrk="0" hangingPunct="0">
              <a:lnSpc>
                <a:spcPct val="150000"/>
              </a:lnSpc>
              <a:spcBef>
                <a:spcPct val="20000"/>
              </a:spcBef>
              <a:buClr>
                <a:srgbClr val="002289"/>
              </a:buClr>
              <a:buSzPct val="113000"/>
            </a:pPr>
            <a:endParaRPr lang="en-US" altLang="ja-JP" sz="1600"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sz="1600"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sz="1600"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sz="1600"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画面左下に以下のメッセージが表示されます。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黄色は警告メッセージなので発注登録は可能になります。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７ ／ １０ ）</a:t>
            </a:r>
            <a:endParaRPr kumimoji="1" lang="ja-JP" altLang="en-US" sz="2000" dirty="0">
              <a:latin typeface="Meiryo UI" pitchFamily="50" charset="-128"/>
              <a:ea typeface="Meiryo UI" pitchFamily="50" charset="-128"/>
              <a:cs typeface="Meiryo UI" pitchFamily="50" charset="-128"/>
            </a:endParaRPr>
          </a:p>
        </p:txBody>
      </p:sp>
      <p:sp>
        <p:nvSpPr>
          <p:cNvPr id="7" name="正方形/長方形 6"/>
          <p:cNvSpPr/>
          <p:nvPr/>
        </p:nvSpPr>
        <p:spPr>
          <a:xfrm>
            <a:off x="4797896" y="3838830"/>
            <a:ext cx="1431372" cy="1344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6229268" y="2655126"/>
            <a:ext cx="293452" cy="2714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矢印コネクタ 8"/>
          <p:cNvCxnSpPr/>
          <p:nvPr/>
        </p:nvCxnSpPr>
        <p:spPr>
          <a:xfrm flipV="1">
            <a:off x="5892800" y="2926561"/>
            <a:ext cx="452714" cy="91224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8" name="図 17"/>
          <p:cNvPicPr>
            <a:picLocks noChangeAspect="1"/>
          </p:cNvPicPr>
          <p:nvPr/>
        </p:nvPicPr>
        <p:blipFill>
          <a:blip r:embed="rId4"/>
          <a:stretch>
            <a:fillRect/>
          </a:stretch>
        </p:blipFill>
        <p:spPr>
          <a:xfrm>
            <a:off x="198683" y="5566157"/>
            <a:ext cx="3886323" cy="699127"/>
          </a:xfrm>
          <a:prstGeom prst="rect">
            <a:avLst/>
          </a:prstGeom>
        </p:spPr>
      </p:pic>
      <p:pic>
        <p:nvPicPr>
          <p:cNvPr id="11" name="図 10"/>
          <p:cNvPicPr>
            <a:picLocks noChangeAspect="1"/>
          </p:cNvPicPr>
          <p:nvPr/>
        </p:nvPicPr>
        <p:blipFill>
          <a:blip r:embed="rId5"/>
          <a:stretch>
            <a:fillRect/>
          </a:stretch>
        </p:blipFill>
        <p:spPr>
          <a:xfrm>
            <a:off x="6712411" y="1107440"/>
            <a:ext cx="2301428" cy="360000"/>
          </a:xfrm>
          <a:prstGeom prst="rect">
            <a:avLst/>
          </a:prstGeom>
        </p:spPr>
      </p:pic>
      <p:sp>
        <p:nvSpPr>
          <p:cNvPr id="13" name="正方形/長方形 12"/>
          <p:cNvSpPr/>
          <p:nvPr/>
        </p:nvSpPr>
        <p:spPr>
          <a:xfrm>
            <a:off x="786547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785631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採用伝票登録</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今回はこの見積伝票は使用しません。実際に発注登録する見積伝票情報を反映させます。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メニューバーにある「登録」ボタンをクリックします。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保存を問われるポップアップが出るので「いいえ」をクリックします。</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８ ／ １０ ）</a:t>
            </a:r>
            <a:endParaRPr kumimoji="1" lang="ja-JP" altLang="en-US" sz="2000" dirty="0">
              <a:latin typeface="Meiryo UI" pitchFamily="50" charset="-128"/>
              <a:ea typeface="Meiryo UI" pitchFamily="50" charset="-128"/>
              <a:cs typeface="Meiryo UI" pitchFamily="50" charset="-128"/>
            </a:endParaRPr>
          </a:p>
        </p:txBody>
      </p:sp>
      <p:pic>
        <p:nvPicPr>
          <p:cNvPr id="6" name="図 5"/>
          <p:cNvPicPr>
            <a:picLocks noChangeAspect="1"/>
          </p:cNvPicPr>
          <p:nvPr/>
        </p:nvPicPr>
        <p:blipFill>
          <a:blip r:embed="rId3"/>
          <a:stretch>
            <a:fillRect/>
          </a:stretch>
        </p:blipFill>
        <p:spPr>
          <a:xfrm>
            <a:off x="198683" y="3056483"/>
            <a:ext cx="6455409" cy="3493318"/>
          </a:xfrm>
          <a:prstGeom prst="rect">
            <a:avLst/>
          </a:prstGeom>
        </p:spPr>
      </p:pic>
      <p:sp>
        <p:nvSpPr>
          <p:cNvPr id="8" name="正方形/長方形 7"/>
          <p:cNvSpPr/>
          <p:nvPr/>
        </p:nvSpPr>
        <p:spPr>
          <a:xfrm>
            <a:off x="1493520" y="3393440"/>
            <a:ext cx="284480"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p:cNvPicPr>
            <a:picLocks noChangeAspect="1"/>
          </p:cNvPicPr>
          <p:nvPr/>
        </p:nvPicPr>
        <p:blipFill>
          <a:blip r:embed="rId4"/>
          <a:stretch>
            <a:fillRect/>
          </a:stretch>
        </p:blipFill>
        <p:spPr>
          <a:xfrm>
            <a:off x="4092464" y="3813380"/>
            <a:ext cx="4462256" cy="2508196"/>
          </a:xfrm>
          <a:prstGeom prst="rect">
            <a:avLst/>
          </a:prstGeom>
        </p:spPr>
      </p:pic>
      <p:sp>
        <p:nvSpPr>
          <p:cNvPr id="13" name="正方形/長方形 12"/>
          <p:cNvSpPr/>
          <p:nvPr/>
        </p:nvSpPr>
        <p:spPr>
          <a:xfrm>
            <a:off x="5842000" y="5332447"/>
            <a:ext cx="1066800" cy="3266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4092464" y="3813380"/>
            <a:ext cx="4462256" cy="25081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カギ線コネクタ 15"/>
          <p:cNvCxnSpPr>
            <a:endCxn id="15" idx="0"/>
          </p:cNvCxnSpPr>
          <p:nvPr/>
        </p:nvCxnSpPr>
        <p:spPr>
          <a:xfrm>
            <a:off x="1778000" y="3474720"/>
            <a:ext cx="4545592" cy="33866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図 9"/>
          <p:cNvPicPr>
            <a:picLocks noChangeAspect="1"/>
          </p:cNvPicPr>
          <p:nvPr/>
        </p:nvPicPr>
        <p:blipFill>
          <a:blip r:embed="rId5"/>
          <a:stretch>
            <a:fillRect/>
          </a:stretch>
        </p:blipFill>
        <p:spPr>
          <a:xfrm>
            <a:off x="6712411" y="1107440"/>
            <a:ext cx="2301428" cy="360000"/>
          </a:xfrm>
          <a:prstGeom prst="rect">
            <a:avLst/>
          </a:prstGeom>
        </p:spPr>
      </p:pic>
      <p:sp>
        <p:nvSpPr>
          <p:cNvPr id="14" name="正方形/長方形 13"/>
          <p:cNvSpPr/>
          <p:nvPr/>
        </p:nvSpPr>
        <p:spPr>
          <a:xfrm>
            <a:off x="845221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217860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rotWithShape="1">
          <a:blip r:embed="rId3"/>
          <a:srcRect r="59602" b="50618"/>
          <a:stretch/>
        </p:blipFill>
        <p:spPr>
          <a:xfrm>
            <a:off x="4745670" y="1628176"/>
            <a:ext cx="4312021" cy="2964144"/>
          </a:xfrm>
          <a:prstGeom prst="rect">
            <a:avLst/>
          </a:prstGeom>
        </p:spPr>
      </p:pic>
      <p:sp>
        <p:nvSpPr>
          <p:cNvPr id="12" name="Rectangle 15"/>
          <p:cNvSpPr>
            <a:spLocks noChangeArrowheads="1"/>
          </p:cNvSpPr>
          <p:nvPr/>
        </p:nvSpPr>
        <p:spPr bwMode="auto">
          <a:xfrm>
            <a:off x="198683" y="1150448"/>
            <a:ext cx="8828087" cy="5423072"/>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採用伝票登録</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r>
              <a:rPr lang="ja-JP" altLang="en-US" dirty="0">
                <a:latin typeface="Meiryo UI" pitchFamily="50" charset="-128"/>
                <a:ea typeface="Meiryo UI" pitchFamily="50" charset="-128"/>
                <a:cs typeface="Meiryo UI" pitchFamily="50" charset="-128"/>
              </a:rPr>
              <a:t>採用の伝票をショッピングカートに入れます。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伝票番号が小さいほうが採用伝票となります。</a:t>
            </a:r>
            <a:r>
              <a:rPr lang="en-US" altLang="ja-JP" sz="1600" dirty="0">
                <a:latin typeface="Meiryo UI" pitchFamily="50" charset="-128"/>
                <a:ea typeface="Meiryo UI" pitchFamily="50" charset="-128"/>
                <a:cs typeface="Meiryo UI" pitchFamily="50" charset="-128"/>
              </a:rPr>
              <a:t>)</a:t>
            </a:r>
          </a:p>
          <a:p>
            <a:pPr eaLnBrk="0" hangingPunct="0">
              <a:lnSpc>
                <a:spcPct val="150000"/>
              </a:lnSpc>
              <a:spcBef>
                <a:spcPct val="20000"/>
              </a:spcBef>
              <a:buClr>
                <a:srgbClr val="002289"/>
              </a:buClr>
              <a:buSzPct val="113000"/>
            </a:pPr>
            <a:endParaRPr lang="en-US" altLang="ja-JP" sz="1600"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sz="1600"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sz="1600"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sz="1600"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5"/>
            </a:pPr>
            <a:r>
              <a:rPr lang="ja-JP" altLang="en-US" dirty="0">
                <a:latin typeface="Meiryo UI" pitchFamily="50" charset="-128"/>
                <a:ea typeface="Meiryo UI" pitchFamily="50" charset="-128"/>
                <a:cs typeface="Meiryo UI" pitchFamily="50" charset="-128"/>
              </a:rPr>
              <a:t>画面左下に以下のメッセージが表示されます。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前回のトレーニングで基本契約を登録したのでその伝票があるというものになります。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９ ／ １０ ）</a:t>
            </a:r>
            <a:endParaRPr kumimoji="1" lang="ja-JP" altLang="en-US" sz="2000" dirty="0">
              <a:latin typeface="Meiryo UI" pitchFamily="50" charset="-128"/>
              <a:ea typeface="Meiryo UI" pitchFamily="50" charset="-128"/>
              <a:cs typeface="Meiryo UI" pitchFamily="50" charset="-128"/>
            </a:endParaRPr>
          </a:p>
        </p:txBody>
      </p:sp>
      <p:sp>
        <p:nvSpPr>
          <p:cNvPr id="7" name="正方形/長方形 6"/>
          <p:cNvSpPr/>
          <p:nvPr/>
        </p:nvSpPr>
        <p:spPr>
          <a:xfrm>
            <a:off x="4797896" y="3685196"/>
            <a:ext cx="1431372" cy="1344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6229268" y="2655126"/>
            <a:ext cx="293452" cy="2714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矢印コネクタ 8"/>
          <p:cNvCxnSpPr/>
          <p:nvPr/>
        </p:nvCxnSpPr>
        <p:spPr>
          <a:xfrm flipV="1">
            <a:off x="5882640" y="2926562"/>
            <a:ext cx="462874" cy="7586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図 5"/>
          <p:cNvPicPr>
            <a:picLocks noChangeAspect="1"/>
          </p:cNvPicPr>
          <p:nvPr/>
        </p:nvPicPr>
        <p:blipFill>
          <a:blip r:embed="rId4"/>
          <a:stretch>
            <a:fillRect/>
          </a:stretch>
        </p:blipFill>
        <p:spPr>
          <a:xfrm>
            <a:off x="198683" y="5616631"/>
            <a:ext cx="5875311" cy="672409"/>
          </a:xfrm>
          <a:prstGeom prst="rect">
            <a:avLst/>
          </a:prstGeom>
        </p:spPr>
      </p:pic>
      <p:pic>
        <p:nvPicPr>
          <p:cNvPr id="13" name="図 12"/>
          <p:cNvPicPr>
            <a:picLocks noChangeAspect="1"/>
          </p:cNvPicPr>
          <p:nvPr/>
        </p:nvPicPr>
        <p:blipFill>
          <a:blip r:embed="rId5"/>
          <a:stretch>
            <a:fillRect/>
          </a:stretch>
        </p:blipFill>
        <p:spPr>
          <a:xfrm>
            <a:off x="6712411" y="1107440"/>
            <a:ext cx="2301428" cy="360000"/>
          </a:xfrm>
          <a:prstGeom prst="rect">
            <a:avLst/>
          </a:prstGeom>
        </p:spPr>
      </p:pic>
      <p:sp>
        <p:nvSpPr>
          <p:cNvPr id="14" name="正方形/長方形 13"/>
          <p:cNvSpPr/>
          <p:nvPr/>
        </p:nvSpPr>
        <p:spPr>
          <a:xfrm>
            <a:off x="845221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751090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423072"/>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採用伝票登録</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6"/>
            </a:pPr>
            <a:r>
              <a:rPr lang="ja-JP" altLang="en-US" dirty="0">
                <a:latin typeface="Meiryo UI" pitchFamily="50" charset="-128"/>
                <a:ea typeface="Meiryo UI" pitchFamily="50" charset="-128"/>
                <a:cs typeface="Meiryo UI" pitchFamily="50" charset="-128"/>
              </a:rPr>
              <a:t>見積依頼の情報がコピーされます。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そのまま画面右下にある「保存」ボタンをクリックします。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r>
              <a:rPr lang="ja-JP" altLang="en-US" dirty="0">
                <a:latin typeface="Meiryo UI" pitchFamily="50" charset="-128"/>
                <a:ea typeface="Meiryo UI" pitchFamily="50" charset="-128"/>
                <a:cs typeface="Meiryo UI" pitchFamily="50" charset="-128"/>
              </a:rPr>
              <a:t>画面左下に以下のメッセージが表示されます。伝票番号は控えておいてください。</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7"/>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６．５</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購買発注の登録 （ １０ ／ １０ ）</a:t>
            </a:r>
            <a:endParaRPr kumimoji="1" lang="ja-JP" altLang="en-US" sz="2000" dirty="0">
              <a:latin typeface="Meiryo UI" pitchFamily="50" charset="-128"/>
              <a:ea typeface="Meiryo UI" pitchFamily="50" charset="-128"/>
              <a:cs typeface="Meiryo UI" pitchFamily="50" charset="-128"/>
            </a:endParaRPr>
          </a:p>
        </p:txBody>
      </p:sp>
      <p:pic>
        <p:nvPicPr>
          <p:cNvPr id="3" name="図 2"/>
          <p:cNvPicPr>
            <a:picLocks noChangeAspect="1"/>
          </p:cNvPicPr>
          <p:nvPr/>
        </p:nvPicPr>
        <p:blipFill>
          <a:blip r:embed="rId3"/>
          <a:stretch>
            <a:fillRect/>
          </a:stretch>
        </p:blipFill>
        <p:spPr>
          <a:xfrm>
            <a:off x="198683" y="2514771"/>
            <a:ext cx="5287009" cy="2861043"/>
          </a:xfrm>
          <a:prstGeom prst="rect">
            <a:avLst/>
          </a:prstGeom>
        </p:spPr>
      </p:pic>
      <p:pic>
        <p:nvPicPr>
          <p:cNvPr id="8" name="図 7"/>
          <p:cNvPicPr>
            <a:picLocks noChangeAspect="1"/>
          </p:cNvPicPr>
          <p:nvPr/>
        </p:nvPicPr>
        <p:blipFill>
          <a:blip r:embed="rId4"/>
          <a:stretch>
            <a:fillRect/>
          </a:stretch>
        </p:blipFill>
        <p:spPr>
          <a:xfrm>
            <a:off x="198683" y="5833427"/>
            <a:ext cx="4505325" cy="657225"/>
          </a:xfrm>
          <a:prstGeom prst="rect">
            <a:avLst/>
          </a:prstGeom>
        </p:spPr>
      </p:pic>
      <p:pic>
        <p:nvPicPr>
          <p:cNvPr id="7" name="図 6"/>
          <p:cNvPicPr>
            <a:picLocks noChangeAspect="1"/>
          </p:cNvPicPr>
          <p:nvPr/>
        </p:nvPicPr>
        <p:blipFill>
          <a:blip r:embed="rId5"/>
          <a:stretch>
            <a:fillRect/>
          </a:stretch>
        </p:blipFill>
        <p:spPr>
          <a:xfrm>
            <a:off x="6712411" y="1107440"/>
            <a:ext cx="2301428" cy="360000"/>
          </a:xfrm>
          <a:prstGeom prst="rect">
            <a:avLst/>
          </a:prstGeom>
        </p:spPr>
      </p:pic>
      <p:sp>
        <p:nvSpPr>
          <p:cNvPr id="9" name="正方形/長方形 8"/>
          <p:cNvSpPr/>
          <p:nvPr/>
        </p:nvSpPr>
        <p:spPr>
          <a:xfrm>
            <a:off x="8452211" y="1112626"/>
            <a:ext cx="562249" cy="362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961452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購買管理プロセス分野における確認日程④</a:t>
            </a:r>
            <a:endParaRPr lang="en-US" altLang="ja-JP" dirty="0">
              <a:latin typeface="Meiryo UI" pitchFamily="50" charset="-128"/>
              <a:ea typeface="Meiryo UI" pitchFamily="50" charset="-128"/>
              <a:cs typeface="Meiryo UI" pitchFamily="50" charset="-128"/>
            </a:endParaRPr>
          </a:p>
          <a:p>
            <a:pPr eaLnBrk="0" hangingPunct="0">
              <a:spcBef>
                <a:spcPct val="20000"/>
              </a:spcBef>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09"/>
          <a:ext cx="8383982" cy="2989978"/>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61426">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26</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MM-4</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6. (XXXX)</a:t>
                      </a:r>
                      <a:r>
                        <a:rPr kumimoji="1" lang="ja-JP" altLang="en-US" sz="1400" dirty="0">
                          <a:latin typeface="Meiryo UI" pitchFamily="50" charset="-128"/>
                          <a:ea typeface="Meiryo UI" pitchFamily="50" charset="-128"/>
                          <a:cs typeface="Meiryo UI" pitchFamily="50" charset="-128"/>
                        </a:rPr>
                        <a:t>様における業務プロセスの確認</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633467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6.1 </a:t>
                      </a:r>
                      <a:r>
                        <a:rPr kumimoji="1" lang="ja-JP" altLang="en-US" sz="1400" dirty="0">
                          <a:latin typeface="Meiryo UI" pitchFamily="50" charset="-128"/>
                          <a:ea typeface="Meiryo UI" pitchFamily="50" charset="-128"/>
                          <a:cs typeface="Meiryo UI" pitchFamily="50" charset="-128"/>
                        </a:rPr>
                        <a:t>購買依頼の登録・承認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6.2 </a:t>
                      </a:r>
                      <a:r>
                        <a:rPr kumimoji="1" lang="ja-JP" altLang="en-US" sz="1400" dirty="0">
                          <a:latin typeface="Meiryo UI" pitchFamily="50" charset="-128"/>
                          <a:ea typeface="Meiryo UI" pitchFamily="50" charset="-128"/>
                          <a:cs typeface="Meiryo UI" pitchFamily="50" charset="-128"/>
                        </a:rPr>
                        <a:t>見積依頼の登録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6.3 </a:t>
                      </a:r>
                      <a:r>
                        <a:rPr kumimoji="1" lang="ja-JP" altLang="en-US" sz="1400" dirty="0">
                          <a:latin typeface="Meiryo UI" pitchFamily="50" charset="-128"/>
                          <a:ea typeface="Meiryo UI" pitchFamily="50" charset="-128"/>
                          <a:cs typeface="Meiryo UI" pitchFamily="50" charset="-128"/>
                        </a:rPr>
                        <a:t>見積回答の登録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6.4 </a:t>
                      </a:r>
                      <a:r>
                        <a:rPr kumimoji="1" lang="ja-JP" altLang="en-US" sz="1400" dirty="0">
                          <a:latin typeface="Meiryo UI" pitchFamily="50" charset="-128"/>
                          <a:ea typeface="Meiryo UI" pitchFamily="50" charset="-128"/>
                          <a:cs typeface="Meiryo UI" pitchFamily="50" charset="-128"/>
                        </a:rPr>
                        <a:t>見積結果の比較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6.5 </a:t>
                      </a:r>
                      <a:r>
                        <a:rPr kumimoji="1" lang="ja-JP" altLang="en-US" sz="1400" dirty="0">
                          <a:latin typeface="Meiryo UI" pitchFamily="50" charset="-128"/>
                          <a:ea typeface="Meiryo UI" pitchFamily="50" charset="-128"/>
                          <a:cs typeface="Meiryo UI" pitchFamily="50" charset="-128"/>
                        </a:rPr>
                        <a:t>購買発注の登録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6.6 </a:t>
                      </a:r>
                      <a:r>
                        <a:rPr kumimoji="1" lang="ja-JP" altLang="en-US" sz="1400" dirty="0">
                          <a:latin typeface="Meiryo UI" pitchFamily="50" charset="-128"/>
                          <a:ea typeface="Meiryo UI" pitchFamily="50" charset="-128"/>
                          <a:cs typeface="Meiryo UI" pitchFamily="50" charset="-128"/>
                        </a:rPr>
                        <a:t>購買発注の入庫</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6.7 </a:t>
                      </a:r>
                      <a:r>
                        <a:rPr kumimoji="1" lang="ja-JP" altLang="en-US" sz="1400" dirty="0">
                          <a:latin typeface="Meiryo UI" pitchFamily="50" charset="-128"/>
                          <a:ea typeface="Meiryo UI" pitchFamily="50" charset="-128"/>
                          <a:cs typeface="Meiryo UI" pitchFamily="50" charset="-128"/>
                        </a:rPr>
                        <a:t>自動請求書照合</a:t>
                      </a:r>
                      <a:r>
                        <a:rPr kumimoji="1" lang="en-US" altLang="ja-JP" sz="1400" dirty="0">
                          <a:latin typeface="Meiryo UI" pitchFamily="50" charset="-128"/>
                          <a:ea typeface="Meiryo UI" pitchFamily="50" charset="-128"/>
                          <a:cs typeface="Meiryo UI" pitchFamily="50" charset="-128"/>
                        </a:rPr>
                        <a:t>(ERS)</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70965439"/>
                  </a:ext>
                </a:extLst>
              </a:tr>
            </a:tbl>
          </a:graphicData>
        </a:graphic>
      </p:graphicFrame>
      <p:sp>
        <p:nvSpPr>
          <p:cNvPr id="5" name="正方形/長方形 4"/>
          <p:cNvSpPr/>
          <p:nvPr/>
        </p:nvSpPr>
        <p:spPr>
          <a:xfrm>
            <a:off x="198683" y="3826550"/>
            <a:ext cx="8368847" cy="3180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977766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フローチャート: 書類 251"/>
          <p:cNvSpPr/>
          <p:nvPr/>
        </p:nvSpPr>
        <p:spPr>
          <a:xfrm>
            <a:off x="5746649" y="6303143"/>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251" name="フローチャート: 書類 250"/>
          <p:cNvSpPr/>
          <p:nvPr/>
        </p:nvSpPr>
        <p:spPr>
          <a:xfrm>
            <a:off x="5653174" y="5537028"/>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購買発注の入庫</a:t>
            </a: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６．６</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購買発注の入庫 （ １ ／ ６ ）</a:t>
            </a:r>
            <a:endParaRPr kumimoji="1" lang="ja-JP" altLang="en-US" sz="2000" dirty="0">
              <a:latin typeface="Meiryo UI" pitchFamily="50" charset="-128"/>
              <a:ea typeface="Meiryo UI" pitchFamily="50" charset="-128"/>
              <a:cs typeface="Meiryo UI" pitchFamily="50" charset="-128"/>
            </a:endParaRPr>
          </a:p>
        </p:txBody>
      </p:sp>
      <p:sp>
        <p:nvSpPr>
          <p:cNvPr id="169" name="正方形/長方形 168"/>
          <p:cNvSpPr/>
          <p:nvPr/>
        </p:nvSpPr>
        <p:spPr>
          <a:xfrm>
            <a:off x="3690998" y="5990872"/>
            <a:ext cx="1635566" cy="61724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自動請求書照合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(ERS)</a:t>
            </a:r>
            <a:endParaRPr lang="ja-JP" altLang="en-US" sz="1600" dirty="0">
              <a:latin typeface="Meiryo UI" panose="020B0604030504040204" pitchFamily="50" charset="-128"/>
              <a:ea typeface="Meiryo UI" panose="020B0604030504040204" pitchFamily="50" charset="-128"/>
            </a:endParaRPr>
          </a:p>
        </p:txBody>
      </p:sp>
      <p:sp>
        <p:nvSpPr>
          <p:cNvPr id="170" name="フローチャート: 判断 169"/>
          <p:cNvSpPr/>
          <p:nvPr/>
        </p:nvSpPr>
        <p:spPr>
          <a:xfrm>
            <a:off x="4046538" y="1892364"/>
            <a:ext cx="914400" cy="612648"/>
          </a:xfrm>
          <a:prstGeom prst="flowChartDecision">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承認</a:t>
            </a:r>
          </a:p>
        </p:txBody>
      </p:sp>
      <p:sp>
        <p:nvSpPr>
          <p:cNvPr id="182" name="正方形/長方形 181"/>
          <p:cNvSpPr/>
          <p:nvPr/>
        </p:nvSpPr>
        <p:spPr>
          <a:xfrm>
            <a:off x="3690998" y="129410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購買依頼</a:t>
            </a:r>
            <a:endParaRPr lang="en-US" altLang="ja-JP" sz="1600" dirty="0">
              <a:latin typeface="Meiryo UI" panose="020B0604030504040204" pitchFamily="50" charset="-128"/>
              <a:ea typeface="Meiryo UI" panose="020B0604030504040204" pitchFamily="50" charset="-128"/>
            </a:endParaRPr>
          </a:p>
        </p:txBody>
      </p:sp>
      <p:sp>
        <p:nvSpPr>
          <p:cNvPr id="183" name="正方形/長方形 182"/>
          <p:cNvSpPr/>
          <p:nvPr/>
        </p:nvSpPr>
        <p:spPr>
          <a:xfrm>
            <a:off x="3685955" y="2687040"/>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見積依頼</a:t>
            </a:r>
            <a:endParaRPr lang="en-US" altLang="ja-JP" sz="1600" dirty="0">
              <a:latin typeface="Meiryo UI" panose="020B0604030504040204" pitchFamily="50" charset="-128"/>
              <a:ea typeface="Meiryo UI" panose="020B0604030504040204" pitchFamily="50" charset="-128"/>
            </a:endParaRPr>
          </a:p>
        </p:txBody>
      </p:sp>
      <p:sp>
        <p:nvSpPr>
          <p:cNvPr id="184" name="正方形/長方形 183"/>
          <p:cNvSpPr/>
          <p:nvPr/>
        </p:nvSpPr>
        <p:spPr>
          <a:xfrm>
            <a:off x="3685955" y="335007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見積回答</a:t>
            </a:r>
            <a:endParaRPr lang="en-US" altLang="ja-JP" sz="1600" dirty="0">
              <a:latin typeface="Meiryo UI" panose="020B0604030504040204" pitchFamily="50" charset="-128"/>
              <a:ea typeface="Meiryo UI" panose="020B0604030504040204" pitchFamily="50" charset="-128"/>
            </a:endParaRPr>
          </a:p>
        </p:txBody>
      </p:sp>
      <p:sp>
        <p:nvSpPr>
          <p:cNvPr id="185" name="正方形/長方形 184"/>
          <p:cNvSpPr/>
          <p:nvPr/>
        </p:nvSpPr>
        <p:spPr>
          <a:xfrm>
            <a:off x="3685955" y="4027243"/>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見積結果比較</a:t>
            </a:r>
            <a:endParaRPr lang="en-US" altLang="ja-JP" sz="1600" dirty="0">
              <a:latin typeface="Meiryo UI" panose="020B0604030504040204" pitchFamily="50" charset="-128"/>
              <a:ea typeface="Meiryo UI" panose="020B0604030504040204" pitchFamily="50" charset="-128"/>
            </a:endParaRPr>
          </a:p>
        </p:txBody>
      </p:sp>
      <p:sp>
        <p:nvSpPr>
          <p:cNvPr id="187" name="正方形/長方形 186"/>
          <p:cNvSpPr/>
          <p:nvPr/>
        </p:nvSpPr>
        <p:spPr>
          <a:xfrm>
            <a:off x="3678590" y="471966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購買発注</a:t>
            </a:r>
            <a:endParaRPr lang="en-US" altLang="ja-JP" sz="1600" dirty="0">
              <a:latin typeface="Meiryo UI" panose="020B0604030504040204" pitchFamily="50" charset="-128"/>
              <a:ea typeface="Meiryo UI" panose="020B0604030504040204" pitchFamily="50" charset="-128"/>
            </a:endParaRPr>
          </a:p>
        </p:txBody>
      </p:sp>
      <p:sp>
        <p:nvSpPr>
          <p:cNvPr id="188" name="正方形/長方形 187"/>
          <p:cNvSpPr/>
          <p:nvPr/>
        </p:nvSpPr>
        <p:spPr>
          <a:xfrm>
            <a:off x="3690463" y="537703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発注入庫</a:t>
            </a:r>
            <a:endParaRPr lang="en-US" altLang="ja-JP" sz="1600" dirty="0">
              <a:latin typeface="Meiryo UI" panose="020B0604030504040204" pitchFamily="50" charset="-128"/>
              <a:ea typeface="Meiryo UI" panose="020B0604030504040204" pitchFamily="50" charset="-128"/>
            </a:endParaRPr>
          </a:p>
        </p:txBody>
      </p:sp>
      <p:cxnSp>
        <p:nvCxnSpPr>
          <p:cNvPr id="190" name="直線矢印コネクタ 189"/>
          <p:cNvCxnSpPr>
            <a:stCxn id="182" idx="2"/>
            <a:endCxn id="170" idx="0"/>
          </p:cNvCxnSpPr>
          <p:nvPr/>
        </p:nvCxnSpPr>
        <p:spPr>
          <a:xfrm flipH="1">
            <a:off x="4503738" y="1723733"/>
            <a:ext cx="5043" cy="1686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矢印コネクタ 194"/>
          <p:cNvCxnSpPr>
            <a:stCxn id="170" idx="2"/>
            <a:endCxn id="183" idx="0"/>
          </p:cNvCxnSpPr>
          <p:nvPr/>
        </p:nvCxnSpPr>
        <p:spPr>
          <a:xfrm>
            <a:off x="4503738" y="2505012"/>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矢印コネクタ 199"/>
          <p:cNvCxnSpPr/>
          <p:nvPr/>
        </p:nvCxnSpPr>
        <p:spPr>
          <a:xfrm>
            <a:off x="4496373" y="3148547"/>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矢印コネクタ 200"/>
          <p:cNvCxnSpPr>
            <a:stCxn id="184" idx="2"/>
            <a:endCxn id="185" idx="0"/>
          </p:cNvCxnSpPr>
          <p:nvPr/>
        </p:nvCxnSpPr>
        <p:spPr>
          <a:xfrm>
            <a:off x="4503738" y="3779706"/>
            <a:ext cx="0" cy="247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矢印コネクタ 202"/>
          <p:cNvCxnSpPr>
            <a:endCxn id="187" idx="0"/>
          </p:cNvCxnSpPr>
          <p:nvPr/>
        </p:nvCxnSpPr>
        <p:spPr>
          <a:xfrm flipH="1">
            <a:off x="4496373" y="4468194"/>
            <a:ext cx="10644" cy="25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a:endCxn id="188" idx="0"/>
          </p:cNvCxnSpPr>
          <p:nvPr/>
        </p:nvCxnSpPr>
        <p:spPr>
          <a:xfrm flipH="1">
            <a:off x="4508246" y="5178223"/>
            <a:ext cx="2050" cy="1988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p:cNvCxnSpPr>
            <a:stCxn id="188" idx="2"/>
            <a:endCxn id="169" idx="0"/>
          </p:cNvCxnSpPr>
          <p:nvPr/>
        </p:nvCxnSpPr>
        <p:spPr>
          <a:xfrm>
            <a:off x="4508246" y="5806663"/>
            <a:ext cx="535" cy="184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角丸四角形 212"/>
          <p:cNvSpPr/>
          <p:nvPr/>
        </p:nvSpPr>
        <p:spPr>
          <a:xfrm>
            <a:off x="713289" y="2687040"/>
            <a:ext cx="1212884" cy="3951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A</a:t>
            </a:r>
            <a:endParaRPr kumimoji="1" lang="ja-JP" altLang="en-US" dirty="0"/>
          </a:p>
        </p:txBody>
      </p:sp>
      <p:sp>
        <p:nvSpPr>
          <p:cNvPr id="215" name="角丸四角形 214"/>
          <p:cNvSpPr/>
          <p:nvPr/>
        </p:nvSpPr>
        <p:spPr>
          <a:xfrm>
            <a:off x="7039941" y="2683844"/>
            <a:ext cx="1212884" cy="1749073"/>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B</a:t>
            </a:r>
            <a:endParaRPr kumimoji="1" lang="ja-JP" altLang="en-US" dirty="0"/>
          </a:p>
        </p:txBody>
      </p:sp>
      <p:cxnSp>
        <p:nvCxnSpPr>
          <p:cNvPr id="216" name="直線矢印コネクタ 215"/>
          <p:cNvCxnSpPr>
            <a:stCxn id="183" idx="1"/>
          </p:cNvCxnSpPr>
          <p:nvPr/>
        </p:nvCxnSpPr>
        <p:spPr>
          <a:xfrm flipH="1" flipV="1">
            <a:off x="1951038" y="2898900"/>
            <a:ext cx="1734917" cy="2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p:cNvCxnSpPr/>
          <p:nvPr/>
        </p:nvCxnSpPr>
        <p:spPr>
          <a:xfrm flipH="1" flipV="1">
            <a:off x="1951038" y="4905375"/>
            <a:ext cx="1708693" cy="24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矢印コネクタ 219"/>
          <p:cNvCxnSpPr>
            <a:stCxn id="215" idx="1"/>
          </p:cNvCxnSpPr>
          <p:nvPr/>
        </p:nvCxnSpPr>
        <p:spPr>
          <a:xfrm flipH="1">
            <a:off x="5310374" y="3558381"/>
            <a:ext cx="1729567" cy="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矢印コネクタ 220"/>
          <p:cNvCxnSpPr>
            <a:endCxn id="184" idx="1"/>
          </p:cNvCxnSpPr>
          <p:nvPr/>
        </p:nvCxnSpPr>
        <p:spPr>
          <a:xfrm>
            <a:off x="1951038" y="3558380"/>
            <a:ext cx="1734917" cy="65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224"/>
          <p:cNvCxnSpPr/>
          <p:nvPr/>
        </p:nvCxnSpPr>
        <p:spPr>
          <a:xfrm flipV="1">
            <a:off x="1935163" y="5475889"/>
            <a:ext cx="1743427" cy="70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矢印コネクタ 230"/>
          <p:cNvCxnSpPr/>
          <p:nvPr/>
        </p:nvCxnSpPr>
        <p:spPr>
          <a:xfrm flipH="1">
            <a:off x="1939671" y="5718175"/>
            <a:ext cx="1752696" cy="401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矢印コネクタ 234"/>
          <p:cNvCxnSpPr>
            <a:stCxn id="183" idx="3"/>
          </p:cNvCxnSpPr>
          <p:nvPr/>
        </p:nvCxnSpPr>
        <p:spPr>
          <a:xfrm flipV="1">
            <a:off x="5321521" y="2889047"/>
            <a:ext cx="1741563" cy="128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フローチャート: 書類 244"/>
          <p:cNvSpPr/>
          <p:nvPr/>
        </p:nvSpPr>
        <p:spPr>
          <a:xfrm>
            <a:off x="5166677" y="6258001"/>
            <a:ext cx="646510" cy="471757"/>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請求書</a:t>
            </a:r>
            <a:endParaRPr lang="en-US" altLang="ja-JP" sz="1200" dirty="0">
              <a:latin typeface="Meiryo UI" panose="020B0604030504040204" pitchFamily="50" charset="-128"/>
              <a:ea typeface="Meiryo UI" panose="020B0604030504040204" pitchFamily="50" charset="-128"/>
            </a:endParaRPr>
          </a:p>
        </p:txBody>
      </p:sp>
      <p:sp>
        <p:nvSpPr>
          <p:cNvPr id="246" name="フローチャート: 書類 245"/>
          <p:cNvSpPr/>
          <p:nvPr/>
        </p:nvSpPr>
        <p:spPr>
          <a:xfrm>
            <a:off x="5126426" y="5464485"/>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入庫</a:t>
            </a:r>
            <a:endParaRPr kumimoji="1" lang="ja-JP" altLang="en-US" sz="1200" dirty="0">
              <a:latin typeface="Meiryo UI" panose="020B0604030504040204" pitchFamily="50" charset="-128"/>
              <a:ea typeface="Meiryo UI" panose="020B0604030504040204" pitchFamily="50" charset="-128"/>
            </a:endParaRPr>
          </a:p>
        </p:txBody>
      </p:sp>
      <p:sp>
        <p:nvSpPr>
          <p:cNvPr id="247" name="フローチャート: 書類 246"/>
          <p:cNvSpPr/>
          <p:nvPr/>
        </p:nvSpPr>
        <p:spPr>
          <a:xfrm>
            <a:off x="2466603" y="4689290"/>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発注</a:t>
            </a:r>
            <a:endParaRPr kumimoji="1" lang="ja-JP" altLang="en-US" sz="1200" dirty="0">
              <a:latin typeface="Meiryo UI" panose="020B0604030504040204" pitchFamily="50" charset="-128"/>
              <a:ea typeface="Meiryo UI" panose="020B0604030504040204" pitchFamily="50" charset="-128"/>
            </a:endParaRPr>
          </a:p>
        </p:txBody>
      </p:sp>
      <p:sp>
        <p:nvSpPr>
          <p:cNvPr id="248" name="フローチャート: 書類 247"/>
          <p:cNvSpPr/>
          <p:nvPr/>
        </p:nvSpPr>
        <p:spPr>
          <a:xfrm>
            <a:off x="2472332" y="271392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latin typeface="Meiryo UI" panose="020B0604030504040204" pitchFamily="50" charset="-128"/>
                <a:ea typeface="Meiryo UI" panose="020B0604030504040204" pitchFamily="50" charset="-128"/>
              </a:rPr>
              <a:t>見積</a:t>
            </a: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49" name="フローチャート: 書類 248"/>
          <p:cNvSpPr/>
          <p:nvPr/>
        </p:nvSpPr>
        <p:spPr>
          <a:xfrm>
            <a:off x="5857476" y="2674237"/>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見積</a:t>
            </a:r>
            <a:r>
              <a:rPr lang="en-US" altLang="ja-JP" sz="1200" dirty="0">
                <a:latin typeface="Meiryo UI" panose="020B0604030504040204" pitchFamily="50" charset="-128"/>
                <a:ea typeface="Meiryo UI" panose="020B0604030504040204" pitchFamily="50" charset="-128"/>
              </a:rPr>
              <a:t>2</a:t>
            </a:r>
            <a:endParaRPr kumimoji="1" lang="ja-JP" altLang="en-US" sz="1200" dirty="0">
              <a:latin typeface="Meiryo UI" panose="020B0604030504040204" pitchFamily="50" charset="-128"/>
              <a:ea typeface="Meiryo UI" panose="020B0604030504040204" pitchFamily="50" charset="-128"/>
            </a:endParaRPr>
          </a:p>
        </p:txBody>
      </p:sp>
      <p:sp>
        <p:nvSpPr>
          <p:cNvPr id="250" name="フローチャート: 書類 249"/>
          <p:cNvSpPr/>
          <p:nvPr/>
        </p:nvSpPr>
        <p:spPr>
          <a:xfrm>
            <a:off x="4957867" y="151954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依頼</a:t>
            </a:r>
            <a:endParaRPr kumimoji="1" lang="ja-JP" altLang="en-US" sz="1200" dirty="0">
              <a:latin typeface="Meiryo UI" panose="020B0604030504040204" pitchFamily="50" charset="-128"/>
              <a:ea typeface="Meiryo UI" panose="020B0604030504040204" pitchFamily="50" charset="-128"/>
            </a:endParaRPr>
          </a:p>
        </p:txBody>
      </p:sp>
      <p:sp>
        <p:nvSpPr>
          <p:cNvPr id="265" name="1 つの角を切り取った四角形 264"/>
          <p:cNvSpPr/>
          <p:nvPr/>
        </p:nvSpPr>
        <p:spPr>
          <a:xfrm>
            <a:off x="2472497" y="3423022"/>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6" name="1 つの角を切り取った四角形 265"/>
          <p:cNvSpPr/>
          <p:nvPr/>
        </p:nvSpPr>
        <p:spPr>
          <a:xfrm>
            <a:off x="5851003" y="3453053"/>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7" name="1 つの角を切り取った四角形 266"/>
          <p:cNvSpPr/>
          <p:nvPr/>
        </p:nvSpPr>
        <p:spPr>
          <a:xfrm>
            <a:off x="2461882" y="5319657"/>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品目</a:t>
            </a:r>
          </a:p>
        </p:txBody>
      </p:sp>
      <p:sp>
        <p:nvSpPr>
          <p:cNvPr id="269" name="1 つの角を切り取った四角形 268"/>
          <p:cNvSpPr/>
          <p:nvPr/>
        </p:nvSpPr>
        <p:spPr>
          <a:xfrm>
            <a:off x="2458374" y="5751024"/>
            <a:ext cx="670276" cy="33411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検収書</a:t>
            </a:r>
          </a:p>
        </p:txBody>
      </p:sp>
      <p:sp>
        <p:nvSpPr>
          <p:cNvPr id="2" name="正方形/長方形 1"/>
          <p:cNvSpPr/>
          <p:nvPr/>
        </p:nvSpPr>
        <p:spPr>
          <a:xfrm>
            <a:off x="3428999" y="5223691"/>
            <a:ext cx="3070311" cy="70555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139718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購買発注入庫</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先ほど発注登録した伝票を入庫します。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登録手順</a:t>
            </a:r>
            <a:r>
              <a:rPr lang="en-US" altLang="ja-JP" dirty="0">
                <a:latin typeface="Meiryo UI" pitchFamily="50" charset="-128"/>
                <a:ea typeface="Meiryo UI" pitchFamily="50" charset="-128"/>
                <a:cs typeface="Meiryo UI" pitchFamily="50" charset="-128"/>
              </a:rPr>
              <a:t>】</a:t>
            </a: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11" name="角丸四角形 10"/>
          <p:cNvSpPr/>
          <p:nvPr/>
        </p:nvSpPr>
        <p:spPr>
          <a:xfrm>
            <a:off x="526634" y="3099219"/>
            <a:ext cx="1500949" cy="97582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①画面起動</a:t>
            </a:r>
            <a:endParaRPr kumimoji="1" lang="ja-JP" altLang="en-US" sz="1400" dirty="0">
              <a:latin typeface="Meiryo UI" panose="020B0604030504040204" pitchFamily="50" charset="-128"/>
              <a:ea typeface="Meiryo UI" panose="020B0604030504040204" pitchFamily="50" charset="-128"/>
            </a:endParaRPr>
          </a:p>
        </p:txBody>
      </p:sp>
      <p:sp>
        <p:nvSpPr>
          <p:cNvPr id="15" name="角丸四角形 14"/>
          <p:cNvSpPr/>
          <p:nvPr/>
        </p:nvSpPr>
        <p:spPr>
          <a:xfrm>
            <a:off x="2147601" y="3092985"/>
            <a:ext cx="1550897" cy="98205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②明細入力</a:t>
            </a:r>
            <a:endParaRPr lang="en-US" altLang="ja-JP" sz="1400" dirty="0">
              <a:latin typeface="Meiryo UI" panose="020B0604030504040204" pitchFamily="50" charset="-128"/>
              <a:ea typeface="Meiryo UI" panose="020B0604030504040204" pitchFamily="50" charset="-128"/>
            </a:endParaRPr>
          </a:p>
        </p:txBody>
      </p:sp>
      <p:sp>
        <p:nvSpPr>
          <p:cNvPr id="19" name="角丸四角形 18"/>
          <p:cNvSpPr/>
          <p:nvPr/>
        </p:nvSpPr>
        <p:spPr>
          <a:xfrm>
            <a:off x="3818515" y="3092984"/>
            <a:ext cx="1540289" cy="9820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③保存</a:t>
            </a:r>
            <a:endParaRPr kumimoji="1" lang="ja-JP" altLang="en-US" sz="1400" dirty="0">
              <a:latin typeface="Meiryo UI" panose="020B0604030504040204" pitchFamily="50" charset="-128"/>
              <a:ea typeface="Meiryo UI" panose="020B0604030504040204"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６．６</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購買発注の入庫 （ ２ ／ ６ ）</a:t>
            </a:r>
            <a:endParaRPr kumimoji="1" lang="ja-JP" altLang="en-US" sz="2000" dirty="0">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25307755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4992949" y="2021840"/>
            <a:ext cx="3945947" cy="4480560"/>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画面起動</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「在庫管理」→「入出庫登録」と遷移します。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MIGO –</a:t>
            </a:r>
            <a:r>
              <a:rPr lang="ja-JP" altLang="en-US" dirty="0">
                <a:latin typeface="Meiryo UI" pitchFamily="50" charset="-128"/>
                <a:ea typeface="Meiryo UI" pitchFamily="50" charset="-128"/>
                <a:cs typeface="Meiryo UI" pitchFamily="50" charset="-128"/>
              </a:rPr>
              <a:t> 入出庫登録」を選択、</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    </a:t>
            </a:r>
            <a:r>
              <a:rPr lang="ja-JP" altLang="en-US" dirty="0">
                <a:latin typeface="Meiryo UI" pitchFamily="50" charset="-128"/>
                <a:ea typeface="Meiryo UI" pitchFamily="50" charset="-128"/>
                <a:cs typeface="Meiryo UI" pitchFamily="50" charset="-128"/>
              </a:rPr>
              <a:t>またはコマンド入力欄に</a:t>
            </a:r>
            <a:r>
              <a:rPr lang="en-US" altLang="ja-JP" dirty="0">
                <a:latin typeface="Meiryo UI" pitchFamily="50" charset="-128"/>
                <a:ea typeface="Meiryo UI" pitchFamily="50" charset="-128"/>
                <a:cs typeface="Meiryo UI" pitchFamily="50" charset="-128"/>
              </a:rPr>
              <a:t>’MIGO’</a:t>
            </a:r>
            <a:r>
              <a:rPr lang="ja-JP" altLang="en-US" dirty="0">
                <a:latin typeface="Meiryo UI" pitchFamily="50" charset="-128"/>
                <a:ea typeface="Meiryo UI" pitchFamily="50" charset="-128"/>
                <a:cs typeface="Meiryo UI" pitchFamily="50" charset="-128"/>
              </a:rPr>
              <a:t>と入力します。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６．６</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購買発注の入庫 （ ３ ／ ６ ）</a:t>
            </a:r>
            <a:endParaRPr kumimoji="1" lang="ja-JP" altLang="en-US" sz="2000" dirty="0">
              <a:latin typeface="Meiryo UI" pitchFamily="50" charset="-128"/>
              <a:ea typeface="Meiryo UI" pitchFamily="50" charset="-128"/>
              <a:cs typeface="Meiryo UI" pitchFamily="50" charset="-128"/>
            </a:endParaRPr>
          </a:p>
        </p:txBody>
      </p:sp>
      <p:sp>
        <p:nvSpPr>
          <p:cNvPr id="6" name="正方形/長方形 5"/>
          <p:cNvSpPr/>
          <p:nvPr/>
        </p:nvSpPr>
        <p:spPr>
          <a:xfrm>
            <a:off x="5943600" y="6130283"/>
            <a:ext cx="1725558" cy="2544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右カーブ矢印 8"/>
          <p:cNvSpPr/>
          <p:nvPr/>
        </p:nvSpPr>
        <p:spPr>
          <a:xfrm>
            <a:off x="4921829" y="4064000"/>
            <a:ext cx="249611" cy="866397"/>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1" name="右カーブ矢印 10"/>
          <p:cNvSpPr/>
          <p:nvPr/>
        </p:nvSpPr>
        <p:spPr>
          <a:xfrm>
            <a:off x="5698316" y="6055767"/>
            <a:ext cx="174164" cy="288466"/>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3" name="右カーブ矢印 12"/>
          <p:cNvSpPr/>
          <p:nvPr/>
        </p:nvSpPr>
        <p:spPr>
          <a:xfrm>
            <a:off x="5080077" y="4882362"/>
            <a:ext cx="214894" cy="582116"/>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4" name="正方形/長方形 13"/>
          <p:cNvSpPr/>
          <p:nvPr/>
        </p:nvSpPr>
        <p:spPr>
          <a:xfrm>
            <a:off x="5294971" y="2644554"/>
            <a:ext cx="1725589" cy="2815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右カーブ矢印 14"/>
          <p:cNvSpPr/>
          <p:nvPr/>
        </p:nvSpPr>
        <p:spPr>
          <a:xfrm>
            <a:off x="5531271" y="5829021"/>
            <a:ext cx="133282" cy="280942"/>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6" name="右カーブ矢印 15"/>
          <p:cNvSpPr/>
          <p:nvPr/>
        </p:nvSpPr>
        <p:spPr>
          <a:xfrm>
            <a:off x="5272036" y="5427927"/>
            <a:ext cx="225472" cy="407281"/>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pic>
        <p:nvPicPr>
          <p:cNvPr id="3" name="図 2"/>
          <p:cNvPicPr>
            <a:picLocks noChangeAspect="1"/>
          </p:cNvPicPr>
          <p:nvPr/>
        </p:nvPicPr>
        <p:blipFill>
          <a:blip r:embed="rId3"/>
          <a:stretch>
            <a:fillRect/>
          </a:stretch>
        </p:blipFill>
        <p:spPr>
          <a:xfrm>
            <a:off x="7287861" y="1061384"/>
            <a:ext cx="1738909" cy="360000"/>
          </a:xfrm>
          <a:prstGeom prst="rect">
            <a:avLst/>
          </a:prstGeom>
        </p:spPr>
      </p:pic>
      <p:sp>
        <p:nvSpPr>
          <p:cNvPr id="4" name="正方形/長方形 3"/>
          <p:cNvSpPr/>
          <p:nvPr/>
        </p:nvSpPr>
        <p:spPr>
          <a:xfrm>
            <a:off x="7280241" y="1061384"/>
            <a:ext cx="560739"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819034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画面起動</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r>
              <a:rPr lang="ja-JP" altLang="en-US" dirty="0">
                <a:latin typeface="Meiryo UI" pitchFamily="50" charset="-128"/>
                <a:ea typeface="Meiryo UI" pitchFamily="50" charset="-128"/>
                <a:cs typeface="Meiryo UI" pitchFamily="50" charset="-128"/>
              </a:rPr>
              <a:t>赤枠を入力後、エンターキーを押します。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3"/>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６．６</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購買発注の入庫 （ ４ ／ ６ ）</a:t>
            </a:r>
            <a:endParaRPr kumimoji="1" lang="ja-JP" altLang="en-US" sz="2000" dirty="0">
              <a:latin typeface="Meiryo UI" pitchFamily="50" charset="-128"/>
              <a:ea typeface="Meiryo UI" pitchFamily="50" charset="-128"/>
              <a:cs typeface="Meiryo UI" pitchFamily="50" charset="-128"/>
            </a:endParaRPr>
          </a:p>
        </p:txBody>
      </p:sp>
      <p:pic>
        <p:nvPicPr>
          <p:cNvPr id="4" name="図 3"/>
          <p:cNvPicPr>
            <a:picLocks noChangeAspect="1"/>
          </p:cNvPicPr>
          <p:nvPr/>
        </p:nvPicPr>
        <p:blipFill>
          <a:blip r:embed="rId3"/>
          <a:stretch>
            <a:fillRect/>
          </a:stretch>
        </p:blipFill>
        <p:spPr>
          <a:xfrm>
            <a:off x="198683" y="2081099"/>
            <a:ext cx="8695701" cy="2225041"/>
          </a:xfrm>
          <a:prstGeom prst="rect">
            <a:avLst/>
          </a:prstGeom>
        </p:spPr>
      </p:pic>
      <p:sp>
        <p:nvSpPr>
          <p:cNvPr id="6" name="正方形/長方形 5"/>
          <p:cNvSpPr/>
          <p:nvPr/>
        </p:nvSpPr>
        <p:spPr>
          <a:xfrm>
            <a:off x="198683" y="2915920"/>
            <a:ext cx="1487877" cy="2776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3133799" y="2915920"/>
            <a:ext cx="828602" cy="2776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686561" y="2915919"/>
            <a:ext cx="1432560" cy="2777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8216639" y="2915920"/>
            <a:ext cx="378721" cy="2776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8" name="表 7"/>
          <p:cNvGraphicFramePr>
            <a:graphicFrameLocks noGrp="1"/>
          </p:cNvGraphicFramePr>
          <p:nvPr>
            <p:extLst>
              <p:ext uri="{D42A27DB-BD31-4B8C-83A1-F6EECF244321}">
                <p14:modId xmlns:p14="http://schemas.microsoft.com/office/powerpoint/2010/main" val="650115839"/>
              </p:ext>
            </p:extLst>
          </p:nvPr>
        </p:nvGraphicFramePr>
        <p:xfrm>
          <a:off x="4358640" y="3815080"/>
          <a:ext cx="4236720" cy="2047240"/>
        </p:xfrm>
        <a:graphic>
          <a:graphicData uri="http://schemas.openxmlformats.org/drawingml/2006/table">
            <a:tbl>
              <a:tblPr firstRow="1" bandRow="1">
                <a:tableStyleId>{7DF18680-E054-41AD-8BC1-D1AEF772440D}</a:tableStyleId>
              </a:tblPr>
              <a:tblGrid>
                <a:gridCol w="1723753">
                  <a:extLst>
                    <a:ext uri="{9D8B030D-6E8A-4147-A177-3AD203B41FA5}">
                      <a16:colId xmlns:a16="http://schemas.microsoft.com/office/drawing/2014/main" val="20000"/>
                    </a:ext>
                  </a:extLst>
                </a:gridCol>
                <a:gridCol w="2512967">
                  <a:extLst>
                    <a:ext uri="{9D8B030D-6E8A-4147-A177-3AD203B41FA5}">
                      <a16:colId xmlns:a16="http://schemas.microsoft.com/office/drawing/2014/main" val="20001"/>
                    </a:ext>
                  </a:extLst>
                </a:gridCol>
              </a:tblGrid>
              <a:tr h="409448">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409448">
                <a:tc>
                  <a:txBody>
                    <a:bodyPr/>
                    <a:lstStyle/>
                    <a:p>
                      <a:pPr algn="ctr"/>
                      <a:r>
                        <a:rPr kumimoji="1" lang="ja-JP" altLang="en-US" dirty="0">
                          <a:latin typeface="Meiryo UI" panose="020B0604030504040204" pitchFamily="50" charset="-128"/>
                          <a:ea typeface="Meiryo UI" panose="020B0604030504040204" pitchFamily="50" charset="-128"/>
                        </a:rPr>
                        <a:t>プルダウン①</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入庫</a:t>
                      </a:r>
                    </a:p>
                  </a:txBody>
                  <a:tcPr anchor="ctr"/>
                </a:tc>
                <a:extLst>
                  <a:ext uri="{0D108BD9-81ED-4DB2-BD59-A6C34878D82A}">
                    <a16:rowId xmlns:a16="http://schemas.microsoft.com/office/drawing/2014/main" val="10001"/>
                  </a:ext>
                </a:extLst>
              </a:tr>
              <a:tr h="409448">
                <a:tc>
                  <a:txBody>
                    <a:bodyPr/>
                    <a:lstStyle/>
                    <a:p>
                      <a:pPr algn="ctr"/>
                      <a:r>
                        <a:rPr kumimoji="1" lang="ja-JP" altLang="en-US" dirty="0">
                          <a:latin typeface="Meiryo UI" panose="020B0604030504040204" pitchFamily="50" charset="-128"/>
                          <a:ea typeface="Meiryo UI" panose="020B0604030504040204" pitchFamily="50" charset="-128"/>
                        </a:rPr>
                        <a:t>プルダウン②</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購買発注</a:t>
                      </a:r>
                    </a:p>
                  </a:txBody>
                  <a:tcPr anchor="ctr"/>
                </a:tc>
                <a:extLst>
                  <a:ext uri="{0D108BD9-81ED-4DB2-BD59-A6C34878D82A}">
                    <a16:rowId xmlns:a16="http://schemas.microsoft.com/office/drawing/2014/main" val="10002"/>
                  </a:ext>
                </a:extLst>
              </a:tr>
              <a:tr h="409448">
                <a:tc>
                  <a:txBody>
                    <a:bodyPr/>
                    <a:lstStyle/>
                    <a:p>
                      <a:pPr algn="ctr"/>
                      <a:r>
                        <a:rPr kumimoji="1" lang="ja-JP" altLang="en-US" dirty="0">
                          <a:latin typeface="Meiryo UI" panose="020B0604030504040204" pitchFamily="50" charset="-128"/>
                          <a:ea typeface="Meiryo UI" panose="020B0604030504040204" pitchFamily="50" charset="-128"/>
                        </a:rPr>
                        <a:t>伝票番号</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先ほど控えた発注番号</a:t>
                      </a:r>
                    </a:p>
                  </a:txBody>
                  <a:tcPr anchor="ctr"/>
                </a:tc>
                <a:extLst>
                  <a:ext uri="{0D108BD9-81ED-4DB2-BD59-A6C34878D82A}">
                    <a16:rowId xmlns:a16="http://schemas.microsoft.com/office/drawing/2014/main" val="10003"/>
                  </a:ext>
                </a:extLst>
              </a:tr>
              <a:tr h="409448">
                <a:tc>
                  <a:txBody>
                    <a:bodyPr/>
                    <a:lstStyle/>
                    <a:p>
                      <a:pPr algn="ctr"/>
                      <a:r>
                        <a:rPr kumimoji="1" lang="ja-JP" altLang="en-US" dirty="0">
                          <a:latin typeface="Meiryo UI" panose="020B0604030504040204" pitchFamily="50" charset="-128"/>
                          <a:ea typeface="Meiryo UI" panose="020B0604030504040204" pitchFamily="50" charset="-128"/>
                        </a:rPr>
                        <a:t>移動タイプ</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101(</a:t>
                      </a:r>
                      <a:r>
                        <a:rPr kumimoji="1" lang="ja-JP" altLang="en-US" dirty="0">
                          <a:latin typeface="Meiryo UI" panose="020B0604030504040204" pitchFamily="50" charset="-128"/>
                          <a:ea typeface="Meiryo UI" panose="020B0604030504040204" pitchFamily="50" charset="-128"/>
                        </a:rPr>
                        <a:t>購買発注入庫</a:t>
                      </a:r>
                      <a:r>
                        <a:rPr kumimoji="1" lang="en-US" altLang="ja-JP"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4"/>
                  </a:ext>
                </a:extLst>
              </a:tr>
            </a:tbl>
          </a:graphicData>
        </a:graphic>
      </p:graphicFrame>
      <p:pic>
        <p:nvPicPr>
          <p:cNvPr id="10" name="図 9"/>
          <p:cNvPicPr>
            <a:picLocks noChangeAspect="1"/>
          </p:cNvPicPr>
          <p:nvPr/>
        </p:nvPicPr>
        <p:blipFill>
          <a:blip r:embed="rId4"/>
          <a:stretch>
            <a:fillRect/>
          </a:stretch>
        </p:blipFill>
        <p:spPr>
          <a:xfrm>
            <a:off x="7287861" y="1061384"/>
            <a:ext cx="1738909" cy="360000"/>
          </a:xfrm>
          <a:prstGeom prst="rect">
            <a:avLst/>
          </a:prstGeom>
        </p:spPr>
      </p:pic>
      <p:sp>
        <p:nvSpPr>
          <p:cNvPr id="13" name="正方形/長方形 12"/>
          <p:cNvSpPr/>
          <p:nvPr/>
        </p:nvSpPr>
        <p:spPr>
          <a:xfrm>
            <a:off x="7280241" y="1061384"/>
            <a:ext cx="560739"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830408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明細入力</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赤枠を入力します。入力後画面右下にある「チェック」をクリック</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①</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画面左下に以下のメッセージが表示されます。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６．６</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購買発注の入庫 （ ５ ／ ６ ）</a:t>
            </a:r>
            <a:endParaRPr kumimoji="1" lang="ja-JP" altLang="en-US" sz="2000" dirty="0">
              <a:latin typeface="Meiryo UI" pitchFamily="50" charset="-128"/>
              <a:ea typeface="Meiryo UI" pitchFamily="50" charset="-128"/>
              <a:cs typeface="Meiryo UI" pitchFamily="50" charset="-128"/>
            </a:endParaRPr>
          </a:p>
        </p:txBody>
      </p:sp>
      <p:pic>
        <p:nvPicPr>
          <p:cNvPr id="6" name="図 5"/>
          <p:cNvPicPr>
            <a:picLocks noChangeAspect="1"/>
          </p:cNvPicPr>
          <p:nvPr/>
        </p:nvPicPr>
        <p:blipFill>
          <a:blip r:embed="rId3"/>
          <a:stretch>
            <a:fillRect/>
          </a:stretch>
        </p:blipFill>
        <p:spPr>
          <a:xfrm>
            <a:off x="198683" y="2081209"/>
            <a:ext cx="6152086" cy="3329176"/>
          </a:xfrm>
          <a:prstGeom prst="rect">
            <a:avLst/>
          </a:prstGeom>
        </p:spPr>
      </p:pic>
      <p:sp>
        <p:nvSpPr>
          <p:cNvPr id="7" name="正方形/長方形 6"/>
          <p:cNvSpPr/>
          <p:nvPr/>
        </p:nvSpPr>
        <p:spPr>
          <a:xfrm>
            <a:off x="2174240" y="3789679"/>
            <a:ext cx="187190" cy="1588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3220720" y="3789678"/>
            <a:ext cx="669942" cy="1588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8" name="表 7"/>
          <p:cNvGraphicFramePr>
            <a:graphicFrameLocks noGrp="1"/>
          </p:cNvGraphicFramePr>
          <p:nvPr>
            <p:extLst>
              <p:ext uri="{D42A27DB-BD31-4B8C-83A1-F6EECF244321}">
                <p14:modId xmlns:p14="http://schemas.microsoft.com/office/powerpoint/2010/main" val="3654406146"/>
              </p:ext>
            </p:extLst>
          </p:nvPr>
        </p:nvGraphicFramePr>
        <p:xfrm>
          <a:off x="4522389" y="3434597"/>
          <a:ext cx="4378960" cy="1112520"/>
        </p:xfrm>
        <a:graphic>
          <a:graphicData uri="http://schemas.openxmlformats.org/drawingml/2006/table">
            <a:tbl>
              <a:tblPr firstRow="1" bandRow="1">
                <a:tableStyleId>{7DF18680-E054-41AD-8BC1-D1AEF772440D}</a:tableStyleId>
              </a:tblPr>
              <a:tblGrid>
                <a:gridCol w="204216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70840">
                <a:tc>
                  <a:txBody>
                    <a:bodyPr/>
                    <a:lstStyle/>
                    <a:p>
                      <a:pPr algn="ctr"/>
                      <a:r>
                        <a:rPr kumimoji="1" lang="en-US" altLang="ja-JP" dirty="0">
                          <a:latin typeface="Meiryo UI" panose="020B0604030504040204" pitchFamily="50" charset="-128"/>
                          <a:ea typeface="Meiryo UI" panose="020B0604030504040204" pitchFamily="50" charset="-128"/>
                        </a:rPr>
                        <a:t>OK</a:t>
                      </a: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‘on’</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1"/>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保管場所</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151A</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2"/>
                  </a:ext>
                </a:extLst>
              </a:tr>
            </a:tbl>
          </a:graphicData>
        </a:graphic>
      </p:graphicFrame>
      <p:sp>
        <p:nvSpPr>
          <p:cNvPr id="9" name="正方形/長方形 8"/>
          <p:cNvSpPr/>
          <p:nvPr/>
        </p:nvSpPr>
        <p:spPr>
          <a:xfrm>
            <a:off x="6024881" y="5201921"/>
            <a:ext cx="325120" cy="152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p:cNvPicPr>
            <a:picLocks noChangeAspect="1"/>
          </p:cNvPicPr>
          <p:nvPr/>
        </p:nvPicPr>
        <p:blipFill>
          <a:blip r:embed="rId4"/>
          <a:stretch>
            <a:fillRect/>
          </a:stretch>
        </p:blipFill>
        <p:spPr>
          <a:xfrm>
            <a:off x="198683" y="5831768"/>
            <a:ext cx="3353166" cy="660472"/>
          </a:xfrm>
          <a:prstGeom prst="rect">
            <a:avLst/>
          </a:prstGeom>
        </p:spPr>
      </p:pic>
      <p:sp>
        <p:nvSpPr>
          <p:cNvPr id="3" name="テキスト ボックス 2"/>
          <p:cNvSpPr txBox="1"/>
          <p:nvPr/>
        </p:nvSpPr>
        <p:spPr>
          <a:xfrm>
            <a:off x="5805261" y="4872485"/>
            <a:ext cx="363416" cy="369332"/>
          </a:xfrm>
          <a:prstGeom prst="rect">
            <a:avLst/>
          </a:prstGeom>
          <a:noFill/>
        </p:spPr>
        <p:txBody>
          <a:bodyPr wrap="square" rtlCol="0">
            <a:spAutoFit/>
          </a:bodyPr>
          <a:lstStyle/>
          <a:p>
            <a:r>
              <a:rPr kumimoji="1" lang="ja-JP" altLang="en-US" dirty="0">
                <a:solidFill>
                  <a:srgbClr val="FF0000"/>
                </a:solidFill>
              </a:rPr>
              <a:t>①</a:t>
            </a:r>
          </a:p>
        </p:txBody>
      </p:sp>
      <p:pic>
        <p:nvPicPr>
          <p:cNvPr id="11" name="図 10"/>
          <p:cNvPicPr>
            <a:picLocks noChangeAspect="1"/>
          </p:cNvPicPr>
          <p:nvPr/>
        </p:nvPicPr>
        <p:blipFill>
          <a:blip r:embed="rId5"/>
          <a:stretch>
            <a:fillRect/>
          </a:stretch>
        </p:blipFill>
        <p:spPr>
          <a:xfrm>
            <a:off x="7287861" y="1061384"/>
            <a:ext cx="1738909" cy="360000"/>
          </a:xfrm>
          <a:prstGeom prst="rect">
            <a:avLst/>
          </a:prstGeom>
        </p:spPr>
      </p:pic>
      <p:sp>
        <p:nvSpPr>
          <p:cNvPr id="13" name="正方形/長方形 12"/>
          <p:cNvSpPr/>
          <p:nvPr/>
        </p:nvSpPr>
        <p:spPr>
          <a:xfrm>
            <a:off x="7859361" y="1061384"/>
            <a:ext cx="560739"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949082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423072"/>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保存</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入庫転記します。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画面右下にある「転記」ボタンをクリックします。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画面左下に以下のメッセージが表示されます。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６．６</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購買発注の入庫 （ ６ ／ ６ ）</a:t>
            </a:r>
            <a:endParaRPr kumimoji="1" lang="ja-JP" altLang="en-US" sz="2000" dirty="0">
              <a:latin typeface="Meiryo UI" pitchFamily="50" charset="-128"/>
              <a:ea typeface="Meiryo UI" pitchFamily="50" charset="-128"/>
              <a:cs typeface="Meiryo UI" pitchFamily="50" charset="-128"/>
            </a:endParaRPr>
          </a:p>
        </p:txBody>
      </p:sp>
      <p:pic>
        <p:nvPicPr>
          <p:cNvPr id="2" name="図 1"/>
          <p:cNvPicPr>
            <a:picLocks noChangeAspect="1"/>
          </p:cNvPicPr>
          <p:nvPr/>
        </p:nvPicPr>
        <p:blipFill>
          <a:blip r:embed="rId3"/>
          <a:stretch>
            <a:fillRect/>
          </a:stretch>
        </p:blipFill>
        <p:spPr>
          <a:xfrm>
            <a:off x="260351" y="2506418"/>
            <a:ext cx="6028689" cy="2929182"/>
          </a:xfrm>
          <a:prstGeom prst="rect">
            <a:avLst/>
          </a:prstGeom>
        </p:spPr>
      </p:pic>
      <p:sp>
        <p:nvSpPr>
          <p:cNvPr id="4" name="正方形/長方形 3"/>
          <p:cNvSpPr/>
          <p:nvPr/>
        </p:nvSpPr>
        <p:spPr>
          <a:xfrm>
            <a:off x="4998720" y="5151120"/>
            <a:ext cx="375920" cy="2946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p:cNvPicPr>
            <a:picLocks noChangeAspect="1"/>
          </p:cNvPicPr>
          <p:nvPr/>
        </p:nvPicPr>
        <p:blipFill>
          <a:blip r:embed="rId4"/>
          <a:stretch>
            <a:fillRect/>
          </a:stretch>
        </p:blipFill>
        <p:spPr>
          <a:xfrm>
            <a:off x="198683" y="5787390"/>
            <a:ext cx="4762500" cy="647700"/>
          </a:xfrm>
          <a:prstGeom prst="rect">
            <a:avLst/>
          </a:prstGeom>
        </p:spPr>
      </p:pic>
      <p:pic>
        <p:nvPicPr>
          <p:cNvPr id="7" name="図 6"/>
          <p:cNvPicPr>
            <a:picLocks noChangeAspect="1"/>
          </p:cNvPicPr>
          <p:nvPr/>
        </p:nvPicPr>
        <p:blipFill>
          <a:blip r:embed="rId5"/>
          <a:stretch>
            <a:fillRect/>
          </a:stretch>
        </p:blipFill>
        <p:spPr>
          <a:xfrm>
            <a:off x="7287861" y="1061384"/>
            <a:ext cx="1738909" cy="360000"/>
          </a:xfrm>
          <a:prstGeom prst="rect">
            <a:avLst/>
          </a:prstGeom>
        </p:spPr>
      </p:pic>
      <p:sp>
        <p:nvSpPr>
          <p:cNvPr id="8" name="正方形/長方形 7"/>
          <p:cNvSpPr/>
          <p:nvPr/>
        </p:nvSpPr>
        <p:spPr>
          <a:xfrm>
            <a:off x="8461341" y="1061384"/>
            <a:ext cx="560739" cy="360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120278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822530F2-9BDA-4EA9-AB07-CFCBAF1B02F0}"/>
              </a:ext>
            </a:extLst>
          </p:cNvPr>
          <p:cNvSpPr>
            <a:spLocks noChangeArrowheads="1"/>
          </p:cNvSpPr>
          <p:nvPr/>
        </p:nvSpPr>
        <p:spPr bwMode="auto">
          <a:xfrm>
            <a:off x="198683" y="1131398"/>
            <a:ext cx="8828087" cy="5244585"/>
          </a:xfrm>
          <a:prstGeom prst="rect">
            <a:avLst/>
          </a:prstGeom>
          <a:noFill/>
          <a:ln w="12700">
            <a:noFill/>
            <a:miter lim="800000"/>
            <a:headEnd/>
            <a:tailEnd/>
          </a:ln>
          <a:effectLst/>
        </p:spPr>
        <p:txBody>
          <a:bodyPr lIns="90488" tIns="44450" rIns="90488" bIns="44450"/>
          <a:lstStyle/>
          <a:p>
            <a:pPr eaLnBrk="0" hangingPunct="0">
              <a:spcBef>
                <a:spcPct val="20000"/>
              </a:spcBef>
              <a:buSzPct val="113000"/>
            </a:pPr>
            <a:r>
              <a:rPr lang="en-US" altLang="ja-JP" dirty="0">
                <a:latin typeface="Meiryo UI" pitchFamily="50" charset="-128"/>
                <a:ea typeface="Meiryo UI" pitchFamily="50" charset="-128"/>
                <a:cs typeface="Meiryo UI" pitchFamily="50" charset="-128"/>
              </a:rPr>
              <a:t>SAP S/4HANA </a:t>
            </a:r>
            <a:r>
              <a:rPr lang="ja-JP" altLang="en-US" dirty="0">
                <a:latin typeface="Meiryo UI" pitchFamily="50" charset="-128"/>
                <a:ea typeface="Meiryo UI" pitchFamily="50" charset="-128"/>
                <a:cs typeface="Meiryo UI" pitchFamily="50" charset="-128"/>
              </a:rPr>
              <a:t>購買管理プロセス分野における確認日程④</a:t>
            </a:r>
            <a:endParaRPr lang="en-US" altLang="ja-JP" dirty="0">
              <a:latin typeface="Meiryo UI" pitchFamily="50" charset="-128"/>
              <a:ea typeface="Meiryo UI" pitchFamily="50" charset="-128"/>
              <a:cs typeface="Meiryo UI" pitchFamily="50" charset="-128"/>
            </a:endParaRPr>
          </a:p>
          <a:p>
            <a:pPr eaLnBrk="0" hangingPunct="0">
              <a:spcBef>
                <a:spcPct val="20000"/>
              </a:spcBef>
              <a:buSzPct val="113000"/>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sz="1200" dirty="0">
              <a:latin typeface="Meiryo UI" pitchFamily="50" charset="-128"/>
              <a:ea typeface="Meiryo UI" pitchFamily="50" charset="-128"/>
              <a:cs typeface="Meiryo UI" pitchFamily="50" charset="-128"/>
            </a:endParaRPr>
          </a:p>
          <a:p>
            <a:pPr marL="342900" indent="-342900" eaLnBrk="0" hangingPunct="0">
              <a:spcBef>
                <a:spcPct val="20000"/>
              </a:spcBef>
              <a:buSzPct val="113000"/>
              <a:buFont typeface="+mj-ea"/>
              <a:buAutoNum type="circleNumDbPlain"/>
            </a:pPr>
            <a:endParaRPr lang="en-US" altLang="ja-JP"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lstStyle/>
          <a:p>
            <a:r>
              <a:rPr lang="ja-JP" altLang="en-US" dirty="0">
                <a:latin typeface="Meiryo UI" pitchFamily="50" charset="-128"/>
                <a:ea typeface="Meiryo UI" pitchFamily="50" charset="-128"/>
                <a:cs typeface="Meiryo UI" pitchFamily="50" charset="-128"/>
              </a:rPr>
              <a:t>目次</a:t>
            </a:r>
            <a:endParaRPr kumimoji="1" lang="ja-JP" altLang="en-US" dirty="0">
              <a:latin typeface="Meiryo UI" pitchFamily="50" charset="-128"/>
              <a:ea typeface="Meiryo UI" pitchFamily="50" charset="-128"/>
              <a:cs typeface="Meiryo UI" pitchFamily="50" charset="-128"/>
            </a:endParaRPr>
          </a:p>
        </p:txBody>
      </p:sp>
      <p:graphicFrame>
        <p:nvGraphicFramePr>
          <p:cNvPr id="6" name="表 5">
            <a:extLst>
              <a:ext uri="{FF2B5EF4-FFF2-40B4-BE49-F238E27FC236}">
                <a16:creationId xmlns:a16="http://schemas.microsoft.com/office/drawing/2014/main" id="{CF418E62-18F7-4F3A-A306-8F0A14DBAEF7}"/>
              </a:ext>
            </a:extLst>
          </p:cNvPr>
          <p:cNvGraphicFramePr>
            <a:graphicFrameLocks noGrp="1"/>
          </p:cNvGraphicFramePr>
          <p:nvPr/>
        </p:nvGraphicFramePr>
        <p:xfrm>
          <a:off x="198683" y="1483409"/>
          <a:ext cx="8383982" cy="2989978"/>
        </p:xfrm>
        <a:graphic>
          <a:graphicData uri="http://schemas.openxmlformats.org/drawingml/2006/table">
            <a:tbl>
              <a:tblPr firstRow="1" bandRow="1">
                <a:tableStyleId>{7DF18680-E054-41AD-8BC1-D1AEF772440D}</a:tableStyleId>
              </a:tblPr>
              <a:tblGrid>
                <a:gridCol w="424929">
                  <a:extLst>
                    <a:ext uri="{9D8B030D-6E8A-4147-A177-3AD203B41FA5}">
                      <a16:colId xmlns:a16="http://schemas.microsoft.com/office/drawing/2014/main" val="2830627375"/>
                    </a:ext>
                  </a:extLst>
                </a:gridCol>
                <a:gridCol w="720855">
                  <a:extLst>
                    <a:ext uri="{9D8B030D-6E8A-4147-A177-3AD203B41FA5}">
                      <a16:colId xmlns:a16="http://schemas.microsoft.com/office/drawing/2014/main" val="110046248"/>
                    </a:ext>
                  </a:extLst>
                </a:gridCol>
                <a:gridCol w="4815541">
                  <a:extLst>
                    <a:ext uri="{9D8B030D-6E8A-4147-A177-3AD203B41FA5}">
                      <a16:colId xmlns:a16="http://schemas.microsoft.com/office/drawing/2014/main" val="1691918992"/>
                    </a:ext>
                  </a:extLst>
                </a:gridCol>
                <a:gridCol w="1432284">
                  <a:extLst>
                    <a:ext uri="{9D8B030D-6E8A-4147-A177-3AD203B41FA5}">
                      <a16:colId xmlns:a16="http://schemas.microsoft.com/office/drawing/2014/main" val="2414193826"/>
                    </a:ext>
                  </a:extLst>
                </a:gridCol>
                <a:gridCol w="990373">
                  <a:extLst>
                    <a:ext uri="{9D8B030D-6E8A-4147-A177-3AD203B41FA5}">
                      <a16:colId xmlns:a16="http://schemas.microsoft.com/office/drawing/2014/main" val="3501090484"/>
                    </a:ext>
                  </a:extLst>
                </a:gridCol>
              </a:tblGrid>
              <a:tr h="361426">
                <a:tc>
                  <a:txBody>
                    <a:bodyPr/>
                    <a:lstStyle/>
                    <a:p>
                      <a:pPr algn="ctr"/>
                      <a:r>
                        <a:rPr kumimoji="1" lang="en-US" altLang="ja-JP" sz="1600" dirty="0">
                          <a:latin typeface="Meiryo UI" pitchFamily="50" charset="-128"/>
                          <a:ea typeface="Meiryo UI" pitchFamily="50" charset="-128"/>
                          <a:cs typeface="Meiryo UI" pitchFamily="50" charset="-128"/>
                        </a:rPr>
                        <a:t>#</a:t>
                      </a:r>
                      <a:endParaRPr kumimoji="1" lang="ja-JP" altLang="en-US" sz="1600" dirty="0">
                        <a:latin typeface="Meiryo UI" pitchFamily="50" charset="-128"/>
                        <a:ea typeface="Meiryo UI" pitchFamily="50" charset="-128"/>
                        <a:cs typeface="Meiryo UI" pitchFamily="50" charset="-128"/>
                      </a:endParaRP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コマ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確認テーマ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600" dirty="0">
                          <a:latin typeface="Meiryo UI" pitchFamily="50" charset="-128"/>
                          <a:ea typeface="Meiryo UI" pitchFamily="50" charset="-128"/>
                          <a:cs typeface="Meiryo UI" pitchFamily="50" charset="-128"/>
                        </a:rPr>
                        <a:t>目安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26</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a:txBody>
                    <a:bodyPr/>
                    <a:lstStyle/>
                    <a:p>
                      <a:pPr algn="ctr">
                        <a:buFontTx/>
                        <a:buNone/>
                      </a:pPr>
                      <a:r>
                        <a:rPr kumimoji="1" lang="en-US" altLang="ja-JP" sz="1400" dirty="0">
                          <a:latin typeface="Meiryo UI" pitchFamily="50" charset="-128"/>
                          <a:ea typeface="Meiryo UI" pitchFamily="50" charset="-128"/>
                          <a:cs typeface="Meiryo UI" pitchFamily="50" charset="-128"/>
                        </a:rPr>
                        <a:t>MM-4</a:t>
                      </a: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algn="l">
                        <a:buFontTx/>
                        <a:buNone/>
                      </a:pPr>
                      <a:r>
                        <a:rPr kumimoji="1" lang="en-US" altLang="ja-JP" sz="1400" dirty="0">
                          <a:latin typeface="Meiryo UI" pitchFamily="50" charset="-128"/>
                          <a:ea typeface="Meiryo UI" pitchFamily="50" charset="-128"/>
                          <a:cs typeface="Meiryo UI" pitchFamily="50" charset="-128"/>
                        </a:rPr>
                        <a:t>6. (XXXX)</a:t>
                      </a:r>
                      <a:r>
                        <a:rPr kumimoji="1" lang="ja-JP" altLang="en-US" sz="1400" dirty="0">
                          <a:latin typeface="Meiryo UI" pitchFamily="50" charset="-128"/>
                          <a:ea typeface="Meiryo UI" pitchFamily="50" charset="-128"/>
                          <a:cs typeface="Meiryo UI" pitchFamily="50" charset="-128"/>
                        </a:rPr>
                        <a:t>様における業務プロセスの確認</a:t>
                      </a: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633467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27</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6.1 </a:t>
                      </a:r>
                      <a:r>
                        <a:rPr kumimoji="1" lang="ja-JP" altLang="en-US" sz="1400" dirty="0">
                          <a:latin typeface="Meiryo UI" pitchFamily="50" charset="-128"/>
                          <a:ea typeface="Meiryo UI" pitchFamily="50" charset="-128"/>
                          <a:cs typeface="Meiryo UI" pitchFamily="50" charset="-128"/>
                        </a:rPr>
                        <a:t>購買依頼の登録・承認</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74428508"/>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28</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6.2 </a:t>
                      </a:r>
                      <a:r>
                        <a:rPr kumimoji="1" lang="ja-JP" altLang="en-US" sz="1400" dirty="0">
                          <a:latin typeface="Meiryo UI" pitchFamily="50" charset="-128"/>
                          <a:ea typeface="Meiryo UI" pitchFamily="50" charset="-128"/>
                          <a:cs typeface="Meiryo UI" pitchFamily="50" charset="-128"/>
                        </a:rPr>
                        <a:t>見積依頼の登録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7547365"/>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29</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6.3 </a:t>
                      </a:r>
                      <a:r>
                        <a:rPr kumimoji="1" lang="ja-JP" altLang="en-US" sz="1400" dirty="0">
                          <a:latin typeface="Meiryo UI" pitchFamily="50" charset="-128"/>
                          <a:ea typeface="Meiryo UI" pitchFamily="50" charset="-128"/>
                          <a:cs typeface="Meiryo UI" pitchFamily="50" charset="-128"/>
                        </a:rPr>
                        <a:t>見積回答の登録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908652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30</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6.4 </a:t>
                      </a:r>
                      <a:r>
                        <a:rPr kumimoji="1" lang="ja-JP" altLang="en-US" sz="1400" dirty="0">
                          <a:latin typeface="Meiryo UI" pitchFamily="50" charset="-128"/>
                          <a:ea typeface="Meiryo UI" pitchFamily="50" charset="-128"/>
                          <a:cs typeface="Meiryo UI" pitchFamily="50" charset="-128"/>
                        </a:rPr>
                        <a:t>見積結果の比較</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6759864"/>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31</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6.5 </a:t>
                      </a:r>
                      <a:r>
                        <a:rPr kumimoji="1" lang="ja-JP" altLang="en-US" sz="1400" dirty="0">
                          <a:latin typeface="Meiryo UI" pitchFamily="50" charset="-128"/>
                          <a:ea typeface="Meiryo UI" pitchFamily="50" charset="-128"/>
                          <a:cs typeface="Meiryo UI" pitchFamily="50" charset="-128"/>
                        </a:rPr>
                        <a:t>購買発注の登録</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15</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053729"/>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32</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6.6 </a:t>
                      </a:r>
                      <a:r>
                        <a:rPr kumimoji="1" lang="ja-JP" altLang="en-US" sz="1400" dirty="0">
                          <a:latin typeface="Meiryo UI" pitchFamily="50" charset="-128"/>
                          <a:ea typeface="Meiryo UI" pitchFamily="50" charset="-128"/>
                          <a:cs typeface="Meiryo UI" pitchFamily="50" charset="-128"/>
                        </a:rPr>
                        <a:t>購買発注の入庫</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49520791"/>
                  </a:ext>
                </a:extLst>
              </a:tr>
              <a:tr h="328569">
                <a:tc>
                  <a:txBody>
                    <a:bodyPr/>
                    <a:lstStyle/>
                    <a:p>
                      <a:pPr algn="ctr">
                        <a:buFontTx/>
                        <a:buNone/>
                      </a:pPr>
                      <a:r>
                        <a:rPr kumimoji="1" lang="en-US" altLang="ja-JP" sz="1400" dirty="0">
                          <a:latin typeface="Meiryo UI" pitchFamily="50" charset="-128"/>
                          <a:ea typeface="Meiryo UI" pitchFamily="50" charset="-128"/>
                          <a:cs typeface="Meiryo UI" pitchFamily="50" charset="-128"/>
                        </a:rPr>
                        <a:t>33</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algn="ctr">
                        <a:buFontTx/>
                        <a:buNone/>
                      </a:pP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buFontTx/>
                        <a:buNone/>
                      </a:pPr>
                      <a:r>
                        <a:rPr kumimoji="1" lang="en-US" altLang="ja-JP" sz="1400" dirty="0">
                          <a:latin typeface="Meiryo UI" pitchFamily="50" charset="-128"/>
                          <a:ea typeface="Meiryo UI" pitchFamily="50" charset="-128"/>
                          <a:cs typeface="Meiryo UI" pitchFamily="50" charset="-128"/>
                        </a:rPr>
                        <a:t> 6.7 </a:t>
                      </a:r>
                      <a:r>
                        <a:rPr kumimoji="1" lang="ja-JP" altLang="en-US" sz="1400" dirty="0">
                          <a:latin typeface="Meiryo UI" pitchFamily="50" charset="-128"/>
                          <a:ea typeface="Meiryo UI" pitchFamily="50" charset="-128"/>
                          <a:cs typeface="Meiryo UI" pitchFamily="50" charset="-128"/>
                        </a:rPr>
                        <a:t>自動請求書照合</a:t>
                      </a:r>
                      <a:r>
                        <a:rPr kumimoji="1" lang="en-US" altLang="ja-JP" sz="1400" dirty="0">
                          <a:latin typeface="Meiryo UI" pitchFamily="50" charset="-128"/>
                          <a:ea typeface="Meiryo UI" pitchFamily="50" charset="-128"/>
                          <a:cs typeface="Meiryo UI" pitchFamily="50" charset="-128"/>
                        </a:rPr>
                        <a:t>(ERS)</a:t>
                      </a:r>
                      <a:endParaRPr kumimoji="1" lang="ja-JP" altLang="en-US" sz="1400" dirty="0">
                        <a:latin typeface="Meiryo UI" pitchFamily="50" charset="-128"/>
                        <a:ea typeface="Meiryo UI" pitchFamily="50" charset="-128"/>
                        <a:cs typeface="Meiryo UI" pitchFamily="50" charset="-128"/>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ja-JP" altLang="en-US" sz="1400" dirty="0">
                          <a:latin typeface="Meiryo UI" pitchFamily="50" charset="-128"/>
                          <a:ea typeface="Meiryo UI" pitchFamily="50" charset="-128"/>
                          <a:cs typeface="Meiryo UI" pitchFamily="50" charset="-128"/>
                        </a:rPr>
                        <a:t>ハンズオン</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FontTx/>
                        <a:buNone/>
                      </a:pPr>
                      <a:r>
                        <a:rPr kumimoji="1" lang="en-US" altLang="ja-JP" sz="1400" dirty="0">
                          <a:latin typeface="Meiryo UI" pitchFamily="50" charset="-128"/>
                          <a:ea typeface="Meiryo UI" pitchFamily="50" charset="-128"/>
                          <a:cs typeface="Meiryo UI" pitchFamily="50" charset="-128"/>
                        </a:rPr>
                        <a:t>10</a:t>
                      </a:r>
                      <a:r>
                        <a:rPr kumimoji="1" lang="ja-JP" altLang="en-US" sz="1400" dirty="0">
                          <a:latin typeface="Meiryo UI" pitchFamily="50" charset="-128"/>
                          <a:ea typeface="Meiryo UI" pitchFamily="50" charset="-128"/>
                          <a:cs typeface="Meiryo UI" pitchFamily="50" charset="-128"/>
                        </a:rPr>
                        <a:t>分</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70965439"/>
                  </a:ext>
                </a:extLst>
              </a:tr>
            </a:tbl>
          </a:graphicData>
        </a:graphic>
      </p:graphicFrame>
      <p:sp>
        <p:nvSpPr>
          <p:cNvPr id="5" name="正方形/長方形 4"/>
          <p:cNvSpPr/>
          <p:nvPr/>
        </p:nvSpPr>
        <p:spPr>
          <a:xfrm>
            <a:off x="198683" y="4134661"/>
            <a:ext cx="8368847" cy="3180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03118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フローチャート: 書類 251"/>
          <p:cNvSpPr/>
          <p:nvPr/>
        </p:nvSpPr>
        <p:spPr>
          <a:xfrm>
            <a:off x="5746649" y="6303143"/>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251" name="フローチャート: 書類 250"/>
          <p:cNvSpPr/>
          <p:nvPr/>
        </p:nvSpPr>
        <p:spPr>
          <a:xfrm>
            <a:off x="5653174" y="5537028"/>
            <a:ext cx="646510" cy="427514"/>
          </a:xfrm>
          <a:prstGeom prst="flowChartDocumen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会計</a:t>
            </a:r>
            <a:endParaRPr kumimoji="1" lang="ja-JP" altLang="en-US" sz="1200" dirty="0">
              <a:latin typeface="Meiryo UI" panose="020B0604030504040204" pitchFamily="50" charset="-128"/>
              <a:ea typeface="Meiryo UI" panose="020B0604030504040204" pitchFamily="50" charset="-128"/>
            </a:endParaRPr>
          </a:p>
        </p:txBody>
      </p:sp>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自動請求書照合</a:t>
            </a:r>
            <a:r>
              <a:rPr lang="en-US" altLang="ja-JP" dirty="0">
                <a:latin typeface="Meiryo UI" pitchFamily="50" charset="-128"/>
                <a:ea typeface="Meiryo UI" pitchFamily="50" charset="-128"/>
                <a:cs typeface="Meiryo UI" pitchFamily="50" charset="-128"/>
              </a:rPr>
              <a:t>(ERS)</a:t>
            </a: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１ ／ １１ ）</a:t>
            </a:r>
            <a:endParaRPr kumimoji="1" lang="ja-JP" altLang="en-US" sz="2000" dirty="0">
              <a:latin typeface="Meiryo UI" pitchFamily="50" charset="-128"/>
              <a:ea typeface="Meiryo UI" pitchFamily="50" charset="-128"/>
              <a:cs typeface="Meiryo UI" pitchFamily="50" charset="-128"/>
            </a:endParaRPr>
          </a:p>
        </p:txBody>
      </p:sp>
      <p:sp>
        <p:nvSpPr>
          <p:cNvPr id="169" name="正方形/長方形 168"/>
          <p:cNvSpPr/>
          <p:nvPr/>
        </p:nvSpPr>
        <p:spPr>
          <a:xfrm>
            <a:off x="3690998" y="5990872"/>
            <a:ext cx="1635566" cy="61724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自動請求書照合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(ERS)</a:t>
            </a:r>
            <a:endParaRPr lang="ja-JP" altLang="en-US" sz="1600" dirty="0">
              <a:latin typeface="Meiryo UI" panose="020B0604030504040204" pitchFamily="50" charset="-128"/>
              <a:ea typeface="Meiryo UI" panose="020B0604030504040204" pitchFamily="50" charset="-128"/>
            </a:endParaRPr>
          </a:p>
        </p:txBody>
      </p:sp>
      <p:sp>
        <p:nvSpPr>
          <p:cNvPr id="170" name="フローチャート: 判断 169"/>
          <p:cNvSpPr/>
          <p:nvPr/>
        </p:nvSpPr>
        <p:spPr>
          <a:xfrm>
            <a:off x="4046538" y="1892364"/>
            <a:ext cx="914400" cy="612648"/>
          </a:xfrm>
          <a:prstGeom prst="flowChartDecision">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承認</a:t>
            </a:r>
          </a:p>
        </p:txBody>
      </p:sp>
      <p:sp>
        <p:nvSpPr>
          <p:cNvPr id="182" name="正方形/長方形 181"/>
          <p:cNvSpPr/>
          <p:nvPr/>
        </p:nvSpPr>
        <p:spPr>
          <a:xfrm>
            <a:off x="3690998" y="129410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購買依頼</a:t>
            </a:r>
            <a:endParaRPr lang="en-US" altLang="ja-JP" sz="1600" dirty="0">
              <a:latin typeface="Meiryo UI" panose="020B0604030504040204" pitchFamily="50" charset="-128"/>
              <a:ea typeface="Meiryo UI" panose="020B0604030504040204" pitchFamily="50" charset="-128"/>
            </a:endParaRPr>
          </a:p>
        </p:txBody>
      </p:sp>
      <p:sp>
        <p:nvSpPr>
          <p:cNvPr id="183" name="正方形/長方形 182"/>
          <p:cNvSpPr/>
          <p:nvPr/>
        </p:nvSpPr>
        <p:spPr>
          <a:xfrm>
            <a:off x="3685955" y="2687040"/>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見積依頼</a:t>
            </a:r>
            <a:endParaRPr lang="en-US" altLang="ja-JP" sz="1600" dirty="0">
              <a:latin typeface="Meiryo UI" panose="020B0604030504040204" pitchFamily="50" charset="-128"/>
              <a:ea typeface="Meiryo UI" panose="020B0604030504040204" pitchFamily="50" charset="-128"/>
            </a:endParaRPr>
          </a:p>
        </p:txBody>
      </p:sp>
      <p:sp>
        <p:nvSpPr>
          <p:cNvPr id="184" name="正方形/長方形 183"/>
          <p:cNvSpPr/>
          <p:nvPr/>
        </p:nvSpPr>
        <p:spPr>
          <a:xfrm>
            <a:off x="3685955" y="335007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見積回答</a:t>
            </a:r>
            <a:endParaRPr lang="en-US" altLang="ja-JP" sz="1600" dirty="0">
              <a:latin typeface="Meiryo UI" panose="020B0604030504040204" pitchFamily="50" charset="-128"/>
              <a:ea typeface="Meiryo UI" panose="020B0604030504040204" pitchFamily="50" charset="-128"/>
            </a:endParaRPr>
          </a:p>
        </p:txBody>
      </p:sp>
      <p:sp>
        <p:nvSpPr>
          <p:cNvPr id="185" name="正方形/長方形 184"/>
          <p:cNvSpPr/>
          <p:nvPr/>
        </p:nvSpPr>
        <p:spPr>
          <a:xfrm>
            <a:off x="3685955" y="4027243"/>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見積結果比較</a:t>
            </a:r>
            <a:endParaRPr lang="en-US" altLang="ja-JP" sz="1600" dirty="0">
              <a:latin typeface="Meiryo UI" panose="020B0604030504040204" pitchFamily="50" charset="-128"/>
              <a:ea typeface="Meiryo UI" panose="020B0604030504040204" pitchFamily="50" charset="-128"/>
            </a:endParaRPr>
          </a:p>
        </p:txBody>
      </p:sp>
      <p:sp>
        <p:nvSpPr>
          <p:cNvPr id="187" name="正方形/長方形 186"/>
          <p:cNvSpPr/>
          <p:nvPr/>
        </p:nvSpPr>
        <p:spPr>
          <a:xfrm>
            <a:off x="3678590" y="4719667"/>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購買発注</a:t>
            </a:r>
            <a:endParaRPr lang="en-US" altLang="ja-JP" sz="1600" dirty="0">
              <a:latin typeface="Meiryo UI" panose="020B0604030504040204" pitchFamily="50" charset="-128"/>
              <a:ea typeface="Meiryo UI" panose="020B0604030504040204" pitchFamily="50" charset="-128"/>
            </a:endParaRPr>
          </a:p>
        </p:txBody>
      </p:sp>
      <p:sp>
        <p:nvSpPr>
          <p:cNvPr id="188" name="正方形/長方形 187"/>
          <p:cNvSpPr/>
          <p:nvPr/>
        </p:nvSpPr>
        <p:spPr>
          <a:xfrm>
            <a:off x="3690463" y="5377034"/>
            <a:ext cx="1635566" cy="42962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600" dirty="0">
                <a:latin typeface="Meiryo UI" panose="020B0604030504040204" pitchFamily="50" charset="-128"/>
                <a:ea typeface="Meiryo UI" panose="020B0604030504040204" pitchFamily="50" charset="-128"/>
              </a:rPr>
              <a:t>発注入庫</a:t>
            </a:r>
            <a:endParaRPr lang="en-US" altLang="ja-JP" sz="1600" dirty="0">
              <a:latin typeface="Meiryo UI" panose="020B0604030504040204" pitchFamily="50" charset="-128"/>
              <a:ea typeface="Meiryo UI" panose="020B0604030504040204" pitchFamily="50" charset="-128"/>
            </a:endParaRPr>
          </a:p>
        </p:txBody>
      </p:sp>
      <p:cxnSp>
        <p:nvCxnSpPr>
          <p:cNvPr id="190" name="直線矢印コネクタ 189"/>
          <p:cNvCxnSpPr>
            <a:stCxn id="182" idx="2"/>
            <a:endCxn id="170" idx="0"/>
          </p:cNvCxnSpPr>
          <p:nvPr/>
        </p:nvCxnSpPr>
        <p:spPr>
          <a:xfrm flipH="1">
            <a:off x="4503738" y="1723733"/>
            <a:ext cx="5043" cy="1686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矢印コネクタ 194"/>
          <p:cNvCxnSpPr>
            <a:stCxn id="170" idx="2"/>
            <a:endCxn id="183" idx="0"/>
          </p:cNvCxnSpPr>
          <p:nvPr/>
        </p:nvCxnSpPr>
        <p:spPr>
          <a:xfrm>
            <a:off x="4503738" y="2505012"/>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矢印コネクタ 199"/>
          <p:cNvCxnSpPr/>
          <p:nvPr/>
        </p:nvCxnSpPr>
        <p:spPr>
          <a:xfrm>
            <a:off x="4496373" y="3148547"/>
            <a:ext cx="0" cy="1820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矢印コネクタ 200"/>
          <p:cNvCxnSpPr>
            <a:stCxn id="184" idx="2"/>
            <a:endCxn id="185" idx="0"/>
          </p:cNvCxnSpPr>
          <p:nvPr/>
        </p:nvCxnSpPr>
        <p:spPr>
          <a:xfrm>
            <a:off x="4503738" y="3779706"/>
            <a:ext cx="0" cy="247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矢印コネクタ 202"/>
          <p:cNvCxnSpPr>
            <a:endCxn id="187" idx="0"/>
          </p:cNvCxnSpPr>
          <p:nvPr/>
        </p:nvCxnSpPr>
        <p:spPr>
          <a:xfrm flipH="1">
            <a:off x="4496373" y="4468194"/>
            <a:ext cx="10644" cy="25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a:endCxn id="188" idx="0"/>
          </p:cNvCxnSpPr>
          <p:nvPr/>
        </p:nvCxnSpPr>
        <p:spPr>
          <a:xfrm flipH="1">
            <a:off x="4508246" y="5178223"/>
            <a:ext cx="2050" cy="1988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p:cNvCxnSpPr>
            <a:stCxn id="188" idx="2"/>
            <a:endCxn id="169" idx="0"/>
          </p:cNvCxnSpPr>
          <p:nvPr/>
        </p:nvCxnSpPr>
        <p:spPr>
          <a:xfrm>
            <a:off x="4508246" y="5806663"/>
            <a:ext cx="535" cy="184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角丸四角形 212"/>
          <p:cNvSpPr/>
          <p:nvPr/>
        </p:nvSpPr>
        <p:spPr>
          <a:xfrm>
            <a:off x="713289" y="2687040"/>
            <a:ext cx="1212884" cy="3951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A</a:t>
            </a:r>
            <a:endParaRPr kumimoji="1" lang="ja-JP" altLang="en-US" dirty="0"/>
          </a:p>
        </p:txBody>
      </p:sp>
      <p:sp>
        <p:nvSpPr>
          <p:cNvPr id="215" name="角丸四角形 214"/>
          <p:cNvSpPr/>
          <p:nvPr/>
        </p:nvSpPr>
        <p:spPr>
          <a:xfrm>
            <a:off x="7039941" y="2683844"/>
            <a:ext cx="1212884" cy="1749073"/>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ja-JP" altLang="en-US" dirty="0">
                <a:latin typeface="Meiryo UI" panose="020B0604030504040204" pitchFamily="50" charset="-128"/>
                <a:ea typeface="Meiryo UI" panose="020B0604030504040204" pitchFamily="50" charset="-128"/>
              </a:rPr>
              <a:t>仕入先</a:t>
            </a:r>
            <a:r>
              <a:rPr lang="en-US" altLang="ja-JP" dirty="0"/>
              <a:t>B</a:t>
            </a:r>
            <a:endParaRPr kumimoji="1" lang="ja-JP" altLang="en-US" dirty="0"/>
          </a:p>
        </p:txBody>
      </p:sp>
      <p:cxnSp>
        <p:nvCxnSpPr>
          <p:cNvPr id="216" name="直線矢印コネクタ 215"/>
          <p:cNvCxnSpPr>
            <a:stCxn id="183" idx="1"/>
          </p:cNvCxnSpPr>
          <p:nvPr/>
        </p:nvCxnSpPr>
        <p:spPr>
          <a:xfrm flipH="1" flipV="1">
            <a:off x="1951038" y="2898900"/>
            <a:ext cx="1734917" cy="2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p:cNvCxnSpPr/>
          <p:nvPr/>
        </p:nvCxnSpPr>
        <p:spPr>
          <a:xfrm flipH="1" flipV="1">
            <a:off x="1951038" y="4905375"/>
            <a:ext cx="1708693" cy="24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線矢印コネクタ 219"/>
          <p:cNvCxnSpPr>
            <a:stCxn id="215" idx="1"/>
          </p:cNvCxnSpPr>
          <p:nvPr/>
        </p:nvCxnSpPr>
        <p:spPr>
          <a:xfrm flipH="1">
            <a:off x="5310374" y="3558381"/>
            <a:ext cx="1729567" cy="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線矢印コネクタ 220"/>
          <p:cNvCxnSpPr>
            <a:endCxn id="184" idx="1"/>
          </p:cNvCxnSpPr>
          <p:nvPr/>
        </p:nvCxnSpPr>
        <p:spPr>
          <a:xfrm>
            <a:off x="1951038" y="3558380"/>
            <a:ext cx="1734917" cy="65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224"/>
          <p:cNvCxnSpPr/>
          <p:nvPr/>
        </p:nvCxnSpPr>
        <p:spPr>
          <a:xfrm flipV="1">
            <a:off x="1935163" y="5475889"/>
            <a:ext cx="1743427" cy="70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線矢印コネクタ 230"/>
          <p:cNvCxnSpPr/>
          <p:nvPr/>
        </p:nvCxnSpPr>
        <p:spPr>
          <a:xfrm flipH="1">
            <a:off x="1939671" y="5718175"/>
            <a:ext cx="1752696" cy="401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矢印コネクタ 234"/>
          <p:cNvCxnSpPr>
            <a:stCxn id="183" idx="3"/>
          </p:cNvCxnSpPr>
          <p:nvPr/>
        </p:nvCxnSpPr>
        <p:spPr>
          <a:xfrm flipV="1">
            <a:off x="5321521" y="2889047"/>
            <a:ext cx="1741563" cy="128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5" name="フローチャート: 書類 244"/>
          <p:cNvSpPr/>
          <p:nvPr/>
        </p:nvSpPr>
        <p:spPr>
          <a:xfrm>
            <a:off x="5166677" y="6258001"/>
            <a:ext cx="646510" cy="471757"/>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請求書</a:t>
            </a:r>
            <a:endParaRPr lang="en-US" altLang="ja-JP" sz="1200" dirty="0">
              <a:latin typeface="Meiryo UI" panose="020B0604030504040204" pitchFamily="50" charset="-128"/>
              <a:ea typeface="Meiryo UI" panose="020B0604030504040204" pitchFamily="50" charset="-128"/>
            </a:endParaRPr>
          </a:p>
        </p:txBody>
      </p:sp>
      <p:sp>
        <p:nvSpPr>
          <p:cNvPr id="246" name="フローチャート: 書類 245"/>
          <p:cNvSpPr/>
          <p:nvPr/>
        </p:nvSpPr>
        <p:spPr>
          <a:xfrm>
            <a:off x="5126426" y="5464485"/>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入庫</a:t>
            </a:r>
            <a:endParaRPr kumimoji="1" lang="ja-JP" altLang="en-US" sz="1200" dirty="0">
              <a:latin typeface="Meiryo UI" panose="020B0604030504040204" pitchFamily="50" charset="-128"/>
              <a:ea typeface="Meiryo UI" panose="020B0604030504040204" pitchFamily="50" charset="-128"/>
            </a:endParaRPr>
          </a:p>
        </p:txBody>
      </p:sp>
      <p:sp>
        <p:nvSpPr>
          <p:cNvPr id="247" name="フローチャート: 書類 246"/>
          <p:cNvSpPr/>
          <p:nvPr/>
        </p:nvSpPr>
        <p:spPr>
          <a:xfrm>
            <a:off x="2466603" y="4689290"/>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発注</a:t>
            </a:r>
            <a:endParaRPr kumimoji="1" lang="ja-JP" altLang="en-US" sz="1200" dirty="0">
              <a:latin typeface="Meiryo UI" panose="020B0604030504040204" pitchFamily="50" charset="-128"/>
              <a:ea typeface="Meiryo UI" panose="020B0604030504040204" pitchFamily="50" charset="-128"/>
            </a:endParaRPr>
          </a:p>
        </p:txBody>
      </p:sp>
      <p:sp>
        <p:nvSpPr>
          <p:cNvPr id="248" name="フローチャート: 書類 247"/>
          <p:cNvSpPr/>
          <p:nvPr/>
        </p:nvSpPr>
        <p:spPr>
          <a:xfrm>
            <a:off x="2472332" y="271392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latin typeface="Meiryo UI" panose="020B0604030504040204" pitchFamily="50" charset="-128"/>
                <a:ea typeface="Meiryo UI" panose="020B0604030504040204" pitchFamily="50" charset="-128"/>
              </a:rPr>
              <a:t>見積</a:t>
            </a: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49" name="フローチャート: 書類 248"/>
          <p:cNvSpPr/>
          <p:nvPr/>
        </p:nvSpPr>
        <p:spPr>
          <a:xfrm>
            <a:off x="5857476" y="2674237"/>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見積</a:t>
            </a:r>
            <a:r>
              <a:rPr lang="en-US" altLang="ja-JP" sz="1200" dirty="0">
                <a:latin typeface="Meiryo UI" panose="020B0604030504040204" pitchFamily="50" charset="-128"/>
                <a:ea typeface="Meiryo UI" panose="020B0604030504040204" pitchFamily="50" charset="-128"/>
              </a:rPr>
              <a:t>2</a:t>
            </a:r>
            <a:endParaRPr kumimoji="1" lang="ja-JP" altLang="en-US" sz="1200" dirty="0">
              <a:latin typeface="Meiryo UI" panose="020B0604030504040204" pitchFamily="50" charset="-128"/>
              <a:ea typeface="Meiryo UI" panose="020B0604030504040204" pitchFamily="50" charset="-128"/>
            </a:endParaRPr>
          </a:p>
        </p:txBody>
      </p:sp>
      <p:sp>
        <p:nvSpPr>
          <p:cNvPr id="250" name="フローチャート: 書類 249"/>
          <p:cNvSpPr/>
          <p:nvPr/>
        </p:nvSpPr>
        <p:spPr>
          <a:xfrm>
            <a:off x="4957867" y="1519546"/>
            <a:ext cx="646510" cy="427514"/>
          </a:xfrm>
          <a:prstGeom prst="flowChartDocumen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200" dirty="0">
                <a:latin typeface="Meiryo UI" panose="020B0604030504040204" pitchFamily="50" charset="-128"/>
                <a:ea typeface="Meiryo UI" panose="020B0604030504040204" pitchFamily="50" charset="-128"/>
              </a:rPr>
              <a:t>依頼</a:t>
            </a:r>
            <a:endParaRPr kumimoji="1" lang="ja-JP" altLang="en-US" sz="1200" dirty="0">
              <a:latin typeface="Meiryo UI" panose="020B0604030504040204" pitchFamily="50" charset="-128"/>
              <a:ea typeface="Meiryo UI" panose="020B0604030504040204" pitchFamily="50" charset="-128"/>
            </a:endParaRPr>
          </a:p>
        </p:txBody>
      </p:sp>
      <p:sp>
        <p:nvSpPr>
          <p:cNvPr id="265" name="1 つの角を切り取った四角形 264"/>
          <p:cNvSpPr/>
          <p:nvPr/>
        </p:nvSpPr>
        <p:spPr>
          <a:xfrm>
            <a:off x="2472497" y="3423022"/>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6" name="1 つの角を切り取った四角形 265"/>
          <p:cNvSpPr/>
          <p:nvPr/>
        </p:nvSpPr>
        <p:spPr>
          <a:xfrm>
            <a:off x="5851003" y="3453053"/>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回答</a:t>
            </a:r>
          </a:p>
        </p:txBody>
      </p:sp>
      <p:sp>
        <p:nvSpPr>
          <p:cNvPr id="267" name="1 つの角を切り取った四角形 266"/>
          <p:cNvSpPr/>
          <p:nvPr/>
        </p:nvSpPr>
        <p:spPr>
          <a:xfrm>
            <a:off x="2461882" y="5319657"/>
            <a:ext cx="648308" cy="32665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品目</a:t>
            </a:r>
          </a:p>
        </p:txBody>
      </p:sp>
      <p:sp>
        <p:nvSpPr>
          <p:cNvPr id="269" name="1 つの角を切り取った四角形 268"/>
          <p:cNvSpPr/>
          <p:nvPr/>
        </p:nvSpPr>
        <p:spPr>
          <a:xfrm>
            <a:off x="2458374" y="5751024"/>
            <a:ext cx="670276" cy="334113"/>
          </a:xfrm>
          <a:prstGeom prst="snip1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検収書</a:t>
            </a:r>
          </a:p>
        </p:txBody>
      </p:sp>
      <p:sp>
        <p:nvSpPr>
          <p:cNvPr id="2" name="正方形/長方形 1"/>
          <p:cNvSpPr/>
          <p:nvPr/>
        </p:nvSpPr>
        <p:spPr>
          <a:xfrm>
            <a:off x="3428999" y="5958004"/>
            <a:ext cx="3070311" cy="7961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492400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自動請求書照合</a:t>
            </a:r>
            <a:r>
              <a:rPr lang="en-US" altLang="ja-JP" dirty="0">
                <a:latin typeface="Meiryo UI" pitchFamily="50" charset="-128"/>
                <a:ea typeface="Meiryo UI" pitchFamily="50" charset="-128"/>
                <a:cs typeface="Meiryo UI" pitchFamily="50" charset="-128"/>
              </a:rPr>
              <a:t>(ERS)</a:t>
            </a: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請求書照合は個別に行う方法とまとめて一括で行う方法</a:t>
            </a:r>
            <a:r>
              <a:rPr lang="en-US" altLang="ja-JP" dirty="0">
                <a:latin typeface="Meiryo UI" pitchFamily="50" charset="-128"/>
                <a:ea typeface="Meiryo UI" pitchFamily="50" charset="-128"/>
                <a:cs typeface="Meiryo UI" pitchFamily="50" charset="-128"/>
              </a:rPr>
              <a:t>(ERS)</a:t>
            </a:r>
            <a:r>
              <a:rPr lang="ja-JP" altLang="en-US" dirty="0">
                <a:latin typeface="Meiryo UI" pitchFamily="50" charset="-128"/>
                <a:ea typeface="Meiryo UI" pitchFamily="50" charset="-128"/>
                <a:cs typeface="Meiryo UI" pitchFamily="50" charset="-128"/>
              </a:rPr>
              <a:t>があります。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今回のハンズオンの請求書照合では、一括で行う方法</a:t>
            </a:r>
            <a:r>
              <a:rPr lang="en-US" altLang="ja-JP" dirty="0">
                <a:latin typeface="Meiryo UI" pitchFamily="50" charset="-128"/>
                <a:ea typeface="Meiryo UI" pitchFamily="50" charset="-128"/>
                <a:cs typeface="Meiryo UI" pitchFamily="50" charset="-128"/>
              </a:rPr>
              <a:t>(ERS)</a:t>
            </a:r>
            <a:r>
              <a:rPr lang="ja-JP" altLang="en-US" dirty="0">
                <a:latin typeface="Meiryo UI" pitchFamily="50" charset="-128"/>
                <a:ea typeface="Meiryo UI" pitchFamily="50" charset="-128"/>
                <a:cs typeface="Meiryo UI" pitchFamily="50" charset="-128"/>
              </a:rPr>
              <a:t>を使用して行います。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実業務としては仕入先が請求書を発行するのではなく、入庫をトリガーとし発注情報、入庫情</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　　報を元に直接決済される仕組みになります。本来なら夜間バッチ処理となりますが、今回はマ</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　　ニュアルで実行します。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marL="742950" lvl="1" indent="-285750" eaLnBrk="0" hangingPunct="0">
              <a:lnSpc>
                <a:spcPct val="150000"/>
              </a:lnSpc>
              <a:spcBef>
                <a:spcPct val="20000"/>
              </a:spcBef>
              <a:buClr>
                <a:srgbClr val="002289"/>
              </a:buClr>
              <a:buSzPct val="113000"/>
              <a:buFont typeface="Arial" panose="020B0604020202020204" pitchFamily="34" charset="0"/>
              <a:buChar char="•"/>
            </a:pPr>
            <a:r>
              <a:rPr lang="en-US" altLang="ja-JP" dirty="0">
                <a:latin typeface="Meiryo UI" pitchFamily="50" charset="-128"/>
                <a:ea typeface="Meiryo UI" pitchFamily="50" charset="-128"/>
                <a:cs typeface="Meiryo UI" pitchFamily="50" charset="-128"/>
              </a:rPr>
              <a:t>ERS</a:t>
            </a:r>
            <a:r>
              <a:rPr lang="ja-JP" altLang="en-US" dirty="0">
                <a:latin typeface="Meiryo UI" pitchFamily="50" charset="-128"/>
                <a:ea typeface="Meiryo UI" pitchFamily="50" charset="-128"/>
                <a:cs typeface="Meiryo UI" pitchFamily="50" charset="-128"/>
              </a:rPr>
              <a:t>機能を使用するには以下の基準を満たしている必要があります。</a:t>
            </a:r>
            <a:endParaRPr lang="en-US" altLang="ja-JP" dirty="0">
              <a:latin typeface="Meiryo UI" pitchFamily="50" charset="-128"/>
              <a:ea typeface="Meiryo UI" pitchFamily="50" charset="-128"/>
              <a:cs typeface="Meiryo UI" pitchFamily="50" charset="-128"/>
            </a:endParaRPr>
          </a:p>
          <a:p>
            <a:pPr lvl="1"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①仕入先マスタの自動評価入庫決済納入フラグ</a:t>
            </a:r>
            <a:r>
              <a:rPr lang="en-US" altLang="ja-JP" dirty="0">
                <a:latin typeface="Meiryo UI" pitchFamily="50" charset="-128"/>
                <a:ea typeface="Meiryo UI" pitchFamily="50" charset="-128"/>
                <a:cs typeface="Meiryo UI" pitchFamily="50" charset="-128"/>
              </a:rPr>
              <a:t>(ERS</a:t>
            </a:r>
            <a:r>
              <a:rPr lang="ja-JP" altLang="en-US" dirty="0">
                <a:latin typeface="Meiryo UI" pitchFamily="50" charset="-128"/>
                <a:ea typeface="Meiryo UI" pitchFamily="50" charset="-128"/>
                <a:cs typeface="Meiryo UI" pitchFamily="50" charset="-128"/>
              </a:rPr>
              <a:t>フラグ</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が</a:t>
            </a:r>
            <a:r>
              <a:rPr lang="en-US" altLang="ja-JP" dirty="0">
                <a:latin typeface="Meiryo UI" pitchFamily="50" charset="-128"/>
                <a:ea typeface="Meiryo UI" pitchFamily="50" charset="-128"/>
                <a:cs typeface="Meiryo UI" pitchFamily="50" charset="-128"/>
              </a:rPr>
              <a:t>’on’</a:t>
            </a:r>
          </a:p>
          <a:p>
            <a:pPr lvl="1"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②購買発注伝票明細の</a:t>
            </a:r>
            <a:r>
              <a:rPr lang="en-US" altLang="ja-JP" dirty="0">
                <a:latin typeface="Meiryo UI" pitchFamily="50" charset="-128"/>
                <a:ea typeface="Meiryo UI" pitchFamily="50" charset="-128"/>
                <a:cs typeface="Meiryo UI" pitchFamily="50" charset="-128"/>
              </a:rPr>
              <a:t>ERS</a:t>
            </a:r>
            <a:r>
              <a:rPr lang="ja-JP" altLang="en-US" dirty="0">
                <a:latin typeface="Meiryo UI" pitchFamily="50" charset="-128"/>
                <a:ea typeface="Meiryo UI" pitchFamily="50" charset="-128"/>
                <a:cs typeface="Meiryo UI" pitchFamily="50" charset="-128"/>
              </a:rPr>
              <a:t>フラグが</a:t>
            </a:r>
            <a:r>
              <a:rPr lang="en-US" altLang="ja-JP" dirty="0">
                <a:latin typeface="Meiryo UI" pitchFamily="50" charset="-128"/>
                <a:ea typeface="Meiryo UI" pitchFamily="50" charset="-128"/>
                <a:cs typeface="Meiryo UI" pitchFamily="50" charset="-128"/>
              </a:rPr>
              <a:t>’on’</a:t>
            </a:r>
            <a:r>
              <a:rPr lang="ja-JP" altLang="en-US" dirty="0">
                <a:latin typeface="Meiryo UI" pitchFamily="50" charset="-128"/>
                <a:ea typeface="Meiryo UI" pitchFamily="50" charset="-128"/>
                <a:cs typeface="Meiryo UI" pitchFamily="50" charset="-128"/>
              </a:rPr>
              <a:t>で税コードが入力済み</a:t>
            </a:r>
            <a:endParaRPr lang="en-US" altLang="ja-JP" dirty="0">
              <a:latin typeface="Meiryo UI" pitchFamily="50" charset="-128"/>
              <a:ea typeface="Meiryo UI" pitchFamily="50" charset="-128"/>
              <a:cs typeface="Meiryo UI" pitchFamily="50" charset="-128"/>
            </a:endParaRPr>
          </a:p>
          <a:p>
            <a:pPr lvl="1"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③購買発注伝票明細の入庫基準請求書照合フラグが</a:t>
            </a:r>
            <a:r>
              <a:rPr lang="en-US" altLang="ja-JP" dirty="0">
                <a:latin typeface="Meiryo UI" pitchFamily="50" charset="-128"/>
                <a:ea typeface="Meiryo UI" pitchFamily="50" charset="-128"/>
                <a:cs typeface="Meiryo UI" pitchFamily="50" charset="-128"/>
              </a:rPr>
              <a:t>’on’</a:t>
            </a:r>
          </a:p>
          <a:p>
            <a:pPr lvl="1"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２ ／ １１ ）</a:t>
            </a:r>
            <a:endParaRPr kumimoji="1" lang="ja-JP" altLang="en-US" sz="2000" dirty="0">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27306985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自動請求書照合</a:t>
            </a:r>
            <a:r>
              <a:rPr lang="en-US" altLang="ja-JP" dirty="0">
                <a:latin typeface="Meiryo UI" pitchFamily="50" charset="-128"/>
                <a:ea typeface="Meiryo UI" pitchFamily="50" charset="-128"/>
                <a:cs typeface="Meiryo UI" pitchFamily="50" charset="-128"/>
              </a:rPr>
              <a:t>(ERS)</a:t>
            </a:r>
          </a:p>
          <a:p>
            <a:pPr eaLnBrk="0" hangingPunct="0">
              <a:lnSpc>
                <a:spcPct val="150000"/>
              </a:lnSpc>
              <a:spcBef>
                <a:spcPct val="20000"/>
              </a:spcBef>
              <a:buClr>
                <a:srgbClr val="002289"/>
              </a:buClr>
              <a:buSzPct val="113000"/>
            </a:pPr>
            <a:r>
              <a:rPr lang="ja-JP" altLang="en-US" dirty="0">
                <a:latin typeface="Meiryo UI" pitchFamily="50" charset="-128"/>
                <a:ea typeface="Meiryo UI" pitchFamily="50" charset="-128"/>
                <a:cs typeface="Meiryo UI" pitchFamily="50" charset="-128"/>
              </a:rPr>
              <a:t>　　発注入庫したものを</a:t>
            </a:r>
            <a:r>
              <a:rPr lang="en-US" altLang="ja-JP" dirty="0">
                <a:latin typeface="Meiryo UI" pitchFamily="50" charset="-128"/>
                <a:ea typeface="Meiryo UI" pitchFamily="50" charset="-128"/>
                <a:cs typeface="Meiryo UI" pitchFamily="50" charset="-128"/>
              </a:rPr>
              <a:t>ERS</a:t>
            </a:r>
            <a:r>
              <a:rPr lang="ja-JP" altLang="en-US" dirty="0">
                <a:latin typeface="Meiryo UI" pitchFamily="50" charset="-128"/>
                <a:ea typeface="Meiryo UI" pitchFamily="50" charset="-128"/>
                <a:cs typeface="Meiryo UI" pitchFamily="50" charset="-128"/>
              </a:rPr>
              <a:t>を使用し、請求書照合します。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３ ／ １１ ）</a:t>
            </a:r>
            <a:endParaRPr kumimoji="1" lang="ja-JP" altLang="en-US" sz="2000" dirty="0">
              <a:latin typeface="Meiryo UI" pitchFamily="50" charset="-128"/>
              <a:ea typeface="Meiryo UI" pitchFamily="50" charset="-128"/>
              <a:cs typeface="Meiryo UI" pitchFamily="50" charset="-128"/>
            </a:endParaRPr>
          </a:p>
        </p:txBody>
      </p:sp>
      <p:sp>
        <p:nvSpPr>
          <p:cNvPr id="2" name="正方形/長方形 1"/>
          <p:cNvSpPr/>
          <p:nvPr/>
        </p:nvSpPr>
        <p:spPr>
          <a:xfrm>
            <a:off x="260351" y="2568425"/>
            <a:ext cx="1338828" cy="507831"/>
          </a:xfrm>
          <a:prstGeom prst="rect">
            <a:avLst/>
          </a:prstGeom>
        </p:spPr>
        <p:txBody>
          <a:bodyPr wrap="none">
            <a:spAutoFit/>
          </a:bodyPr>
          <a:lstStyle/>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登録手順</a:t>
            </a:r>
            <a:r>
              <a:rPr lang="en-US" altLang="ja-JP" dirty="0">
                <a:latin typeface="Meiryo UI" pitchFamily="50" charset="-128"/>
                <a:ea typeface="Meiryo UI" pitchFamily="50" charset="-128"/>
                <a:cs typeface="Meiryo UI" pitchFamily="50" charset="-128"/>
              </a:rPr>
              <a:t>】</a:t>
            </a:r>
          </a:p>
        </p:txBody>
      </p:sp>
      <p:sp>
        <p:nvSpPr>
          <p:cNvPr id="8" name="角丸四角形 7"/>
          <p:cNvSpPr/>
          <p:nvPr/>
        </p:nvSpPr>
        <p:spPr>
          <a:xfrm>
            <a:off x="4602043" y="3434706"/>
            <a:ext cx="1368000" cy="90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④条件入力</a:t>
            </a:r>
            <a:endParaRPr kumimoji="1" lang="ja-JP" altLang="en-US" sz="1400" dirty="0">
              <a:latin typeface="Meiryo UI" panose="020B0604030504040204" pitchFamily="50" charset="-128"/>
              <a:ea typeface="Meiryo UI" panose="020B0604030504040204" pitchFamily="50" charset="-128"/>
            </a:endParaRPr>
          </a:p>
        </p:txBody>
      </p:sp>
      <p:sp>
        <p:nvSpPr>
          <p:cNvPr id="9" name="角丸四角形 8"/>
          <p:cNvSpPr/>
          <p:nvPr/>
        </p:nvSpPr>
        <p:spPr>
          <a:xfrm>
            <a:off x="3135439" y="3434706"/>
            <a:ext cx="1368000" cy="90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③画面起動</a:t>
            </a:r>
            <a:endParaRPr lang="en-US" altLang="ja-JP" sz="1400" dirty="0">
              <a:latin typeface="Meiryo UI" panose="020B0604030504040204" pitchFamily="50" charset="-128"/>
              <a:ea typeface="Meiryo UI" panose="020B0604030504040204" pitchFamily="50" charset="-128"/>
            </a:endParaRPr>
          </a:p>
        </p:txBody>
      </p:sp>
      <p:sp>
        <p:nvSpPr>
          <p:cNvPr id="10" name="角丸四角形 9"/>
          <p:cNvSpPr/>
          <p:nvPr/>
        </p:nvSpPr>
        <p:spPr>
          <a:xfrm>
            <a:off x="6097482" y="3434706"/>
            <a:ext cx="1368000" cy="90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⑤実行</a:t>
            </a:r>
            <a:endParaRPr kumimoji="1" lang="ja-JP" altLang="en-US" sz="1400" dirty="0">
              <a:latin typeface="Meiryo UI" panose="020B0604030504040204" pitchFamily="50" charset="-128"/>
              <a:ea typeface="Meiryo UI" panose="020B0604030504040204" pitchFamily="50" charset="-128"/>
            </a:endParaRPr>
          </a:p>
        </p:txBody>
      </p:sp>
      <p:sp>
        <p:nvSpPr>
          <p:cNvPr id="13" name="角丸四角形 12"/>
          <p:cNvSpPr/>
          <p:nvPr/>
        </p:nvSpPr>
        <p:spPr>
          <a:xfrm>
            <a:off x="99292" y="3434707"/>
            <a:ext cx="1368000" cy="90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①仕入先</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マスタ</a:t>
            </a:r>
            <a:r>
              <a:rPr lang="ja-JP" altLang="en-US" sz="1400" dirty="0">
                <a:latin typeface="Meiryo UI" panose="020B0604030504040204" pitchFamily="50" charset="-128"/>
                <a:ea typeface="Meiryo UI" panose="020B0604030504040204" pitchFamily="50" charset="-128"/>
              </a:rPr>
              <a:t>確認</a:t>
            </a:r>
            <a:endParaRPr lang="en-US" altLang="ja-JP" sz="1400" dirty="0">
              <a:latin typeface="Meiryo UI" panose="020B0604030504040204" pitchFamily="50" charset="-128"/>
              <a:ea typeface="Meiryo UI" panose="020B0604030504040204" pitchFamily="50" charset="-128"/>
            </a:endParaRPr>
          </a:p>
        </p:txBody>
      </p:sp>
      <p:sp>
        <p:nvSpPr>
          <p:cNvPr id="14" name="角丸四角形 13"/>
          <p:cNvSpPr/>
          <p:nvPr/>
        </p:nvSpPr>
        <p:spPr>
          <a:xfrm>
            <a:off x="1566683" y="3434706"/>
            <a:ext cx="1368000" cy="90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②購買発注</a:t>
            </a:r>
            <a:endParaRPr lang="en-US" altLang="ja-JP" sz="1400" dirty="0">
              <a:latin typeface="Meiryo UI" panose="020B0604030504040204" pitchFamily="50" charset="-128"/>
              <a:ea typeface="Meiryo UI" panose="020B0604030504040204" pitchFamily="50" charset="-128"/>
            </a:endParaRPr>
          </a:p>
          <a:p>
            <a:pPr algn="ctr"/>
            <a:r>
              <a:rPr lang="ja-JP" altLang="en-US" sz="1400" dirty="0">
                <a:latin typeface="Meiryo UI" panose="020B0604030504040204" pitchFamily="50" charset="-128"/>
                <a:ea typeface="Meiryo UI" panose="020B0604030504040204" pitchFamily="50" charset="-128"/>
              </a:rPr>
              <a:t>伝票確認</a:t>
            </a:r>
            <a:endParaRPr lang="en-US" altLang="ja-JP" sz="1400" dirty="0">
              <a:latin typeface="Meiryo UI" panose="020B0604030504040204" pitchFamily="50" charset="-128"/>
              <a:ea typeface="Meiryo UI" panose="020B0604030504040204" pitchFamily="50" charset="-128"/>
            </a:endParaRPr>
          </a:p>
        </p:txBody>
      </p:sp>
      <p:sp>
        <p:nvSpPr>
          <p:cNvPr id="15" name="角丸四角形 14"/>
          <p:cNvSpPr/>
          <p:nvPr/>
        </p:nvSpPr>
        <p:spPr>
          <a:xfrm>
            <a:off x="7562126" y="3434706"/>
            <a:ext cx="1368000" cy="90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ja-JP"/>
            </a:defPPr>
            <a:lvl1pPr algn="l" rtl="0" fontAlgn="base">
              <a:spcBef>
                <a:spcPct val="0"/>
              </a:spcBef>
              <a:spcAft>
                <a:spcPct val="0"/>
              </a:spcAft>
              <a:defRPr kumimoji="1" kern="1200">
                <a:solidFill>
                  <a:schemeClr val="dk1"/>
                </a:solidFill>
                <a:latin typeface="+mn-lt"/>
                <a:ea typeface="+mn-ea"/>
                <a:cs typeface="+mn-cs"/>
              </a:defRPr>
            </a:lvl1pPr>
            <a:lvl2pPr marL="457200" algn="l" rtl="0" fontAlgn="base">
              <a:spcBef>
                <a:spcPct val="0"/>
              </a:spcBef>
              <a:spcAft>
                <a:spcPct val="0"/>
              </a:spcAft>
              <a:defRPr kumimoji="1" kern="1200">
                <a:solidFill>
                  <a:schemeClr val="dk1"/>
                </a:solidFill>
                <a:latin typeface="+mn-lt"/>
                <a:ea typeface="+mn-ea"/>
                <a:cs typeface="+mn-cs"/>
              </a:defRPr>
            </a:lvl2pPr>
            <a:lvl3pPr marL="914400" algn="l" rtl="0" fontAlgn="base">
              <a:spcBef>
                <a:spcPct val="0"/>
              </a:spcBef>
              <a:spcAft>
                <a:spcPct val="0"/>
              </a:spcAft>
              <a:defRPr kumimoji="1" kern="1200">
                <a:solidFill>
                  <a:schemeClr val="dk1"/>
                </a:solidFill>
                <a:latin typeface="+mn-lt"/>
                <a:ea typeface="+mn-ea"/>
                <a:cs typeface="+mn-cs"/>
              </a:defRPr>
            </a:lvl3pPr>
            <a:lvl4pPr marL="1371600" algn="l" rtl="0" fontAlgn="base">
              <a:spcBef>
                <a:spcPct val="0"/>
              </a:spcBef>
              <a:spcAft>
                <a:spcPct val="0"/>
              </a:spcAft>
              <a:defRPr kumimoji="1" kern="1200">
                <a:solidFill>
                  <a:schemeClr val="dk1"/>
                </a:solidFill>
                <a:latin typeface="+mn-lt"/>
                <a:ea typeface="+mn-ea"/>
                <a:cs typeface="+mn-cs"/>
              </a:defRPr>
            </a:lvl4pPr>
            <a:lvl5pPr marL="1828800" algn="l" rtl="0" fontAlgn="base">
              <a:spcBef>
                <a:spcPct val="0"/>
              </a:spcBef>
              <a:spcAft>
                <a:spcPct val="0"/>
              </a:spcAft>
              <a:defRPr kumimoji="1" kern="1200">
                <a:solidFill>
                  <a:schemeClr val="dk1"/>
                </a:solidFill>
                <a:latin typeface="+mn-lt"/>
                <a:ea typeface="+mn-ea"/>
                <a:cs typeface="+mn-cs"/>
              </a:defRPr>
            </a:lvl5pPr>
            <a:lvl6pPr marL="2286000" algn="l" defTabSz="914400" rtl="0" eaLnBrk="1" latinLnBrk="0" hangingPunct="1">
              <a:defRPr kumimoji="1" kern="1200">
                <a:solidFill>
                  <a:schemeClr val="dk1"/>
                </a:solidFill>
                <a:latin typeface="+mn-lt"/>
                <a:ea typeface="+mn-ea"/>
                <a:cs typeface="+mn-cs"/>
              </a:defRPr>
            </a:lvl6pPr>
            <a:lvl7pPr marL="2743200" algn="l" defTabSz="914400" rtl="0" eaLnBrk="1" latinLnBrk="0" hangingPunct="1">
              <a:defRPr kumimoji="1" kern="1200">
                <a:solidFill>
                  <a:schemeClr val="dk1"/>
                </a:solidFill>
                <a:latin typeface="+mn-lt"/>
                <a:ea typeface="+mn-ea"/>
                <a:cs typeface="+mn-cs"/>
              </a:defRPr>
            </a:lvl7pPr>
            <a:lvl8pPr marL="3200400" algn="l" defTabSz="914400" rtl="0" eaLnBrk="1" latinLnBrk="0" hangingPunct="1">
              <a:defRPr kumimoji="1" kern="1200">
                <a:solidFill>
                  <a:schemeClr val="dk1"/>
                </a:solidFill>
                <a:latin typeface="+mn-lt"/>
                <a:ea typeface="+mn-ea"/>
                <a:cs typeface="+mn-cs"/>
              </a:defRPr>
            </a:lvl8pPr>
            <a:lvl9pPr marL="3657600" algn="l" defTabSz="914400" rtl="0" eaLnBrk="1" latinLnBrk="0" hangingPunct="1">
              <a:defRPr kumimoji="1" kern="1200">
                <a:solidFill>
                  <a:schemeClr val="dk1"/>
                </a:solidFill>
                <a:latin typeface="+mn-lt"/>
                <a:ea typeface="+mn-ea"/>
                <a:cs typeface="+mn-cs"/>
              </a:defRPr>
            </a:lvl9pPr>
          </a:lstStyle>
          <a:p>
            <a:pPr algn="ctr"/>
            <a:r>
              <a:rPr lang="ja-JP" altLang="en-US" sz="1400" dirty="0">
                <a:latin typeface="Meiryo UI" panose="020B0604030504040204" pitchFamily="50" charset="-128"/>
                <a:ea typeface="Meiryo UI" panose="020B0604030504040204" pitchFamily="50" charset="-128"/>
              </a:rPr>
              <a:t>⑥結果確認</a:t>
            </a:r>
            <a:endParaRPr lang="en-US" altLang="ja-JP" sz="1400" dirty="0">
              <a:latin typeface="Meiryo UI" panose="020B0604030504040204" pitchFamily="50" charset="-128"/>
              <a:ea typeface="Meiryo UI" panose="020B0604030504040204" pitchFamily="50" charset="-128"/>
            </a:endParaRPr>
          </a:p>
        </p:txBody>
      </p:sp>
      <p:cxnSp>
        <p:nvCxnSpPr>
          <p:cNvPr id="11" name="直線矢印コネクタ 10"/>
          <p:cNvCxnSpPr/>
          <p:nvPr/>
        </p:nvCxnSpPr>
        <p:spPr>
          <a:xfrm flipV="1">
            <a:off x="82920" y="3286049"/>
            <a:ext cx="2851763" cy="64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a:spLocks noChangeArrowheads="1"/>
          </p:cNvSpPr>
          <p:nvPr/>
        </p:nvSpPr>
        <p:spPr bwMode="auto">
          <a:xfrm>
            <a:off x="1065018" y="3071666"/>
            <a:ext cx="900889" cy="305212"/>
          </a:xfrm>
          <a:prstGeom prst="rect">
            <a:avLst/>
          </a:prstGeom>
          <a:solidFill>
            <a:schemeClr val="bg1"/>
          </a:solidFill>
          <a:ln w="12700">
            <a:noFill/>
            <a:miter lim="800000"/>
            <a:headEnd/>
            <a:tailEnd/>
          </a:ln>
          <a:effectLst/>
        </p:spPr>
        <p:txBody>
          <a:bodyPr wrap="none" lIns="90488" tIns="44450" rIns="90488" bIns="44450">
            <a:spAutoFit/>
          </a:bodyPr>
          <a:lstStyle/>
          <a:p>
            <a:pPr eaLnBrk="0" hangingPunct="0">
              <a:spcBef>
                <a:spcPct val="20000"/>
              </a:spcBef>
              <a:buClr>
                <a:srgbClr val="002289"/>
              </a:buClr>
              <a:buSzPct val="113000"/>
            </a:pPr>
            <a:r>
              <a:rPr lang="ja-JP" altLang="en-US" sz="1400" dirty="0">
                <a:latin typeface="Meiryo UI" pitchFamily="50" charset="-128"/>
                <a:ea typeface="Meiryo UI" pitchFamily="50" charset="-128"/>
                <a:cs typeface="Meiryo UI" pitchFamily="50" charset="-128"/>
              </a:rPr>
              <a:t>前提確認</a:t>
            </a:r>
            <a:endParaRPr lang="en-US" altLang="ja-JP" sz="1400" dirty="0">
              <a:solidFill>
                <a:schemeClr val="bg1">
                  <a:lumMod val="65000"/>
                </a:schemeClr>
              </a:solidFill>
              <a:latin typeface="Meiryo UI" pitchFamily="50" charset="-128"/>
              <a:ea typeface="Meiryo UI" pitchFamily="50" charset="-128"/>
              <a:cs typeface="Meiryo UI" pitchFamily="50" charset="-128"/>
            </a:endParaRPr>
          </a:p>
        </p:txBody>
      </p:sp>
      <p:cxnSp>
        <p:nvCxnSpPr>
          <p:cNvPr id="17" name="直線矢印コネクタ 16"/>
          <p:cNvCxnSpPr/>
          <p:nvPr/>
        </p:nvCxnSpPr>
        <p:spPr>
          <a:xfrm flipV="1">
            <a:off x="3083769" y="3286049"/>
            <a:ext cx="5846357" cy="19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Rectangle 15"/>
          <p:cNvSpPr>
            <a:spLocks noChangeArrowheads="1"/>
          </p:cNvSpPr>
          <p:nvPr/>
        </p:nvSpPr>
        <p:spPr bwMode="auto">
          <a:xfrm>
            <a:off x="5435487" y="3087708"/>
            <a:ext cx="888065" cy="305212"/>
          </a:xfrm>
          <a:prstGeom prst="rect">
            <a:avLst/>
          </a:prstGeom>
          <a:solidFill>
            <a:schemeClr val="bg1"/>
          </a:solidFill>
          <a:ln w="12700">
            <a:noFill/>
            <a:miter lim="800000"/>
            <a:headEnd/>
            <a:tailEnd/>
          </a:ln>
          <a:effectLst/>
        </p:spPr>
        <p:txBody>
          <a:bodyPr wrap="none" lIns="90488" tIns="44450" rIns="90488" bIns="44450">
            <a:spAutoFit/>
          </a:bodyPr>
          <a:lstStyle/>
          <a:p>
            <a:pPr eaLnBrk="0" hangingPunct="0">
              <a:spcBef>
                <a:spcPct val="20000"/>
              </a:spcBef>
              <a:buClr>
                <a:srgbClr val="002289"/>
              </a:buClr>
              <a:buSzPct val="113000"/>
            </a:pPr>
            <a:r>
              <a:rPr lang="en-US" altLang="ja-JP" sz="1400" dirty="0">
                <a:latin typeface="Meiryo UI" pitchFamily="50" charset="-128"/>
                <a:ea typeface="Meiryo UI" pitchFamily="50" charset="-128"/>
                <a:cs typeface="Meiryo UI" pitchFamily="50" charset="-128"/>
              </a:rPr>
              <a:t>ERS</a:t>
            </a:r>
            <a:r>
              <a:rPr lang="ja-JP" altLang="en-US" sz="1400" dirty="0">
                <a:latin typeface="Meiryo UI" pitchFamily="50" charset="-128"/>
                <a:ea typeface="Meiryo UI" pitchFamily="50" charset="-128"/>
                <a:cs typeface="Meiryo UI" pitchFamily="50" charset="-128"/>
              </a:rPr>
              <a:t>実行</a:t>
            </a:r>
            <a:endParaRPr lang="en-US" altLang="ja-JP" sz="1400" dirty="0">
              <a:solidFill>
                <a:schemeClr val="bg1">
                  <a:lumMod val="65000"/>
                </a:schemeClr>
              </a:solidFill>
              <a:latin typeface="Meiryo UI" pitchFamily="50" charset="-128"/>
              <a:ea typeface="Meiryo UI" pitchFamily="50" charset="-128"/>
              <a:cs typeface="Meiryo UI" pitchFamily="50" charset="-128"/>
            </a:endParaRPr>
          </a:p>
        </p:txBody>
      </p:sp>
      <p:cxnSp>
        <p:nvCxnSpPr>
          <p:cNvPr id="19" name="直線コネクタ 18"/>
          <p:cNvCxnSpPr/>
          <p:nvPr/>
        </p:nvCxnSpPr>
        <p:spPr>
          <a:xfrm flipH="1">
            <a:off x="3030400" y="3185959"/>
            <a:ext cx="60" cy="1329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flipH="1">
            <a:off x="9005051" y="3185959"/>
            <a:ext cx="60" cy="1329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flipH="1">
            <a:off x="49537" y="3185959"/>
            <a:ext cx="60" cy="13291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1959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前提確認</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仕入先マスタ確認</a:t>
            </a: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トランザクションコード</a:t>
            </a:r>
            <a:r>
              <a:rPr lang="en-US" altLang="ja-JP" dirty="0">
                <a:latin typeface="Meiryo UI" pitchFamily="50" charset="-128"/>
                <a:ea typeface="Meiryo UI" pitchFamily="50" charset="-128"/>
                <a:cs typeface="Meiryo UI" pitchFamily="50" charset="-128"/>
              </a:rPr>
              <a:t>”BP”</a:t>
            </a:r>
            <a:r>
              <a:rPr lang="ja-JP" altLang="en-US" dirty="0">
                <a:latin typeface="Meiryo UI" pitchFamily="50" charset="-128"/>
                <a:ea typeface="Meiryo UI" pitchFamily="50" charset="-128"/>
                <a:cs typeface="Meiryo UI" pitchFamily="50" charset="-128"/>
              </a:rPr>
              <a:t>より、</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対象となる仕入先マスタ</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①</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の設定を</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確認します。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購買データタブを選択</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②</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以下のフラグが</a:t>
            </a:r>
            <a:r>
              <a:rPr lang="en-US" altLang="ja-JP" dirty="0">
                <a:latin typeface="Meiryo UI" pitchFamily="50" charset="-128"/>
                <a:ea typeface="Meiryo UI" pitchFamily="50" charset="-128"/>
                <a:cs typeface="Meiryo UI" pitchFamily="50" charset="-128"/>
              </a:rPr>
              <a:t>”on”</a:t>
            </a:r>
            <a:r>
              <a:rPr lang="ja-JP" altLang="en-US" dirty="0">
                <a:latin typeface="Meiryo UI" pitchFamily="50" charset="-128"/>
                <a:ea typeface="Meiryo UI" pitchFamily="50" charset="-128"/>
                <a:cs typeface="Meiryo UI" pitchFamily="50" charset="-128"/>
              </a:rPr>
              <a:t>であることを</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確認</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③</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します。</a:t>
            </a:r>
            <a:br>
              <a:rPr lang="en-US" altLang="ja-JP" dirty="0">
                <a:latin typeface="Meiryo UI" pitchFamily="50" charset="-128"/>
                <a:ea typeface="Meiryo UI" pitchFamily="50" charset="-128"/>
                <a:cs typeface="Meiryo UI" pitchFamily="50" charset="-128"/>
              </a:rPr>
            </a:br>
            <a:br>
              <a:rPr lang="en-US" altLang="ja-JP" dirty="0">
                <a:latin typeface="Meiryo UI" pitchFamily="50" charset="-128"/>
                <a:ea typeface="Meiryo UI" pitchFamily="50" charset="-128"/>
                <a:cs typeface="Meiryo UI" pitchFamily="50" charset="-128"/>
              </a:rPr>
            </a:br>
            <a:br>
              <a:rPr lang="en-US" altLang="ja-JP" dirty="0">
                <a:latin typeface="Meiryo UI" pitchFamily="50" charset="-128"/>
                <a:ea typeface="Meiryo UI" pitchFamily="50" charset="-128"/>
                <a:cs typeface="Meiryo UI" pitchFamily="50" charset="-128"/>
              </a:rPr>
            </a:b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４ ／ １１ ）</a:t>
            </a:r>
            <a:endParaRPr kumimoji="1" lang="ja-JP" altLang="en-US" sz="2000" dirty="0">
              <a:latin typeface="Meiryo UI" pitchFamily="50" charset="-128"/>
              <a:ea typeface="Meiryo UI" pitchFamily="50" charset="-128"/>
              <a:cs typeface="Meiryo UI" pitchFamily="50" charset="-128"/>
            </a:endParaRPr>
          </a:p>
        </p:txBody>
      </p:sp>
      <p:pic>
        <p:nvPicPr>
          <p:cNvPr id="3" name="図 2"/>
          <p:cNvPicPr>
            <a:picLocks noChangeAspect="1"/>
          </p:cNvPicPr>
          <p:nvPr/>
        </p:nvPicPr>
        <p:blipFill>
          <a:blip r:embed="rId3"/>
          <a:stretch>
            <a:fillRect/>
          </a:stretch>
        </p:blipFill>
        <p:spPr>
          <a:xfrm>
            <a:off x="4404072" y="1785133"/>
            <a:ext cx="4622698" cy="4858648"/>
          </a:xfrm>
          <a:prstGeom prst="rect">
            <a:avLst/>
          </a:prstGeom>
        </p:spPr>
      </p:pic>
      <p:sp>
        <p:nvSpPr>
          <p:cNvPr id="4" name="正方形/長方形 3"/>
          <p:cNvSpPr/>
          <p:nvPr/>
        </p:nvSpPr>
        <p:spPr>
          <a:xfrm>
            <a:off x="4840357" y="5124681"/>
            <a:ext cx="1262269" cy="2484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6" name="表 5">
            <a:extLst>
              <a:ext uri="{FF2B5EF4-FFF2-40B4-BE49-F238E27FC236}">
                <a16:creationId xmlns:a16="http://schemas.microsoft.com/office/drawing/2014/main" id="{733B21E8-01F8-4640-AC33-35ED5B7CE695}"/>
              </a:ext>
            </a:extLst>
          </p:cNvPr>
          <p:cNvGraphicFramePr>
            <a:graphicFrameLocks noGrp="1"/>
          </p:cNvGraphicFramePr>
          <p:nvPr>
            <p:extLst>
              <p:ext uri="{D42A27DB-BD31-4B8C-83A1-F6EECF244321}">
                <p14:modId xmlns:p14="http://schemas.microsoft.com/office/powerpoint/2010/main" val="1720082517"/>
              </p:ext>
            </p:extLst>
          </p:nvPr>
        </p:nvGraphicFramePr>
        <p:xfrm>
          <a:off x="471304" y="2918084"/>
          <a:ext cx="3300548" cy="873842"/>
        </p:xfrm>
        <a:graphic>
          <a:graphicData uri="http://schemas.openxmlformats.org/drawingml/2006/table">
            <a:tbl>
              <a:tblPr firstRow="1" bandRow="1">
                <a:tableStyleId>{7DF18680-E054-41AD-8BC1-D1AEF772440D}</a:tableStyleId>
              </a:tblPr>
              <a:tblGrid>
                <a:gridCol w="1893630">
                  <a:extLst>
                    <a:ext uri="{9D8B030D-6E8A-4147-A177-3AD203B41FA5}">
                      <a16:colId xmlns:a16="http://schemas.microsoft.com/office/drawing/2014/main" val="20004"/>
                    </a:ext>
                  </a:extLst>
                </a:gridCol>
                <a:gridCol w="1406918">
                  <a:extLst>
                    <a:ext uri="{9D8B030D-6E8A-4147-A177-3AD203B41FA5}">
                      <a16:colId xmlns:a16="http://schemas.microsoft.com/office/drawing/2014/main" val="20001"/>
                    </a:ext>
                  </a:extLst>
                </a:gridCol>
              </a:tblGrid>
              <a:tr h="257034">
                <a:tc>
                  <a:txBody>
                    <a:bodyPr/>
                    <a:lstStyle/>
                    <a:p>
                      <a:pPr algn="ctr"/>
                      <a:r>
                        <a:rPr kumimoji="1" lang="ja-JP" altLang="en-US" sz="1200" dirty="0">
                          <a:latin typeface="Meiryo UI" pitchFamily="50" charset="-128"/>
                          <a:ea typeface="Meiryo UI" pitchFamily="50" charset="-128"/>
                          <a:cs typeface="Meiryo UI" pitchFamily="50" charset="-128"/>
                        </a:rPr>
                        <a:t>確認対象の仕入先情報</a:t>
                      </a: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200" dirty="0">
                          <a:latin typeface="Meiryo UI" pitchFamily="50" charset="-128"/>
                          <a:ea typeface="Meiryo UI" pitchFamily="50" charset="-128"/>
                          <a:cs typeface="Meiryo UI" pitchFamily="50" charset="-128"/>
                        </a:rPr>
                        <a:t>入力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299761">
                <a:tc>
                  <a:txBody>
                    <a:bodyPr/>
                    <a:lstStyle/>
                    <a:p>
                      <a:pPr algn="ctr">
                        <a:buFontTx/>
                        <a:buNone/>
                      </a:pPr>
                      <a:r>
                        <a:rPr kumimoji="1" lang="ja-JP" altLang="en-US" sz="1200" dirty="0">
                          <a:latin typeface="Meiryo UI" pitchFamily="50" charset="-128"/>
                          <a:ea typeface="Meiryo UI" pitchFamily="50" charset="-128"/>
                          <a:cs typeface="Meiryo UI" pitchFamily="50" charset="-128"/>
                        </a:rPr>
                        <a:t>ビジネスパートナ</a:t>
                      </a:r>
                      <a:endParaRPr kumimoji="1" lang="en-US" altLang="ja-JP" sz="12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itchFamily="50" charset="-128"/>
                          <a:ea typeface="Meiryo UI" pitchFamily="50" charset="-128"/>
                          <a:cs typeface="Meiryo UI" pitchFamily="50" charset="-128"/>
                        </a:rPr>
                        <a:t>ZxxV2</a:t>
                      </a:r>
                    </a:p>
                  </a:txBody>
                  <a:tcPr anchor="ctr">
                    <a:lnT w="381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23990741"/>
                  </a:ext>
                </a:extLst>
              </a:tr>
              <a:tr h="299761">
                <a:tc>
                  <a:txBody>
                    <a:bodyPr/>
                    <a:lstStyle/>
                    <a:p>
                      <a:pPr algn="ctr">
                        <a:buFontTx/>
                        <a:buNone/>
                      </a:pPr>
                      <a:r>
                        <a:rPr kumimoji="1" lang="en-US" altLang="ja-JP" sz="1200" dirty="0">
                          <a:latin typeface="Meiryo UI" pitchFamily="50" charset="-128"/>
                          <a:ea typeface="Meiryo UI" pitchFamily="50" charset="-128"/>
                          <a:cs typeface="Meiryo UI" pitchFamily="50" charset="-128"/>
                        </a:rPr>
                        <a:t>BP</a:t>
                      </a:r>
                      <a:r>
                        <a:rPr kumimoji="1" lang="ja-JP" altLang="en-US" sz="1200" dirty="0">
                          <a:latin typeface="Meiryo UI" pitchFamily="50" charset="-128"/>
                          <a:ea typeface="Meiryo UI" pitchFamily="50" charset="-128"/>
                          <a:cs typeface="Meiryo UI" pitchFamily="50" charset="-128"/>
                        </a:rPr>
                        <a:t>役割の照会</a:t>
                      </a:r>
                      <a:endParaRPr kumimoji="1" lang="en-US" altLang="ja-JP" sz="1200" dirty="0">
                        <a:latin typeface="Meiryo UI" pitchFamily="50" charset="-128"/>
                        <a:ea typeface="Meiryo UI" pitchFamily="50" charset="-128"/>
                        <a:cs typeface="Meiryo UI" pitchFamily="50" charset="-128"/>
                      </a:endParaRPr>
                    </a:p>
                  </a:txBody>
                  <a:tcPr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itchFamily="50" charset="-128"/>
                          <a:ea typeface="Meiryo UI" pitchFamily="50" charset="-128"/>
                          <a:cs typeface="Meiryo UI" pitchFamily="50" charset="-128"/>
                        </a:rPr>
                        <a:t>サプライヤ</a:t>
                      </a:r>
                      <a:r>
                        <a:rPr kumimoji="1" lang="en-US" altLang="ja-JP" sz="1200" dirty="0">
                          <a:latin typeface="Meiryo UI" pitchFamily="50" charset="-128"/>
                          <a:ea typeface="Meiryo UI" pitchFamily="50" charset="-128"/>
                          <a:cs typeface="Meiryo UI" pitchFamily="50" charset="-128"/>
                        </a:rPr>
                        <a:t>(</a:t>
                      </a:r>
                      <a:r>
                        <a:rPr kumimoji="1" lang="ja-JP" altLang="en-US" sz="1200" dirty="0">
                          <a:latin typeface="Meiryo UI" pitchFamily="50" charset="-128"/>
                          <a:ea typeface="Meiryo UI" pitchFamily="50" charset="-128"/>
                          <a:cs typeface="Meiryo UI" pitchFamily="50" charset="-128"/>
                        </a:rPr>
                        <a:t>定義済</a:t>
                      </a:r>
                      <a:r>
                        <a:rPr kumimoji="1" lang="en-US" altLang="ja-JP" sz="1200" dirty="0">
                          <a:latin typeface="Meiryo UI" pitchFamily="50" charset="-128"/>
                          <a:ea typeface="Meiryo UI" pitchFamily="50" charset="-128"/>
                          <a:cs typeface="Meiryo UI" pitchFamily="50" charset="-128"/>
                        </a:rPr>
                        <a:t>)</a:t>
                      </a:r>
                    </a:p>
                  </a:txBody>
                  <a:tcPr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正方形/長方形 6"/>
          <p:cNvSpPr/>
          <p:nvPr/>
        </p:nvSpPr>
        <p:spPr>
          <a:xfrm>
            <a:off x="4404073" y="3414277"/>
            <a:ext cx="605250" cy="2484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8" name="表 7">
            <a:extLst>
              <a:ext uri="{FF2B5EF4-FFF2-40B4-BE49-F238E27FC236}">
                <a16:creationId xmlns:a16="http://schemas.microsoft.com/office/drawing/2014/main" id="{733B21E8-01F8-4640-AC33-35ED5B7CE695}"/>
              </a:ext>
            </a:extLst>
          </p:cNvPr>
          <p:cNvGraphicFramePr>
            <a:graphicFrameLocks noGrp="1"/>
          </p:cNvGraphicFramePr>
          <p:nvPr/>
        </p:nvGraphicFramePr>
        <p:xfrm>
          <a:off x="491182" y="5635488"/>
          <a:ext cx="3300548" cy="574081"/>
        </p:xfrm>
        <a:graphic>
          <a:graphicData uri="http://schemas.openxmlformats.org/drawingml/2006/table">
            <a:tbl>
              <a:tblPr firstRow="1" bandRow="1">
                <a:tableStyleId>{7DF18680-E054-41AD-8BC1-D1AEF772440D}</a:tableStyleId>
              </a:tblPr>
              <a:tblGrid>
                <a:gridCol w="1893630">
                  <a:extLst>
                    <a:ext uri="{9D8B030D-6E8A-4147-A177-3AD203B41FA5}">
                      <a16:colId xmlns:a16="http://schemas.microsoft.com/office/drawing/2014/main" val="20004"/>
                    </a:ext>
                  </a:extLst>
                </a:gridCol>
                <a:gridCol w="1406918">
                  <a:extLst>
                    <a:ext uri="{9D8B030D-6E8A-4147-A177-3AD203B41FA5}">
                      <a16:colId xmlns:a16="http://schemas.microsoft.com/office/drawing/2014/main" val="20001"/>
                    </a:ext>
                  </a:extLst>
                </a:gridCol>
              </a:tblGrid>
              <a:tr h="257034">
                <a:tc>
                  <a:txBody>
                    <a:bodyPr/>
                    <a:lstStyle/>
                    <a:p>
                      <a:pPr algn="ctr"/>
                      <a:r>
                        <a:rPr kumimoji="1" lang="ja-JP" altLang="en-US" sz="1200" dirty="0">
                          <a:latin typeface="Meiryo UI" pitchFamily="50" charset="-128"/>
                          <a:ea typeface="Meiryo UI" pitchFamily="50" charset="-128"/>
                          <a:cs typeface="Meiryo UI" pitchFamily="50" charset="-128"/>
                        </a:rPr>
                        <a:t>確認箇所</a:t>
                      </a: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200" dirty="0">
                          <a:latin typeface="Meiryo UI" pitchFamily="50" charset="-128"/>
                          <a:ea typeface="Meiryo UI" pitchFamily="50" charset="-128"/>
                          <a:cs typeface="Meiryo UI" pitchFamily="50" charset="-128"/>
                        </a:rPr>
                        <a:t>設定内容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299761">
                <a:tc>
                  <a:txBody>
                    <a:bodyPr/>
                    <a:lstStyle/>
                    <a:p>
                      <a:pPr algn="ctr">
                        <a:buFontTx/>
                        <a:buNone/>
                      </a:pPr>
                      <a:r>
                        <a:rPr kumimoji="1" lang="ja-JP" altLang="en-US" sz="1200" dirty="0">
                          <a:latin typeface="Meiryo UI" pitchFamily="50" charset="-128"/>
                          <a:ea typeface="Meiryo UI" pitchFamily="50" charset="-128"/>
                          <a:cs typeface="Meiryo UI" pitchFamily="50" charset="-128"/>
                        </a:rPr>
                        <a:t>自動評価入庫決済納入</a:t>
                      </a:r>
                      <a:endParaRPr kumimoji="1" lang="en-US" altLang="ja-JP" sz="12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itchFamily="50" charset="-128"/>
                          <a:ea typeface="Meiryo UI" pitchFamily="50" charset="-128"/>
                          <a:cs typeface="Meiryo UI" pitchFamily="50" charset="-128"/>
                        </a:rPr>
                        <a:t>“on”</a:t>
                      </a:r>
                    </a:p>
                  </a:txBody>
                  <a:tcPr anchor="ctr">
                    <a:lnT w="381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23990741"/>
                  </a:ext>
                </a:extLst>
              </a:tr>
            </a:tbl>
          </a:graphicData>
        </a:graphic>
      </p:graphicFrame>
      <p:sp>
        <p:nvSpPr>
          <p:cNvPr id="2" name="テキスト ボックス 1"/>
          <p:cNvSpPr txBox="1"/>
          <p:nvPr/>
        </p:nvSpPr>
        <p:spPr>
          <a:xfrm>
            <a:off x="4706698" y="4714213"/>
            <a:ext cx="556591" cy="369332"/>
          </a:xfrm>
          <a:prstGeom prst="rect">
            <a:avLst/>
          </a:prstGeom>
          <a:noFill/>
        </p:spPr>
        <p:txBody>
          <a:bodyPr wrap="square" rtlCol="0">
            <a:spAutoFit/>
          </a:bodyPr>
          <a:lstStyle/>
          <a:p>
            <a:r>
              <a:rPr lang="ja-JP" altLang="en-US" dirty="0">
                <a:solidFill>
                  <a:srgbClr val="FF0000"/>
                </a:solidFill>
              </a:rPr>
              <a:t>③</a:t>
            </a:r>
            <a:endParaRPr kumimoji="1" lang="ja-JP" altLang="en-US" dirty="0">
              <a:solidFill>
                <a:srgbClr val="FF0000"/>
              </a:solidFill>
            </a:endParaRPr>
          </a:p>
        </p:txBody>
      </p:sp>
      <p:sp>
        <p:nvSpPr>
          <p:cNvPr id="10" name="テキスト ボックス 9"/>
          <p:cNvSpPr txBox="1"/>
          <p:nvPr/>
        </p:nvSpPr>
        <p:spPr>
          <a:xfrm>
            <a:off x="4334430" y="3024377"/>
            <a:ext cx="556591" cy="369332"/>
          </a:xfrm>
          <a:prstGeom prst="rect">
            <a:avLst/>
          </a:prstGeom>
          <a:noFill/>
        </p:spPr>
        <p:txBody>
          <a:bodyPr wrap="square" rtlCol="0">
            <a:spAutoFit/>
          </a:bodyPr>
          <a:lstStyle/>
          <a:p>
            <a:r>
              <a:rPr lang="ja-JP" altLang="en-US" dirty="0">
                <a:solidFill>
                  <a:srgbClr val="FF0000"/>
                </a:solidFill>
              </a:rPr>
              <a:t>②</a:t>
            </a:r>
            <a:endParaRPr kumimoji="1" lang="ja-JP" altLang="en-US" dirty="0">
              <a:solidFill>
                <a:srgbClr val="FF0000"/>
              </a:solidFill>
            </a:endParaRPr>
          </a:p>
        </p:txBody>
      </p:sp>
      <p:sp>
        <p:nvSpPr>
          <p:cNvPr id="11" name="正方形/長方形 10"/>
          <p:cNvSpPr/>
          <p:nvPr/>
        </p:nvSpPr>
        <p:spPr>
          <a:xfrm>
            <a:off x="4891021" y="2613575"/>
            <a:ext cx="2692536" cy="5431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p:cNvSpPr txBox="1"/>
          <p:nvPr/>
        </p:nvSpPr>
        <p:spPr>
          <a:xfrm>
            <a:off x="4840357" y="2215146"/>
            <a:ext cx="556591" cy="369332"/>
          </a:xfrm>
          <a:prstGeom prst="rect">
            <a:avLst/>
          </a:prstGeom>
          <a:noFill/>
        </p:spPr>
        <p:txBody>
          <a:bodyPr wrap="square" rtlCol="0">
            <a:spAutoFit/>
          </a:bodyPr>
          <a:lstStyle/>
          <a:p>
            <a:r>
              <a:rPr kumimoji="1" lang="ja-JP" altLang="en-US" dirty="0">
                <a:solidFill>
                  <a:srgbClr val="FF0000"/>
                </a:solidFill>
              </a:rPr>
              <a:t>①</a:t>
            </a:r>
          </a:p>
        </p:txBody>
      </p:sp>
      <p:pic>
        <p:nvPicPr>
          <p:cNvPr id="14" name="図 13"/>
          <p:cNvPicPr>
            <a:picLocks noChangeAspect="1"/>
          </p:cNvPicPr>
          <p:nvPr/>
        </p:nvPicPr>
        <p:blipFill>
          <a:blip r:embed="rId4"/>
          <a:stretch>
            <a:fillRect/>
          </a:stretch>
        </p:blipFill>
        <p:spPr>
          <a:xfrm>
            <a:off x="5585453" y="1115286"/>
            <a:ext cx="3441317" cy="360000"/>
          </a:xfrm>
          <a:prstGeom prst="rect">
            <a:avLst/>
          </a:prstGeom>
        </p:spPr>
      </p:pic>
      <p:sp>
        <p:nvSpPr>
          <p:cNvPr id="15" name="正方形/長方形 14"/>
          <p:cNvSpPr/>
          <p:nvPr/>
        </p:nvSpPr>
        <p:spPr>
          <a:xfrm>
            <a:off x="5575854" y="1114961"/>
            <a:ext cx="556591" cy="3460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252478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a:blip r:embed="rId3"/>
          <a:stretch>
            <a:fillRect/>
          </a:stretch>
        </p:blipFill>
        <p:spPr>
          <a:xfrm>
            <a:off x="4171866" y="1858617"/>
            <a:ext cx="4854904" cy="4711208"/>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前提確認</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購買発注伝票確認</a:t>
            </a: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トランザクションコード</a:t>
            </a:r>
            <a:r>
              <a:rPr lang="en-US" altLang="ja-JP" dirty="0">
                <a:latin typeface="Meiryo UI" pitchFamily="50" charset="-128"/>
                <a:ea typeface="Meiryo UI" pitchFamily="50" charset="-128"/>
                <a:cs typeface="Meiryo UI" pitchFamily="50" charset="-128"/>
              </a:rPr>
              <a:t>”ME23N”</a:t>
            </a:r>
            <a:r>
              <a:rPr lang="ja-JP" altLang="en-US" dirty="0">
                <a:latin typeface="Meiryo UI" pitchFamily="50" charset="-128"/>
                <a:ea typeface="Meiryo UI" pitchFamily="50" charset="-128"/>
                <a:cs typeface="Meiryo UI" pitchFamily="50" charset="-128"/>
              </a:rPr>
              <a:t>より、</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対象となる発注伝票を照会</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①</a:t>
            </a:r>
            <a:r>
              <a:rPr lang="en-US" altLang="ja-JP" dirty="0">
                <a:latin typeface="Meiryo UI" pitchFamily="50" charset="-128"/>
                <a:ea typeface="Meiryo UI" pitchFamily="50" charset="-128"/>
                <a:cs typeface="Meiryo UI" pitchFamily="50" charset="-128"/>
              </a:rPr>
              <a:t>)</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明細詳細の請求書タブを選択</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②</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以下の設定を確認</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③</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５ ／ １１ ）</a:t>
            </a:r>
            <a:endParaRPr kumimoji="1" lang="ja-JP" altLang="en-US" sz="2000" dirty="0">
              <a:latin typeface="Meiryo UI" pitchFamily="50" charset="-128"/>
              <a:ea typeface="Meiryo UI" pitchFamily="50" charset="-128"/>
              <a:cs typeface="Meiryo UI" pitchFamily="50" charset="-128"/>
            </a:endParaRPr>
          </a:p>
        </p:txBody>
      </p:sp>
      <p:sp>
        <p:nvSpPr>
          <p:cNvPr id="4" name="正方形/長方形 3"/>
          <p:cNvSpPr/>
          <p:nvPr/>
        </p:nvSpPr>
        <p:spPr>
          <a:xfrm>
            <a:off x="4288506" y="5600834"/>
            <a:ext cx="1123121" cy="5306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p:nvSpPr>
        <p:spPr>
          <a:xfrm>
            <a:off x="8081532" y="5108983"/>
            <a:ext cx="813990" cy="3674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8" name="表 7">
            <a:extLst>
              <a:ext uri="{FF2B5EF4-FFF2-40B4-BE49-F238E27FC236}">
                <a16:creationId xmlns:a16="http://schemas.microsoft.com/office/drawing/2014/main" id="{733B21E8-01F8-4640-AC33-35ED5B7CE695}"/>
              </a:ext>
            </a:extLst>
          </p:cNvPr>
          <p:cNvGraphicFramePr>
            <a:graphicFrameLocks noGrp="1"/>
          </p:cNvGraphicFramePr>
          <p:nvPr/>
        </p:nvGraphicFramePr>
        <p:xfrm>
          <a:off x="471304" y="2918084"/>
          <a:ext cx="3300548" cy="731520"/>
        </p:xfrm>
        <a:graphic>
          <a:graphicData uri="http://schemas.openxmlformats.org/drawingml/2006/table">
            <a:tbl>
              <a:tblPr firstRow="1" bandRow="1">
                <a:tableStyleId>{7DF18680-E054-41AD-8BC1-D1AEF772440D}</a:tableStyleId>
              </a:tblPr>
              <a:tblGrid>
                <a:gridCol w="1893630">
                  <a:extLst>
                    <a:ext uri="{9D8B030D-6E8A-4147-A177-3AD203B41FA5}">
                      <a16:colId xmlns:a16="http://schemas.microsoft.com/office/drawing/2014/main" val="20004"/>
                    </a:ext>
                  </a:extLst>
                </a:gridCol>
                <a:gridCol w="1406918">
                  <a:extLst>
                    <a:ext uri="{9D8B030D-6E8A-4147-A177-3AD203B41FA5}">
                      <a16:colId xmlns:a16="http://schemas.microsoft.com/office/drawing/2014/main" val="20001"/>
                    </a:ext>
                  </a:extLst>
                </a:gridCol>
              </a:tblGrid>
              <a:tr h="257034">
                <a:tc>
                  <a:txBody>
                    <a:bodyPr/>
                    <a:lstStyle/>
                    <a:p>
                      <a:pPr algn="ctr"/>
                      <a:r>
                        <a:rPr kumimoji="1" lang="ja-JP" altLang="en-US" sz="1200" dirty="0">
                          <a:latin typeface="Meiryo UI" pitchFamily="50" charset="-128"/>
                          <a:ea typeface="Meiryo UI" pitchFamily="50" charset="-128"/>
                          <a:cs typeface="Meiryo UI" pitchFamily="50" charset="-128"/>
                        </a:rPr>
                        <a:t>確認対象の発注伝票</a:t>
                      </a: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200" dirty="0">
                          <a:latin typeface="Meiryo UI" pitchFamily="50" charset="-128"/>
                          <a:ea typeface="Meiryo UI" pitchFamily="50" charset="-128"/>
                          <a:cs typeface="Meiryo UI" pitchFamily="50" charset="-128"/>
                        </a:rPr>
                        <a:t>入力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299761">
                <a:tc>
                  <a:txBody>
                    <a:bodyPr/>
                    <a:lstStyle/>
                    <a:p>
                      <a:pPr algn="ctr">
                        <a:buFontTx/>
                        <a:buNone/>
                      </a:pPr>
                      <a:r>
                        <a:rPr kumimoji="1" lang="ja-JP" altLang="en-US" sz="1200" dirty="0">
                          <a:latin typeface="Meiryo UI" pitchFamily="50" charset="-128"/>
                          <a:ea typeface="Meiryo UI" pitchFamily="50" charset="-128"/>
                          <a:cs typeface="Meiryo UI" pitchFamily="50" charset="-128"/>
                        </a:rPr>
                        <a:t>購買発注</a:t>
                      </a:r>
                      <a:endParaRPr kumimoji="1" lang="en-US" altLang="ja-JP" sz="12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itchFamily="50" charset="-128"/>
                          <a:ea typeface="Meiryo UI" pitchFamily="50" charset="-128"/>
                          <a:cs typeface="Meiryo UI" pitchFamily="50" charset="-128"/>
                        </a:rPr>
                        <a:t>先ほど控えた</a:t>
                      </a:r>
                      <a:br>
                        <a:rPr kumimoji="1" lang="en-US" altLang="ja-JP" sz="1200" dirty="0">
                          <a:latin typeface="Meiryo UI" pitchFamily="50" charset="-128"/>
                          <a:ea typeface="Meiryo UI" pitchFamily="50" charset="-128"/>
                          <a:cs typeface="Meiryo UI" pitchFamily="50" charset="-128"/>
                        </a:rPr>
                      </a:br>
                      <a:r>
                        <a:rPr kumimoji="1" lang="ja-JP" altLang="en-US" sz="1200" dirty="0">
                          <a:latin typeface="Meiryo UI" pitchFamily="50" charset="-128"/>
                          <a:ea typeface="Meiryo UI" pitchFamily="50" charset="-128"/>
                          <a:cs typeface="Meiryo UI" pitchFamily="50" charset="-128"/>
                        </a:rPr>
                        <a:t>購買発注伝票番号</a:t>
                      </a:r>
                      <a:endParaRPr kumimoji="1" lang="en-US" altLang="ja-JP" sz="12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23990741"/>
                  </a:ext>
                </a:extLst>
              </a:tr>
            </a:tbl>
          </a:graphicData>
        </a:graphic>
      </p:graphicFrame>
      <p:sp>
        <p:nvSpPr>
          <p:cNvPr id="9" name="正方形/長方形 8"/>
          <p:cNvSpPr/>
          <p:nvPr/>
        </p:nvSpPr>
        <p:spPr>
          <a:xfrm>
            <a:off x="7084714" y="4762045"/>
            <a:ext cx="488903" cy="3469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5726366" y="2739179"/>
            <a:ext cx="704251" cy="272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p:cNvSpPr txBox="1"/>
          <p:nvPr/>
        </p:nvSpPr>
        <p:spPr>
          <a:xfrm>
            <a:off x="5057985" y="5231502"/>
            <a:ext cx="556591" cy="369332"/>
          </a:xfrm>
          <a:prstGeom prst="rect">
            <a:avLst/>
          </a:prstGeom>
          <a:noFill/>
        </p:spPr>
        <p:txBody>
          <a:bodyPr wrap="square" rtlCol="0">
            <a:spAutoFit/>
          </a:bodyPr>
          <a:lstStyle/>
          <a:p>
            <a:r>
              <a:rPr lang="ja-JP" altLang="en-US" dirty="0">
                <a:solidFill>
                  <a:srgbClr val="FF0000"/>
                </a:solidFill>
              </a:rPr>
              <a:t>③</a:t>
            </a:r>
            <a:endParaRPr kumimoji="1" lang="ja-JP" altLang="en-US" dirty="0">
              <a:solidFill>
                <a:srgbClr val="FF0000"/>
              </a:solidFill>
            </a:endParaRPr>
          </a:p>
        </p:txBody>
      </p:sp>
      <p:sp>
        <p:nvSpPr>
          <p:cNvPr id="13" name="テキスト ボックス 12"/>
          <p:cNvSpPr txBox="1"/>
          <p:nvPr/>
        </p:nvSpPr>
        <p:spPr>
          <a:xfrm>
            <a:off x="6888785" y="4344881"/>
            <a:ext cx="556591" cy="369332"/>
          </a:xfrm>
          <a:prstGeom prst="rect">
            <a:avLst/>
          </a:prstGeom>
          <a:noFill/>
        </p:spPr>
        <p:txBody>
          <a:bodyPr wrap="square" rtlCol="0">
            <a:spAutoFit/>
          </a:bodyPr>
          <a:lstStyle/>
          <a:p>
            <a:r>
              <a:rPr lang="ja-JP" altLang="en-US" dirty="0">
                <a:solidFill>
                  <a:srgbClr val="FF0000"/>
                </a:solidFill>
              </a:rPr>
              <a:t>②</a:t>
            </a:r>
            <a:endParaRPr kumimoji="1" lang="ja-JP" altLang="en-US" dirty="0">
              <a:solidFill>
                <a:srgbClr val="FF0000"/>
              </a:solidFill>
            </a:endParaRPr>
          </a:p>
        </p:txBody>
      </p:sp>
      <p:sp>
        <p:nvSpPr>
          <p:cNvPr id="14" name="テキスト ボックス 13"/>
          <p:cNvSpPr txBox="1"/>
          <p:nvPr/>
        </p:nvSpPr>
        <p:spPr>
          <a:xfrm>
            <a:off x="5336281" y="2690702"/>
            <a:ext cx="556591" cy="369332"/>
          </a:xfrm>
          <a:prstGeom prst="rect">
            <a:avLst/>
          </a:prstGeom>
          <a:noFill/>
        </p:spPr>
        <p:txBody>
          <a:bodyPr wrap="square" rtlCol="0">
            <a:spAutoFit/>
          </a:bodyPr>
          <a:lstStyle/>
          <a:p>
            <a:r>
              <a:rPr kumimoji="1" lang="ja-JP" altLang="en-US" dirty="0">
                <a:solidFill>
                  <a:srgbClr val="FF0000"/>
                </a:solidFill>
              </a:rPr>
              <a:t>①</a:t>
            </a:r>
          </a:p>
        </p:txBody>
      </p:sp>
      <p:sp>
        <p:nvSpPr>
          <p:cNvPr id="15" name="テキスト ボックス 14"/>
          <p:cNvSpPr txBox="1"/>
          <p:nvPr/>
        </p:nvSpPr>
        <p:spPr>
          <a:xfrm>
            <a:off x="7919434" y="4762045"/>
            <a:ext cx="556591" cy="369332"/>
          </a:xfrm>
          <a:prstGeom prst="rect">
            <a:avLst/>
          </a:prstGeom>
          <a:noFill/>
        </p:spPr>
        <p:txBody>
          <a:bodyPr wrap="square" rtlCol="0">
            <a:spAutoFit/>
          </a:bodyPr>
          <a:lstStyle/>
          <a:p>
            <a:r>
              <a:rPr lang="ja-JP" altLang="en-US" dirty="0">
                <a:solidFill>
                  <a:srgbClr val="FF0000"/>
                </a:solidFill>
              </a:rPr>
              <a:t>③</a:t>
            </a:r>
            <a:endParaRPr kumimoji="1" lang="ja-JP" altLang="en-US" dirty="0">
              <a:solidFill>
                <a:srgbClr val="FF0000"/>
              </a:solidFill>
            </a:endParaRPr>
          </a:p>
        </p:txBody>
      </p:sp>
      <p:graphicFrame>
        <p:nvGraphicFramePr>
          <p:cNvPr id="16" name="表 15">
            <a:extLst>
              <a:ext uri="{FF2B5EF4-FFF2-40B4-BE49-F238E27FC236}">
                <a16:creationId xmlns:a16="http://schemas.microsoft.com/office/drawing/2014/main" id="{733B21E8-01F8-4640-AC33-35ED5B7CE695}"/>
              </a:ext>
            </a:extLst>
          </p:cNvPr>
          <p:cNvGraphicFramePr>
            <a:graphicFrameLocks noGrp="1"/>
          </p:cNvGraphicFramePr>
          <p:nvPr/>
        </p:nvGraphicFramePr>
        <p:xfrm>
          <a:off x="458361" y="4785434"/>
          <a:ext cx="3474947" cy="1173603"/>
        </p:xfrm>
        <a:graphic>
          <a:graphicData uri="http://schemas.openxmlformats.org/drawingml/2006/table">
            <a:tbl>
              <a:tblPr firstRow="1" bandRow="1">
                <a:tableStyleId>{7DF18680-E054-41AD-8BC1-D1AEF772440D}</a:tableStyleId>
              </a:tblPr>
              <a:tblGrid>
                <a:gridCol w="1993688">
                  <a:extLst>
                    <a:ext uri="{9D8B030D-6E8A-4147-A177-3AD203B41FA5}">
                      <a16:colId xmlns:a16="http://schemas.microsoft.com/office/drawing/2014/main" val="20004"/>
                    </a:ext>
                  </a:extLst>
                </a:gridCol>
                <a:gridCol w="1481259">
                  <a:extLst>
                    <a:ext uri="{9D8B030D-6E8A-4147-A177-3AD203B41FA5}">
                      <a16:colId xmlns:a16="http://schemas.microsoft.com/office/drawing/2014/main" val="20001"/>
                    </a:ext>
                  </a:extLst>
                </a:gridCol>
              </a:tblGrid>
              <a:tr h="257034">
                <a:tc>
                  <a:txBody>
                    <a:bodyPr/>
                    <a:lstStyle/>
                    <a:p>
                      <a:pPr algn="ctr"/>
                      <a:r>
                        <a:rPr kumimoji="1" lang="ja-JP" altLang="en-US" sz="1200" dirty="0">
                          <a:latin typeface="Meiryo UI" pitchFamily="50" charset="-128"/>
                          <a:ea typeface="Meiryo UI" pitchFamily="50" charset="-128"/>
                          <a:cs typeface="Meiryo UI" pitchFamily="50" charset="-128"/>
                        </a:rPr>
                        <a:t>確認箇所</a:t>
                      </a: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a:txBody>
                    <a:bodyPr/>
                    <a:lstStyle/>
                    <a:p>
                      <a:pPr algn="ctr"/>
                      <a:r>
                        <a:rPr kumimoji="1" lang="ja-JP" altLang="en-US" sz="1200" dirty="0">
                          <a:latin typeface="Meiryo UI" pitchFamily="50" charset="-128"/>
                          <a:ea typeface="Meiryo UI" pitchFamily="50" charset="-128"/>
                          <a:cs typeface="Meiryo UI" pitchFamily="50" charset="-128"/>
                        </a:rPr>
                        <a:t>設定内容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299761">
                <a:tc>
                  <a:txBody>
                    <a:bodyPr/>
                    <a:lstStyle/>
                    <a:p>
                      <a:pPr algn="ctr">
                        <a:buFontTx/>
                        <a:buNone/>
                      </a:pPr>
                      <a:r>
                        <a:rPr kumimoji="1" lang="ja-JP" altLang="en-US" sz="1200" dirty="0">
                          <a:latin typeface="Meiryo UI" pitchFamily="50" charset="-128"/>
                          <a:ea typeface="Meiryo UI" pitchFamily="50" charset="-128"/>
                          <a:cs typeface="Meiryo UI" pitchFamily="50" charset="-128"/>
                        </a:rPr>
                        <a:t>入庫基準請求書照合</a:t>
                      </a:r>
                      <a:endParaRPr kumimoji="1" lang="en-US" altLang="ja-JP" sz="1200" dirty="0">
                        <a:latin typeface="Meiryo UI" pitchFamily="50" charset="-128"/>
                        <a:ea typeface="Meiryo UI" pitchFamily="50" charset="-128"/>
                        <a:cs typeface="Meiryo UI" pitchFamily="50" charset="-128"/>
                      </a:endParaRPr>
                    </a:p>
                  </a:txBody>
                  <a:tcPr anchor="ctr">
                    <a:lnT w="381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itchFamily="50" charset="-128"/>
                          <a:ea typeface="Meiryo UI" pitchFamily="50" charset="-128"/>
                          <a:cs typeface="Meiryo UI" pitchFamily="50" charset="-128"/>
                        </a:rPr>
                        <a:t>“on”</a:t>
                      </a:r>
                    </a:p>
                  </a:txBody>
                  <a:tcPr anchor="ctr">
                    <a:lnT w="381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23990741"/>
                  </a:ext>
                </a:extLst>
              </a:tr>
              <a:tr h="299761">
                <a:tc>
                  <a:txBody>
                    <a:bodyPr/>
                    <a:lstStyle/>
                    <a:p>
                      <a:pPr algn="ctr">
                        <a:buFontTx/>
                        <a:buNone/>
                      </a:pPr>
                      <a:r>
                        <a:rPr kumimoji="1" lang="en-US" altLang="ja-JP" sz="1200" dirty="0">
                          <a:latin typeface="Meiryo UI" pitchFamily="50" charset="-128"/>
                          <a:ea typeface="Meiryo UI" pitchFamily="50" charset="-128"/>
                          <a:cs typeface="Meiryo UI" pitchFamily="50" charset="-128"/>
                        </a:rPr>
                        <a:t>ERS</a:t>
                      </a:r>
                    </a:p>
                  </a:txBody>
                  <a:tcPr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itchFamily="50" charset="-128"/>
                          <a:ea typeface="Meiryo UI" pitchFamily="50" charset="-128"/>
                          <a:cs typeface="Meiryo UI" pitchFamily="50" charset="-128"/>
                        </a:rPr>
                        <a:t>“on”</a:t>
                      </a:r>
                    </a:p>
                  </a:txBody>
                  <a:tcPr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299761">
                <a:tc>
                  <a:txBody>
                    <a:bodyPr/>
                    <a:lstStyle/>
                    <a:p>
                      <a:pPr algn="ctr">
                        <a:buFontTx/>
                        <a:buNone/>
                      </a:pPr>
                      <a:r>
                        <a:rPr kumimoji="1" lang="ja-JP" altLang="en-US" sz="1200" dirty="0">
                          <a:latin typeface="Meiryo UI" pitchFamily="50" charset="-128"/>
                          <a:ea typeface="Meiryo UI" pitchFamily="50" charset="-128"/>
                          <a:cs typeface="Meiryo UI" pitchFamily="50" charset="-128"/>
                        </a:rPr>
                        <a:t>税コード</a:t>
                      </a:r>
                      <a:endParaRPr kumimoji="1" lang="en-US" altLang="ja-JP" sz="1200" dirty="0">
                        <a:latin typeface="Meiryo UI" pitchFamily="50" charset="-128"/>
                        <a:ea typeface="Meiryo UI" pitchFamily="50" charset="-128"/>
                        <a:cs typeface="Meiryo UI" pitchFamily="50" charset="-128"/>
                      </a:endParaRPr>
                    </a:p>
                  </a:txBody>
                  <a:tcPr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itchFamily="50" charset="-128"/>
                          <a:ea typeface="Meiryo UI" pitchFamily="50" charset="-128"/>
                          <a:cs typeface="Meiryo UI" pitchFamily="50" charset="-128"/>
                        </a:rPr>
                        <a:t>(</a:t>
                      </a:r>
                      <a:r>
                        <a:rPr kumimoji="1" lang="ja-JP" altLang="en-US" sz="1200" dirty="0">
                          <a:latin typeface="Meiryo UI" pitchFamily="50" charset="-128"/>
                          <a:ea typeface="Meiryo UI" pitchFamily="50" charset="-128"/>
                          <a:cs typeface="Meiryo UI" pitchFamily="50" charset="-128"/>
                        </a:rPr>
                        <a:t>入力済みであること</a:t>
                      </a:r>
                      <a:r>
                        <a:rPr kumimoji="1" lang="en-US" altLang="ja-JP" sz="1200" dirty="0">
                          <a:latin typeface="Meiryo UI" pitchFamily="50" charset="-128"/>
                          <a:ea typeface="Meiryo UI" pitchFamily="50" charset="-128"/>
                          <a:cs typeface="Meiryo UI" pitchFamily="50" charset="-128"/>
                        </a:rPr>
                        <a:t>)</a:t>
                      </a:r>
                    </a:p>
                  </a:txBody>
                  <a:tcPr anchor="ct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7" name="図 16"/>
          <p:cNvPicPr>
            <a:picLocks noChangeAspect="1"/>
          </p:cNvPicPr>
          <p:nvPr/>
        </p:nvPicPr>
        <p:blipFill>
          <a:blip r:embed="rId4"/>
          <a:stretch>
            <a:fillRect/>
          </a:stretch>
        </p:blipFill>
        <p:spPr>
          <a:xfrm>
            <a:off x="5585453" y="1115286"/>
            <a:ext cx="3441317" cy="360000"/>
          </a:xfrm>
          <a:prstGeom prst="rect">
            <a:avLst/>
          </a:prstGeom>
        </p:spPr>
      </p:pic>
      <p:sp>
        <p:nvSpPr>
          <p:cNvPr id="18" name="正方形/長方形 17"/>
          <p:cNvSpPr/>
          <p:nvPr/>
        </p:nvSpPr>
        <p:spPr>
          <a:xfrm>
            <a:off x="6142387" y="1114961"/>
            <a:ext cx="556591" cy="3460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234843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5200121" y="1627244"/>
            <a:ext cx="3522439" cy="4873511"/>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画面起動</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「ロジスティクス」→「在庫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購買管理」→</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「ロジスティクス請求書照合」→</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「自動決済」と遷移します。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a:t>
            </a:r>
            <a:r>
              <a:rPr lang="en-US" altLang="ja-JP" dirty="0">
                <a:latin typeface="Meiryo UI" pitchFamily="50" charset="-128"/>
                <a:ea typeface="Meiryo UI" pitchFamily="50" charset="-128"/>
                <a:cs typeface="Meiryo UI" pitchFamily="50" charset="-128"/>
              </a:rPr>
              <a:t>MRRL –</a:t>
            </a:r>
            <a:r>
              <a:rPr lang="ja-JP" altLang="en-US" dirty="0">
                <a:latin typeface="Meiryo UI" pitchFamily="50" charset="-128"/>
                <a:ea typeface="Meiryo UI" pitchFamily="50" charset="-128"/>
                <a:cs typeface="Meiryo UI" pitchFamily="50" charset="-128"/>
              </a:rPr>
              <a:t> </a:t>
            </a:r>
            <a:r>
              <a:rPr lang="en-US" altLang="ja-JP" dirty="0">
                <a:latin typeface="Meiryo UI" pitchFamily="50" charset="-128"/>
                <a:ea typeface="Meiryo UI" pitchFamily="50" charset="-128"/>
                <a:cs typeface="Meiryo UI" pitchFamily="50" charset="-128"/>
              </a:rPr>
              <a:t>ERS(</a:t>
            </a:r>
            <a:r>
              <a:rPr lang="ja-JP" altLang="en-US" dirty="0">
                <a:latin typeface="Meiryo UI" pitchFamily="50" charset="-128"/>
                <a:ea typeface="Meiryo UI" pitchFamily="50" charset="-128"/>
                <a:cs typeface="Meiryo UI" pitchFamily="50" charset="-128"/>
              </a:rPr>
              <a:t>入庫</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請求自動決済</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」を選択、</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r>
              <a:rPr lang="en-US" altLang="ja-JP" dirty="0">
                <a:latin typeface="Meiryo UI" pitchFamily="50" charset="-128"/>
                <a:ea typeface="Meiryo UI" pitchFamily="50" charset="-128"/>
                <a:cs typeface="Meiryo UI" pitchFamily="50" charset="-128"/>
              </a:rPr>
              <a:t>    </a:t>
            </a:r>
            <a:r>
              <a:rPr lang="ja-JP" altLang="en-US" dirty="0">
                <a:latin typeface="Meiryo UI" pitchFamily="50" charset="-128"/>
                <a:ea typeface="Meiryo UI" pitchFamily="50" charset="-128"/>
                <a:cs typeface="Meiryo UI" pitchFamily="50" charset="-128"/>
              </a:rPr>
              <a:t>またはコマンド入力欄に</a:t>
            </a:r>
            <a:r>
              <a:rPr lang="en-US" altLang="ja-JP" dirty="0">
                <a:latin typeface="Meiryo UI" pitchFamily="50" charset="-128"/>
                <a:ea typeface="Meiryo UI" pitchFamily="50" charset="-128"/>
                <a:cs typeface="Meiryo UI" pitchFamily="50" charset="-128"/>
              </a:rPr>
              <a:t>’MRRL’</a:t>
            </a:r>
            <a:r>
              <a:rPr lang="ja-JP" altLang="en-US" dirty="0">
                <a:latin typeface="Meiryo UI" pitchFamily="50" charset="-128"/>
                <a:ea typeface="Meiryo UI" pitchFamily="50" charset="-128"/>
                <a:cs typeface="Meiryo UI" pitchFamily="50" charset="-128"/>
              </a:rPr>
              <a:t>と入力します。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６ ／ １１ ）</a:t>
            </a:r>
            <a:endParaRPr kumimoji="1" lang="ja-JP" altLang="en-US" sz="2000" dirty="0">
              <a:latin typeface="Meiryo UI" pitchFamily="50" charset="-128"/>
              <a:ea typeface="Meiryo UI" pitchFamily="50" charset="-128"/>
              <a:cs typeface="Meiryo UI" pitchFamily="50" charset="-128"/>
            </a:endParaRPr>
          </a:p>
        </p:txBody>
      </p:sp>
      <p:sp>
        <p:nvSpPr>
          <p:cNvPr id="6" name="正方形/長方形 5"/>
          <p:cNvSpPr/>
          <p:nvPr/>
        </p:nvSpPr>
        <p:spPr>
          <a:xfrm>
            <a:off x="6221891" y="6132443"/>
            <a:ext cx="2385391" cy="2523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右カーブ矢印 8"/>
          <p:cNvSpPr/>
          <p:nvPr/>
        </p:nvSpPr>
        <p:spPr>
          <a:xfrm>
            <a:off x="5200121" y="3518608"/>
            <a:ext cx="265695" cy="901910"/>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1" name="右カーブ矢印 10"/>
          <p:cNvSpPr/>
          <p:nvPr/>
        </p:nvSpPr>
        <p:spPr>
          <a:xfrm>
            <a:off x="5850117" y="6055766"/>
            <a:ext cx="174164" cy="288466"/>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3" name="右カーブ矢印 12"/>
          <p:cNvSpPr/>
          <p:nvPr/>
        </p:nvSpPr>
        <p:spPr>
          <a:xfrm>
            <a:off x="5445081" y="4815720"/>
            <a:ext cx="254261" cy="658502"/>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4" name="正方形/長方形 13"/>
          <p:cNvSpPr/>
          <p:nvPr/>
        </p:nvSpPr>
        <p:spPr>
          <a:xfrm>
            <a:off x="5465816" y="2208554"/>
            <a:ext cx="1725589" cy="2464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右カーブ矢印 14"/>
          <p:cNvSpPr/>
          <p:nvPr/>
        </p:nvSpPr>
        <p:spPr>
          <a:xfrm>
            <a:off x="5594633" y="5474221"/>
            <a:ext cx="280096" cy="581545"/>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sp>
        <p:nvSpPr>
          <p:cNvPr id="16" name="右カーブ矢印 15"/>
          <p:cNvSpPr/>
          <p:nvPr/>
        </p:nvSpPr>
        <p:spPr>
          <a:xfrm>
            <a:off x="5346935" y="4420518"/>
            <a:ext cx="225472" cy="407281"/>
          </a:xfrm>
          <a:prstGeom prst="curvedRight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l" rtl="0" fontAlgn="base">
              <a:spcBef>
                <a:spcPct val="0"/>
              </a:spcBef>
              <a:spcAft>
                <a:spcPct val="0"/>
              </a:spcAft>
              <a:defRPr kumimoji="1" kern="1200">
                <a:solidFill>
                  <a:schemeClr val="lt1"/>
                </a:solidFill>
                <a:latin typeface="+mn-lt"/>
                <a:ea typeface="+mn-ea"/>
                <a:cs typeface="+mn-cs"/>
              </a:defRPr>
            </a:lvl1pPr>
            <a:lvl2pPr marL="457200" algn="l" rtl="0" fontAlgn="base">
              <a:spcBef>
                <a:spcPct val="0"/>
              </a:spcBef>
              <a:spcAft>
                <a:spcPct val="0"/>
              </a:spcAft>
              <a:defRPr kumimoji="1" kern="1200">
                <a:solidFill>
                  <a:schemeClr val="lt1"/>
                </a:solidFill>
                <a:latin typeface="+mn-lt"/>
                <a:ea typeface="+mn-ea"/>
                <a:cs typeface="+mn-cs"/>
              </a:defRPr>
            </a:lvl2pPr>
            <a:lvl3pPr marL="914400" algn="l" rtl="0" fontAlgn="base">
              <a:spcBef>
                <a:spcPct val="0"/>
              </a:spcBef>
              <a:spcAft>
                <a:spcPct val="0"/>
              </a:spcAft>
              <a:defRPr kumimoji="1" kern="1200">
                <a:solidFill>
                  <a:schemeClr val="lt1"/>
                </a:solidFill>
                <a:latin typeface="+mn-lt"/>
                <a:ea typeface="+mn-ea"/>
                <a:cs typeface="+mn-cs"/>
              </a:defRPr>
            </a:lvl3pPr>
            <a:lvl4pPr marL="1371600" algn="l" rtl="0" fontAlgn="base">
              <a:spcBef>
                <a:spcPct val="0"/>
              </a:spcBef>
              <a:spcAft>
                <a:spcPct val="0"/>
              </a:spcAft>
              <a:defRPr kumimoji="1" kern="1200">
                <a:solidFill>
                  <a:schemeClr val="lt1"/>
                </a:solidFill>
                <a:latin typeface="+mn-lt"/>
                <a:ea typeface="+mn-ea"/>
                <a:cs typeface="+mn-cs"/>
              </a:defRPr>
            </a:lvl4pPr>
            <a:lvl5pPr marL="1828800" algn="l" rtl="0" fontAlgn="base">
              <a:spcBef>
                <a:spcPct val="0"/>
              </a:spcBef>
              <a:spcAft>
                <a:spcPct val="0"/>
              </a:spcAft>
              <a:defRPr kumimoji="1" kern="1200">
                <a:solidFill>
                  <a:schemeClr val="lt1"/>
                </a:solidFill>
                <a:latin typeface="+mn-lt"/>
                <a:ea typeface="+mn-ea"/>
                <a:cs typeface="+mn-cs"/>
              </a:defRPr>
            </a:lvl5pPr>
            <a:lvl6pPr marL="2286000" algn="l" defTabSz="914400" rtl="0" eaLnBrk="1" latinLnBrk="0" hangingPunct="1">
              <a:defRPr kumimoji="1" kern="1200">
                <a:solidFill>
                  <a:schemeClr val="lt1"/>
                </a:solidFill>
                <a:latin typeface="+mn-lt"/>
                <a:ea typeface="+mn-ea"/>
                <a:cs typeface="+mn-cs"/>
              </a:defRPr>
            </a:lvl6pPr>
            <a:lvl7pPr marL="2743200" algn="l" defTabSz="914400" rtl="0" eaLnBrk="1" latinLnBrk="0" hangingPunct="1">
              <a:defRPr kumimoji="1" kern="1200">
                <a:solidFill>
                  <a:schemeClr val="lt1"/>
                </a:solidFill>
                <a:latin typeface="+mn-lt"/>
                <a:ea typeface="+mn-ea"/>
                <a:cs typeface="+mn-cs"/>
              </a:defRPr>
            </a:lvl7pPr>
            <a:lvl8pPr marL="3200400" algn="l" defTabSz="914400" rtl="0" eaLnBrk="1" latinLnBrk="0" hangingPunct="1">
              <a:defRPr kumimoji="1" kern="1200">
                <a:solidFill>
                  <a:schemeClr val="lt1"/>
                </a:solidFill>
                <a:latin typeface="+mn-lt"/>
                <a:ea typeface="+mn-ea"/>
                <a:cs typeface="+mn-cs"/>
              </a:defRPr>
            </a:lvl8pPr>
            <a:lvl9pPr marL="3657600" algn="l" defTabSz="914400" rtl="0" eaLnBrk="1" latinLnBrk="0" hangingPunct="1">
              <a:defRPr kumimoji="1" kern="1200">
                <a:solidFill>
                  <a:schemeClr val="lt1"/>
                </a:solidFill>
                <a:latin typeface="+mn-lt"/>
                <a:ea typeface="+mn-ea"/>
                <a:cs typeface="+mn-cs"/>
              </a:defRPr>
            </a:lvl9pPr>
          </a:lstStyle>
          <a:p>
            <a:pPr algn="ctr"/>
            <a:endParaRPr lang="ja-JP" altLang="en-US" dirty="0">
              <a:solidFill>
                <a:schemeClr val="tx1"/>
              </a:solidFill>
            </a:endParaRPr>
          </a:p>
        </p:txBody>
      </p:sp>
      <p:pic>
        <p:nvPicPr>
          <p:cNvPr id="17" name="図 16"/>
          <p:cNvPicPr>
            <a:picLocks noChangeAspect="1"/>
          </p:cNvPicPr>
          <p:nvPr/>
        </p:nvPicPr>
        <p:blipFill>
          <a:blip r:embed="rId3"/>
          <a:stretch>
            <a:fillRect/>
          </a:stretch>
        </p:blipFill>
        <p:spPr>
          <a:xfrm>
            <a:off x="5585453" y="1115286"/>
            <a:ext cx="3441317" cy="360000"/>
          </a:xfrm>
          <a:prstGeom prst="rect">
            <a:avLst/>
          </a:prstGeom>
        </p:spPr>
      </p:pic>
      <p:sp>
        <p:nvSpPr>
          <p:cNvPr id="5" name="正方形/長方形 4"/>
          <p:cNvSpPr/>
          <p:nvPr/>
        </p:nvSpPr>
        <p:spPr>
          <a:xfrm>
            <a:off x="6748670" y="1114961"/>
            <a:ext cx="556591" cy="3460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040174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p:cNvPicPr>
            <a:picLocks noChangeAspect="1"/>
          </p:cNvPicPr>
          <p:nvPr/>
        </p:nvPicPr>
        <p:blipFill>
          <a:blip r:embed="rId3"/>
          <a:stretch>
            <a:fillRect/>
          </a:stretch>
        </p:blipFill>
        <p:spPr>
          <a:xfrm>
            <a:off x="260351" y="2076061"/>
            <a:ext cx="4728167" cy="4588221"/>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条件入力</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赤枠の項目を入力し、実行ボタンをクリック</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①</a:t>
            </a:r>
            <a:r>
              <a:rPr lang="en-US" altLang="ja-JP" dirty="0">
                <a:latin typeface="Meiryo UI" pitchFamily="50" charset="-128"/>
                <a:ea typeface="Meiryo UI" pitchFamily="50" charset="-128"/>
                <a:cs typeface="Meiryo UI" pitchFamily="50" charset="-128"/>
              </a:rPr>
              <a:t>)</a:t>
            </a:r>
            <a:r>
              <a:rPr lang="ja-JP" altLang="en-US" dirty="0">
                <a:latin typeface="Meiryo UI" pitchFamily="50" charset="-128"/>
                <a:ea typeface="Meiryo UI" pitchFamily="50" charset="-128"/>
                <a:cs typeface="Meiryo UI" pitchFamily="50" charset="-128"/>
              </a:rPr>
              <a:t>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７ ／ １１ ）</a:t>
            </a:r>
            <a:endParaRPr kumimoji="1" lang="ja-JP" altLang="en-US" sz="2000" dirty="0">
              <a:latin typeface="Meiryo UI" pitchFamily="50" charset="-128"/>
              <a:ea typeface="Meiryo UI" pitchFamily="50" charset="-128"/>
              <a:cs typeface="Meiryo UI" pitchFamily="50" charset="-128"/>
            </a:endParaRPr>
          </a:p>
        </p:txBody>
      </p:sp>
      <p:sp>
        <p:nvSpPr>
          <p:cNvPr id="7" name="正方形/長方形 6"/>
          <p:cNvSpPr/>
          <p:nvPr/>
        </p:nvSpPr>
        <p:spPr>
          <a:xfrm>
            <a:off x="1749288" y="3371012"/>
            <a:ext cx="1063486" cy="2144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1915764" y="4373218"/>
            <a:ext cx="1175306" cy="2257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1749288" y="5362525"/>
            <a:ext cx="2360543" cy="2484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2" name="表 21"/>
          <p:cNvGraphicFramePr>
            <a:graphicFrameLocks noGrp="1"/>
          </p:cNvGraphicFramePr>
          <p:nvPr/>
        </p:nvGraphicFramePr>
        <p:xfrm>
          <a:off x="4522389" y="3434597"/>
          <a:ext cx="4378960" cy="1686560"/>
        </p:xfrm>
        <a:graphic>
          <a:graphicData uri="http://schemas.openxmlformats.org/drawingml/2006/table">
            <a:tbl>
              <a:tblPr firstRow="1" bandRow="1">
                <a:tableStyleId>{7DF18680-E054-41AD-8BC1-D1AEF772440D}</a:tableStyleId>
              </a:tblPr>
              <a:tblGrid>
                <a:gridCol w="204216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入力値</a:t>
                      </a:r>
                    </a:p>
                  </a:txBody>
                  <a:tcPr anchor="ctr"/>
                </a:tc>
                <a:extLst>
                  <a:ext uri="{0D108BD9-81ED-4DB2-BD59-A6C34878D82A}">
                    <a16:rowId xmlns:a16="http://schemas.microsoft.com/office/drawing/2014/main" val="10000"/>
                  </a:ext>
                </a:extLst>
              </a:tr>
              <a:tr h="339180">
                <a:tc>
                  <a:txBody>
                    <a:bodyPr/>
                    <a:lstStyle/>
                    <a:p>
                      <a:pPr algn="ctr"/>
                      <a:r>
                        <a:rPr kumimoji="1" lang="ja-JP" altLang="en-US" dirty="0">
                          <a:latin typeface="Meiryo UI" panose="020B0604030504040204" pitchFamily="50" charset="-128"/>
                          <a:ea typeface="Meiryo UI" panose="020B0604030504040204" pitchFamily="50" charset="-128"/>
                        </a:rPr>
                        <a:t>会社コード</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1510</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1"/>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仕入先</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ZxxV2</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伝票選択</a:t>
                      </a: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3</a:t>
                      </a:r>
                    </a:p>
                    <a:p>
                      <a:pPr algn="ctr"/>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発注明細ごとの伝票選択</a:t>
                      </a:r>
                      <a:r>
                        <a:rPr kumimoji="1" lang="en-US" altLang="ja-JP" sz="1400" dirty="0">
                          <a:latin typeface="Meiryo UI" panose="020B0604030504040204" pitchFamily="50" charset="-128"/>
                          <a:ea typeface="Meiryo UI" panose="020B0604030504040204" pitchFamily="50" charset="-128"/>
                        </a:rPr>
                        <a:t>)</a:t>
                      </a:r>
                      <a:endParaRPr kumimoji="1" lang="ja-JP" altLang="en-US" sz="14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3"/>
                  </a:ext>
                </a:extLst>
              </a:tr>
            </a:tbl>
          </a:graphicData>
        </a:graphic>
      </p:graphicFrame>
      <p:sp>
        <p:nvSpPr>
          <p:cNvPr id="13" name="正方形/長方形 12"/>
          <p:cNvSpPr/>
          <p:nvPr/>
        </p:nvSpPr>
        <p:spPr>
          <a:xfrm>
            <a:off x="4522304" y="6301409"/>
            <a:ext cx="466214" cy="3423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p:cNvPicPr>
            <a:picLocks noChangeAspect="1"/>
          </p:cNvPicPr>
          <p:nvPr/>
        </p:nvPicPr>
        <p:blipFill>
          <a:blip r:embed="rId4"/>
          <a:stretch>
            <a:fillRect/>
          </a:stretch>
        </p:blipFill>
        <p:spPr>
          <a:xfrm>
            <a:off x="5585453" y="1115286"/>
            <a:ext cx="3441317" cy="360000"/>
          </a:xfrm>
          <a:prstGeom prst="rect">
            <a:avLst/>
          </a:prstGeom>
        </p:spPr>
      </p:pic>
      <p:sp>
        <p:nvSpPr>
          <p:cNvPr id="17" name="正方形/長方形 16"/>
          <p:cNvSpPr/>
          <p:nvPr/>
        </p:nvSpPr>
        <p:spPr>
          <a:xfrm>
            <a:off x="7325139" y="1114961"/>
            <a:ext cx="556591" cy="3460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4197228" y="6025701"/>
            <a:ext cx="415498" cy="369332"/>
          </a:xfrm>
          <a:prstGeom prst="rect">
            <a:avLst/>
          </a:prstGeom>
          <a:noFill/>
        </p:spPr>
        <p:txBody>
          <a:bodyPr wrap="none" rtlCol="0">
            <a:spAutoFit/>
          </a:bodyPr>
          <a:lstStyle/>
          <a:p>
            <a:r>
              <a:rPr lang="ja-JP" altLang="en-US" dirty="0">
                <a:solidFill>
                  <a:srgbClr val="FF0000"/>
                </a:solidFill>
              </a:rPr>
              <a:t>①</a:t>
            </a:r>
            <a:endParaRPr kumimoji="1" lang="ja-JP" altLang="en-US" dirty="0">
              <a:solidFill>
                <a:srgbClr val="FF0000"/>
              </a:solidFill>
            </a:endParaRPr>
          </a:p>
        </p:txBody>
      </p:sp>
    </p:spTree>
    <p:extLst>
      <p:ext uri="{BB962C8B-B14F-4D97-AF65-F5344CB8AC3E}">
        <p14:creationId xmlns:p14="http://schemas.microsoft.com/office/powerpoint/2010/main" val="33781353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198683" y="2092970"/>
            <a:ext cx="8735017" cy="3641894"/>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実行</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実行され、請求書伝票と会計伝票が発行されます。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８ ／ １１ ）</a:t>
            </a:r>
            <a:endParaRPr kumimoji="1" lang="ja-JP" altLang="en-US" sz="2000" dirty="0">
              <a:latin typeface="Meiryo UI" pitchFamily="50" charset="-128"/>
              <a:ea typeface="Meiryo UI" pitchFamily="50" charset="-128"/>
              <a:cs typeface="Meiryo UI" pitchFamily="50" charset="-128"/>
            </a:endParaRPr>
          </a:p>
        </p:txBody>
      </p:sp>
      <p:graphicFrame>
        <p:nvGraphicFramePr>
          <p:cNvPr id="8" name="表 7"/>
          <p:cNvGraphicFramePr>
            <a:graphicFrameLocks noGrp="1"/>
          </p:cNvGraphicFramePr>
          <p:nvPr/>
        </p:nvGraphicFramePr>
        <p:xfrm>
          <a:off x="260351" y="4276672"/>
          <a:ext cx="4378960" cy="2118360"/>
        </p:xfrm>
        <a:graphic>
          <a:graphicData uri="http://schemas.openxmlformats.org/drawingml/2006/table">
            <a:tbl>
              <a:tblPr firstRow="1" bandRow="1">
                <a:tableStyleId>{7DF18680-E054-41AD-8BC1-D1AEF772440D}</a:tableStyleId>
              </a:tblPr>
              <a:tblGrid>
                <a:gridCol w="204216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項目</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伝票内容</a:t>
                      </a:r>
                    </a:p>
                  </a:txBody>
                  <a:tcPr anchor="ctr"/>
                </a:tc>
                <a:extLst>
                  <a:ext uri="{0D108BD9-81ED-4DB2-BD59-A6C34878D82A}">
                    <a16:rowId xmlns:a16="http://schemas.microsoft.com/office/drawing/2014/main" val="10000"/>
                  </a:ext>
                </a:extLst>
              </a:tr>
              <a:tr h="339180">
                <a:tc>
                  <a:txBody>
                    <a:bodyPr/>
                    <a:lstStyle/>
                    <a:p>
                      <a:pPr algn="ctr"/>
                      <a:r>
                        <a:rPr kumimoji="1" lang="ja-JP" altLang="en-US" dirty="0">
                          <a:latin typeface="Meiryo UI" panose="020B0604030504040204" pitchFamily="50" charset="-128"/>
                          <a:ea typeface="Meiryo UI" panose="020B0604030504040204" pitchFamily="50" charset="-128"/>
                        </a:rPr>
                        <a:t>参照伝票</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入出庫伝票</a:t>
                      </a:r>
                    </a:p>
                  </a:txBody>
                  <a:tcPr anchor="ctr"/>
                </a:tc>
                <a:extLst>
                  <a:ext uri="{0D108BD9-81ED-4DB2-BD59-A6C34878D82A}">
                    <a16:rowId xmlns:a16="http://schemas.microsoft.com/office/drawing/2014/main" val="10001"/>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購買伝票</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購買発注伝票</a:t>
                      </a:r>
                    </a:p>
                  </a:txBody>
                  <a:tcPr anchor="ctr"/>
                </a:tc>
                <a:extLst>
                  <a:ext uri="{0D108BD9-81ED-4DB2-BD59-A6C34878D82A}">
                    <a16:rowId xmlns:a16="http://schemas.microsoft.com/office/drawing/2014/main" val="1000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伝票番号</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請求書伝票</a:t>
                      </a:r>
                      <a:endParaRPr kumimoji="1" lang="en-US" altLang="ja-JP"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0003"/>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会計伝票</a:t>
                      </a:r>
                    </a:p>
                  </a:txBody>
                  <a:tcPr anchor="ctr"/>
                </a:tc>
                <a:tc>
                  <a:txBody>
                    <a:bodyPr/>
                    <a:lstStyle/>
                    <a:p>
                      <a:pPr algn="ctr"/>
                      <a:r>
                        <a:rPr kumimoji="1" lang="ja-JP" altLang="en-US" dirty="0">
                          <a:latin typeface="Meiryo UI" panose="020B0604030504040204" pitchFamily="50" charset="-128"/>
                          <a:ea typeface="Meiryo UI" panose="020B0604030504040204" pitchFamily="50" charset="-128"/>
                        </a:rPr>
                        <a:t>請求書照合時</a:t>
                      </a:r>
                      <a:endParaRPr kumimoji="1" lang="en-US" altLang="ja-JP" dirty="0">
                        <a:latin typeface="Meiryo UI" panose="020B0604030504040204" pitchFamily="50" charset="-128"/>
                        <a:ea typeface="Meiryo UI" panose="020B0604030504040204" pitchFamily="50" charset="-128"/>
                      </a:endParaRPr>
                    </a:p>
                    <a:p>
                      <a:pPr algn="ctr"/>
                      <a:r>
                        <a:rPr kumimoji="1" lang="ja-JP" altLang="en-US" dirty="0">
                          <a:latin typeface="Meiryo UI" panose="020B0604030504040204" pitchFamily="50" charset="-128"/>
                          <a:ea typeface="Meiryo UI" panose="020B0604030504040204" pitchFamily="50" charset="-128"/>
                        </a:rPr>
                        <a:t>会計伝票</a:t>
                      </a:r>
                    </a:p>
                  </a:txBody>
                  <a:tcPr anchor="ctr"/>
                </a:tc>
                <a:extLst>
                  <a:ext uri="{0D108BD9-81ED-4DB2-BD59-A6C34878D82A}">
                    <a16:rowId xmlns:a16="http://schemas.microsoft.com/office/drawing/2014/main" val="10004"/>
                  </a:ext>
                </a:extLst>
              </a:tr>
            </a:tbl>
          </a:graphicData>
        </a:graphic>
      </p:graphicFrame>
      <p:pic>
        <p:nvPicPr>
          <p:cNvPr id="10" name="図 9"/>
          <p:cNvPicPr>
            <a:picLocks noChangeAspect="1"/>
          </p:cNvPicPr>
          <p:nvPr/>
        </p:nvPicPr>
        <p:blipFill>
          <a:blip r:embed="rId3"/>
          <a:stretch>
            <a:fillRect/>
          </a:stretch>
        </p:blipFill>
        <p:spPr>
          <a:xfrm>
            <a:off x="5585453" y="1115286"/>
            <a:ext cx="3441317" cy="360000"/>
          </a:xfrm>
          <a:prstGeom prst="rect">
            <a:avLst/>
          </a:prstGeom>
        </p:spPr>
      </p:pic>
      <p:sp>
        <p:nvSpPr>
          <p:cNvPr id="11" name="正方形/長方形 10"/>
          <p:cNvSpPr/>
          <p:nvPr/>
        </p:nvSpPr>
        <p:spPr>
          <a:xfrm>
            <a:off x="7901610" y="1114961"/>
            <a:ext cx="556591" cy="3460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p:cNvSpPr/>
          <p:nvPr/>
        </p:nvSpPr>
        <p:spPr>
          <a:xfrm>
            <a:off x="1520687" y="3389243"/>
            <a:ext cx="685800" cy="4770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2842691" y="3379303"/>
            <a:ext cx="685800" cy="4770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4299643" y="3399181"/>
            <a:ext cx="685800" cy="4770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p:nvSpPr>
        <p:spPr>
          <a:xfrm>
            <a:off x="5794513" y="3389240"/>
            <a:ext cx="681129" cy="4870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754312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p:cNvPicPr>
            <a:picLocks noChangeAspect="1"/>
          </p:cNvPicPr>
          <p:nvPr/>
        </p:nvPicPr>
        <p:blipFill>
          <a:blip r:embed="rId2"/>
          <a:stretch>
            <a:fillRect/>
          </a:stretch>
        </p:blipFill>
        <p:spPr>
          <a:xfrm>
            <a:off x="198683" y="2523935"/>
            <a:ext cx="8180004" cy="1248805"/>
          </a:xfrm>
          <a:prstGeom prst="rect">
            <a:avLst/>
          </a:prstGeom>
        </p:spPr>
      </p:pic>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結果確認</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a:pPr>
            <a:r>
              <a:rPr lang="ja-JP" altLang="en-US" dirty="0">
                <a:latin typeface="Meiryo UI" pitchFamily="50" charset="-128"/>
                <a:ea typeface="Meiryo UI" pitchFamily="50" charset="-128"/>
                <a:cs typeface="Meiryo UI" pitchFamily="50" charset="-128"/>
              </a:rPr>
              <a:t>各伝票番号をクリックするとその伝票の照会画面へ遷移します。</a:t>
            </a:r>
            <a:br>
              <a:rPr lang="en-US" altLang="ja-JP" dirty="0">
                <a:latin typeface="Meiryo UI" pitchFamily="50" charset="-128"/>
                <a:ea typeface="Meiryo UI" pitchFamily="50" charset="-128"/>
                <a:cs typeface="Meiryo UI" pitchFamily="50" charset="-128"/>
              </a:rPr>
            </a:br>
            <a:r>
              <a:rPr lang="ja-JP" altLang="en-US" dirty="0">
                <a:latin typeface="Meiryo UI" pitchFamily="50" charset="-128"/>
                <a:ea typeface="Meiryo UI" pitchFamily="50" charset="-128"/>
                <a:cs typeface="Meiryo UI" pitchFamily="50" charset="-128"/>
              </a:rPr>
              <a:t>請求書番号をクリックします。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９ ／ １１ ）</a:t>
            </a:r>
            <a:endParaRPr kumimoji="1" lang="ja-JP" altLang="en-US" sz="2000" dirty="0">
              <a:latin typeface="Meiryo UI" pitchFamily="50" charset="-128"/>
              <a:ea typeface="Meiryo UI" pitchFamily="50" charset="-128"/>
              <a:cs typeface="Meiryo UI" pitchFamily="50" charset="-128"/>
            </a:endParaRPr>
          </a:p>
        </p:txBody>
      </p:sp>
      <p:sp>
        <p:nvSpPr>
          <p:cNvPr id="13" name="正方形/長方形 12"/>
          <p:cNvSpPr/>
          <p:nvPr/>
        </p:nvSpPr>
        <p:spPr>
          <a:xfrm>
            <a:off x="4114163" y="3114264"/>
            <a:ext cx="715617" cy="6584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3"/>
          <a:stretch>
            <a:fillRect/>
          </a:stretch>
        </p:blipFill>
        <p:spPr>
          <a:xfrm>
            <a:off x="5585453" y="1115286"/>
            <a:ext cx="3441317" cy="360000"/>
          </a:xfrm>
          <a:prstGeom prst="rect">
            <a:avLst/>
          </a:prstGeom>
        </p:spPr>
      </p:pic>
      <p:sp>
        <p:nvSpPr>
          <p:cNvPr id="9" name="正方形/長方形 8"/>
          <p:cNvSpPr/>
          <p:nvPr/>
        </p:nvSpPr>
        <p:spPr>
          <a:xfrm>
            <a:off x="8468132" y="1114961"/>
            <a:ext cx="556591" cy="3460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30561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結果確認</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en-US" altLang="ja-JP" dirty="0">
                <a:latin typeface="Meiryo UI" pitchFamily="50" charset="-128"/>
                <a:ea typeface="Meiryo UI" pitchFamily="50" charset="-128"/>
                <a:cs typeface="Meiryo UI" pitchFamily="50" charset="-128"/>
              </a:rPr>
              <a:t>ERS</a:t>
            </a:r>
            <a:r>
              <a:rPr lang="ja-JP" altLang="en-US" dirty="0">
                <a:latin typeface="Meiryo UI" pitchFamily="50" charset="-128"/>
                <a:ea typeface="Meiryo UI" pitchFamily="50" charset="-128"/>
                <a:cs typeface="Meiryo UI" pitchFamily="50" charset="-128"/>
              </a:rPr>
              <a:t>により自動で登録された伝票が照会されます。</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2"/>
            </a:pPr>
            <a:r>
              <a:rPr lang="ja-JP" altLang="en-US" dirty="0">
                <a:latin typeface="Meiryo UI" pitchFamily="50" charset="-128"/>
                <a:ea typeface="Meiryo UI" pitchFamily="50" charset="-128"/>
                <a:cs typeface="Meiryo UI" pitchFamily="50" charset="-128"/>
              </a:rPr>
              <a:t>メニューバーの後続伝票をクリックします。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１０ ／ １１ ）</a:t>
            </a:r>
            <a:endParaRPr kumimoji="1" lang="ja-JP" altLang="en-US" sz="2000" dirty="0">
              <a:latin typeface="Meiryo UI" pitchFamily="50" charset="-128"/>
              <a:ea typeface="Meiryo UI" pitchFamily="50" charset="-128"/>
              <a:cs typeface="Meiryo UI" pitchFamily="50" charset="-128"/>
            </a:endParaRPr>
          </a:p>
        </p:txBody>
      </p:sp>
      <p:pic>
        <p:nvPicPr>
          <p:cNvPr id="19" name="図 18"/>
          <p:cNvPicPr>
            <a:picLocks noChangeAspect="1"/>
          </p:cNvPicPr>
          <p:nvPr/>
        </p:nvPicPr>
        <p:blipFill>
          <a:blip r:embed="rId2"/>
          <a:stretch>
            <a:fillRect/>
          </a:stretch>
        </p:blipFill>
        <p:spPr>
          <a:xfrm>
            <a:off x="198683" y="2535726"/>
            <a:ext cx="7683233" cy="4157750"/>
          </a:xfrm>
          <a:prstGeom prst="rect">
            <a:avLst/>
          </a:prstGeom>
        </p:spPr>
      </p:pic>
      <p:sp>
        <p:nvSpPr>
          <p:cNvPr id="20" name="正方形/長方形 19"/>
          <p:cNvSpPr/>
          <p:nvPr/>
        </p:nvSpPr>
        <p:spPr>
          <a:xfrm>
            <a:off x="2005445" y="2917586"/>
            <a:ext cx="394855" cy="218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図 21"/>
          <p:cNvPicPr>
            <a:picLocks noChangeAspect="1"/>
          </p:cNvPicPr>
          <p:nvPr/>
        </p:nvPicPr>
        <p:blipFill>
          <a:blip r:embed="rId3"/>
          <a:stretch>
            <a:fillRect/>
          </a:stretch>
        </p:blipFill>
        <p:spPr>
          <a:xfrm>
            <a:off x="5585453" y="1115286"/>
            <a:ext cx="3441317" cy="360000"/>
          </a:xfrm>
          <a:prstGeom prst="rect">
            <a:avLst/>
          </a:prstGeom>
        </p:spPr>
      </p:pic>
      <p:sp>
        <p:nvSpPr>
          <p:cNvPr id="23" name="正方形/長方形 22"/>
          <p:cNvSpPr/>
          <p:nvPr/>
        </p:nvSpPr>
        <p:spPr>
          <a:xfrm>
            <a:off x="8468132" y="1114961"/>
            <a:ext cx="556591" cy="3460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376458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5"/>
          <p:cNvSpPr>
            <a:spLocks noChangeArrowheads="1"/>
          </p:cNvSpPr>
          <p:nvPr/>
        </p:nvSpPr>
        <p:spPr bwMode="auto">
          <a:xfrm>
            <a:off x="198683" y="1150448"/>
            <a:ext cx="8828087" cy="5244585"/>
          </a:xfrm>
          <a:prstGeom prst="rect">
            <a:avLst/>
          </a:prstGeom>
          <a:noFill/>
          <a:ln w="12700">
            <a:noFill/>
            <a:miter lim="800000"/>
            <a:headEnd/>
            <a:tailEnd/>
          </a:ln>
          <a:effectLst/>
        </p:spPr>
        <p:txBody>
          <a:bodyPr lIns="90488" tIns="44450" rIns="90488" bIns="44450"/>
          <a:lstStyle/>
          <a:p>
            <a:pPr marL="285750" indent="-285750" eaLnBrk="0" hangingPunct="0">
              <a:lnSpc>
                <a:spcPct val="150000"/>
              </a:lnSpc>
              <a:spcBef>
                <a:spcPct val="20000"/>
              </a:spcBef>
              <a:buClr>
                <a:srgbClr val="002289"/>
              </a:buClr>
              <a:buSzPct val="113000"/>
              <a:buFont typeface="Wingdings" panose="05000000000000000000" pitchFamily="2" charset="2"/>
              <a:buChar char="n"/>
            </a:pPr>
            <a:r>
              <a:rPr lang="ja-JP" altLang="en-US" dirty="0">
                <a:latin typeface="Meiryo UI" pitchFamily="50" charset="-128"/>
                <a:ea typeface="Meiryo UI" pitchFamily="50" charset="-128"/>
                <a:cs typeface="Meiryo UI" pitchFamily="50" charset="-128"/>
              </a:rPr>
              <a:t>結果確認</a:t>
            </a:r>
            <a:endParaRPr lang="en-US" altLang="ja-JP" dirty="0">
              <a:latin typeface="Meiryo UI" pitchFamily="50" charset="-128"/>
              <a:ea typeface="Meiryo UI" pitchFamily="50" charset="-128"/>
              <a:cs typeface="Meiryo UI" pitchFamily="50" charset="-128"/>
            </a:endParaRPr>
          </a:p>
          <a:p>
            <a:pPr marL="342900" indent="-342900" eaLnBrk="0" hangingPunct="0">
              <a:lnSpc>
                <a:spcPct val="150000"/>
              </a:lnSpc>
              <a:spcBef>
                <a:spcPct val="20000"/>
              </a:spcBef>
              <a:buClr>
                <a:srgbClr val="002289"/>
              </a:buClr>
              <a:buSzPct val="113000"/>
              <a:buFont typeface="+mj-lt"/>
              <a:buAutoNum type="arabicPeriod" startAt="4"/>
            </a:pPr>
            <a:r>
              <a:rPr lang="ja-JP" altLang="en-US" dirty="0">
                <a:latin typeface="Meiryo UI" pitchFamily="50" charset="-128"/>
                <a:ea typeface="Meiryo UI" pitchFamily="50" charset="-128"/>
                <a:cs typeface="Meiryo UI" pitchFamily="50" charset="-128"/>
              </a:rPr>
              <a:t>請求書照合時に同時に生成された会計伝票が照会されます。</a:t>
            </a:r>
            <a:endParaRPr lang="en-US" altLang="ja-JP" dirty="0">
              <a:latin typeface="Meiryo UI" pitchFamily="50" charset="-128"/>
              <a:ea typeface="Meiryo UI" pitchFamily="50" charset="-128"/>
              <a:cs typeface="Meiryo UI" pitchFamily="50" charset="-128"/>
            </a:endParaRPr>
          </a:p>
          <a:p>
            <a:pPr eaLnBrk="0" hangingPunct="0">
              <a:lnSpc>
                <a:spcPct val="150000"/>
              </a:lnSpc>
              <a:spcBef>
                <a:spcPct val="20000"/>
              </a:spcBef>
              <a:buClr>
                <a:srgbClr val="002289"/>
              </a:buClr>
              <a:buSzPct val="113000"/>
            </a:pPr>
            <a:endParaRPr lang="en-US" altLang="ja-JP" dirty="0">
              <a:latin typeface="Meiryo UI" pitchFamily="50" charset="-128"/>
              <a:ea typeface="Meiryo UI" pitchFamily="50" charset="-128"/>
              <a:cs typeface="Meiryo UI" pitchFamily="50" charset="-128"/>
            </a:endParaRPr>
          </a:p>
        </p:txBody>
      </p:sp>
      <p:sp>
        <p:nvSpPr>
          <p:cNvPr id="27" name="タイトル 1">
            <a:extLst>
              <a:ext uri="{FF2B5EF4-FFF2-40B4-BE49-F238E27FC236}">
                <a16:creationId xmlns:a16="http://schemas.microsoft.com/office/drawing/2014/main" id="{B3E37ECC-8040-4EDD-AA4A-365A794A0E40}"/>
              </a:ext>
            </a:extLst>
          </p:cNvPr>
          <p:cNvSpPr>
            <a:spLocks noGrp="1"/>
          </p:cNvSpPr>
          <p:nvPr>
            <p:ph type="title"/>
          </p:nvPr>
        </p:nvSpPr>
        <p:spPr>
          <a:xfrm>
            <a:off x="260351" y="217488"/>
            <a:ext cx="7185025" cy="684212"/>
          </a:xfrm>
        </p:spPr>
        <p:txBody>
          <a:bodyPr/>
          <a:lstStyle/>
          <a:p>
            <a:r>
              <a:rPr lang="ja-JP" altLang="en-US" sz="2000" dirty="0">
                <a:latin typeface="Meiryo UI" pitchFamily="50" charset="-128"/>
                <a:ea typeface="Meiryo UI" pitchFamily="50" charset="-128"/>
                <a:cs typeface="Meiryo UI" pitchFamily="50" charset="-128"/>
              </a:rPr>
              <a:t>６．</a:t>
            </a:r>
            <a:r>
              <a:rPr lang="en-US" altLang="ja-JP" sz="2000" dirty="0">
                <a:latin typeface="Meiryo UI" pitchFamily="50" charset="-128"/>
                <a:ea typeface="Meiryo UI" pitchFamily="50" charset="-128"/>
                <a:cs typeface="Meiryo UI" pitchFamily="50" charset="-128"/>
              </a:rPr>
              <a:t>(XXXX)</a:t>
            </a:r>
            <a:r>
              <a:rPr lang="ja-JP" altLang="en-US" sz="2000" dirty="0">
                <a:latin typeface="Meiryo UI" pitchFamily="50" charset="-128"/>
                <a:ea typeface="Meiryo UI" pitchFamily="50" charset="-128"/>
                <a:cs typeface="Meiryo UI" pitchFamily="50" charset="-128"/>
              </a:rPr>
              <a:t>様における業務プロセスの確認</a:t>
            </a:r>
            <a:br>
              <a:rPr lang="en-US" altLang="ja-JP" sz="2000" dirty="0">
                <a:latin typeface="Meiryo UI" pitchFamily="50" charset="-128"/>
                <a:ea typeface="Meiryo UI" pitchFamily="50" charset="-128"/>
                <a:cs typeface="Meiryo UI" pitchFamily="50" charset="-128"/>
              </a:rPr>
            </a:b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６．７</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自動請求書照合</a:t>
            </a:r>
            <a:r>
              <a:rPr lang="en-US" altLang="ja-JP" sz="2000" dirty="0">
                <a:latin typeface="Meiryo UI" pitchFamily="50" charset="-128"/>
                <a:ea typeface="Meiryo UI" pitchFamily="50" charset="-128"/>
                <a:cs typeface="Meiryo UI" pitchFamily="50" charset="-128"/>
              </a:rPr>
              <a:t>(ERS)</a:t>
            </a:r>
            <a:r>
              <a:rPr lang="ja-JP" altLang="en-US" sz="2000" dirty="0">
                <a:latin typeface="Meiryo UI" pitchFamily="50" charset="-128"/>
                <a:ea typeface="Meiryo UI" pitchFamily="50" charset="-128"/>
                <a:cs typeface="Meiryo UI" pitchFamily="50" charset="-128"/>
              </a:rPr>
              <a:t> （ １１ ／ １１ ）</a:t>
            </a:r>
            <a:endParaRPr kumimoji="1" lang="ja-JP" altLang="en-US" sz="2000" dirty="0">
              <a:latin typeface="Meiryo UI" pitchFamily="50" charset="-128"/>
              <a:ea typeface="Meiryo UI" pitchFamily="50" charset="-128"/>
              <a:cs typeface="Meiryo UI" pitchFamily="50" charset="-128"/>
            </a:endParaRPr>
          </a:p>
        </p:txBody>
      </p:sp>
      <p:pic>
        <p:nvPicPr>
          <p:cNvPr id="2" name="図 1"/>
          <p:cNvPicPr>
            <a:picLocks noChangeAspect="1"/>
          </p:cNvPicPr>
          <p:nvPr/>
        </p:nvPicPr>
        <p:blipFill>
          <a:blip r:embed="rId2"/>
          <a:stretch>
            <a:fillRect/>
          </a:stretch>
        </p:blipFill>
        <p:spPr>
          <a:xfrm>
            <a:off x="260350" y="2144464"/>
            <a:ext cx="7949371" cy="4301769"/>
          </a:xfrm>
          <a:prstGeom prst="rect">
            <a:avLst/>
          </a:prstGeom>
        </p:spPr>
      </p:pic>
      <p:pic>
        <p:nvPicPr>
          <p:cNvPr id="9" name="図 8"/>
          <p:cNvPicPr>
            <a:picLocks noChangeAspect="1"/>
          </p:cNvPicPr>
          <p:nvPr/>
        </p:nvPicPr>
        <p:blipFill>
          <a:blip r:embed="rId3"/>
          <a:stretch>
            <a:fillRect/>
          </a:stretch>
        </p:blipFill>
        <p:spPr>
          <a:xfrm>
            <a:off x="5585453" y="1115286"/>
            <a:ext cx="3441317" cy="360000"/>
          </a:xfrm>
          <a:prstGeom prst="rect">
            <a:avLst/>
          </a:prstGeom>
        </p:spPr>
      </p:pic>
      <p:sp>
        <p:nvSpPr>
          <p:cNvPr id="10" name="正方形/長方形 9"/>
          <p:cNvSpPr/>
          <p:nvPr/>
        </p:nvSpPr>
        <p:spPr>
          <a:xfrm>
            <a:off x="8468132" y="1114961"/>
            <a:ext cx="556591" cy="3460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59751766"/>
      </p:ext>
    </p:extLst>
  </p:cSld>
  <p:clrMapOvr>
    <a:masterClrMapping/>
  </p:clrMapOvr>
</p:sld>
</file>

<file path=ppt/theme/theme1.xml><?xml version="1.0" encoding="utf-8"?>
<a:theme xmlns:a="http://schemas.openxmlformats.org/drawingml/2006/main" name="JSI">
  <a:themeElements>
    <a:clrScheme name="color">
      <a:dk1>
        <a:sysClr val="windowText" lastClr="000000"/>
      </a:dk1>
      <a:lt1>
        <a:sysClr val="window" lastClr="FFFFFF"/>
      </a:lt1>
      <a:dk2>
        <a:srgbClr val="1F497D"/>
      </a:dk2>
      <a:lt2>
        <a:srgbClr val="EEECE1"/>
      </a:lt2>
      <a:accent1>
        <a:srgbClr val="4F81BD"/>
      </a:accent1>
      <a:accent2>
        <a:srgbClr val="7F7F7F"/>
      </a:accent2>
      <a:accent3>
        <a:srgbClr val="9BBB59"/>
      </a:accent3>
      <a:accent4>
        <a:srgbClr val="8064A2"/>
      </a:accent4>
      <a:accent5>
        <a:srgbClr val="0191DE"/>
      </a:accent5>
      <a:accent6>
        <a:srgbClr val="F79646"/>
      </a:accent6>
      <a:hlink>
        <a:srgbClr val="0000FF"/>
      </a:hlink>
      <a:folHlink>
        <a:srgbClr val="800080"/>
      </a:folHlink>
    </a:clrScheme>
    <a:fontScheme name="MSUIGothic+Tahoma">
      <a:majorFont>
        <a:latin typeface="Tahoma"/>
        <a:ea typeface="MS UI Gothic"/>
        <a:cs typeface=""/>
      </a:majorFont>
      <a:minorFont>
        <a:latin typeface="Tahoma"/>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a:solidFill>
            <a:srgbClr val="FF0000"/>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
</file>

<file path=customXml/item2.xml><?xml version="1.0" encoding="utf-8"?>
<Application xmlns="http://www.sap.com/cof/ao/powerpoint/application">
  <com.sap.ip.bi.pioneer>
    <Version>4</Version>
    <AAO_Revision>2.5.200.73632</AAO_Revision>
    <RefreshOnOpen>False</RefreshOnOpen>
    <PlanningModeSetToChangeMode>True</PlanningModeSetToChangeMode>
    <Cleaned>False</Cleaned>
    <ForcePromptOnInitialRefresh>False</ForcePromptOnInitialRefresh>
    <StorePromptsInDocument>True</StorePromptsInDocument>
    <MergeVariables>False</MergeVariables>
    <WorkingMode>Local</WorkingMode>
    <RefreshPlanningObjectsOnRefreshAll>True</RefreshPlanningObjectsOnRefreshAll>
    <Items/>
  </com.sap.ip.bi.pioneer>
</Application>
</file>

<file path=customXml/item3.xml><?xml version="1.0" encoding="utf-8"?>
<Application xmlns="http://www.sap.com/cof/powerpoint/application">
  <Version>2</Version>
  <Revision>2.5.200.73632</Revision>
</Application>
</file>

<file path=customXml/itemProps1.xml><?xml version="1.0" encoding="utf-8"?>
<ds:datastoreItem xmlns:ds="http://schemas.openxmlformats.org/officeDocument/2006/customXml" ds:itemID="{7FBD6573-9D52-4E49-953D-C71AF610F131}"/>
</file>

<file path=customXml/itemProps2.xml><?xml version="1.0" encoding="utf-8"?>
<ds:datastoreItem xmlns:ds="http://schemas.openxmlformats.org/officeDocument/2006/customXml" ds:itemID="{52A769F8-AD0A-4798-BE25-17A50E3688F8}">
  <ds:schemaRefs>
    <ds:schemaRef ds:uri="http://www.sap.com/cof/ao/powerpoint/application"/>
  </ds:schemaRefs>
</ds:datastoreItem>
</file>

<file path=customXml/itemProps3.xml><?xml version="1.0" encoding="utf-8"?>
<ds:datastoreItem xmlns:ds="http://schemas.openxmlformats.org/officeDocument/2006/customXml" ds:itemID="{3C9489E9-0130-4C54-822A-C9971BE25DFA}">
  <ds:schemaRefs>
    <ds:schemaRef ds:uri="http://www.sap.com/cof/powerpoint/application"/>
  </ds:schemaRefs>
</ds:datastoreItem>
</file>

<file path=docProps/app.xml><?xml version="1.0" encoding="utf-8"?>
<Properties xmlns="http://schemas.openxmlformats.org/officeDocument/2006/extended-properties" xmlns:vt="http://schemas.openxmlformats.org/officeDocument/2006/docPropsVTypes">
  <Template>template</Template>
  <TotalTime>40158</TotalTime>
  <Words>6492</Words>
  <Application>Microsoft Office PowerPoint</Application>
  <PresentationFormat>画面に合わせる (4:3)</PresentationFormat>
  <Paragraphs>1400</Paragraphs>
  <Slides>88</Slides>
  <Notes>27</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88</vt:i4>
      </vt:variant>
    </vt:vector>
  </HeadingPairs>
  <TitlesOfParts>
    <vt:vector size="96" baseType="lpstr">
      <vt:lpstr>Meiryo UI</vt:lpstr>
      <vt:lpstr>MS UI Gothic</vt:lpstr>
      <vt:lpstr>Arial</vt:lpstr>
      <vt:lpstr>Calibri</vt:lpstr>
      <vt:lpstr>Tahoma</vt:lpstr>
      <vt:lpstr>Times New Roman</vt:lpstr>
      <vt:lpstr>Wingdings</vt:lpstr>
      <vt:lpstr>JSI</vt:lpstr>
      <vt:lpstr>PowerPoint プレゼンテーション</vt:lpstr>
      <vt:lpstr>本トレーニングの目的</vt:lpstr>
      <vt:lpstr>目次</vt:lpstr>
      <vt:lpstr>目次</vt:lpstr>
      <vt:lpstr>目次</vt:lpstr>
      <vt:lpstr>目次</vt:lpstr>
      <vt:lpstr>６．(XXXX)様における業務プロセスの確認</vt:lpstr>
      <vt:lpstr>目次</vt:lpstr>
      <vt:lpstr>６．(XXXX)様における業務プロセスの確認   ６．１ 購買依頼の登録・承認 （ １ ／ １２ ）</vt:lpstr>
      <vt:lpstr>６．(XXXX)様における業務プロセスの確認   ６．１ 購買依頼の登録・承認 （ ２ ／ １２ ）</vt:lpstr>
      <vt:lpstr>６．(XXXX)様における業務プロセスの確認   ６．１ 購買依頼の登録・承認 （ ３ ／ １２ ）</vt:lpstr>
      <vt:lpstr>６．(XXXX)様における業務プロセスの確認   ６．１ 購買依頼の登録・承認 （ ４ ／ １２ ）</vt:lpstr>
      <vt:lpstr>６．(XXXX)様における業務プロセスの確認   ６．１ 購買依頼の登録・承認 （ ５ ／ １２ ）</vt:lpstr>
      <vt:lpstr>６．(XXXX)様における業務プロセスの確認   ６．１ 購買依頼の登録・承認 （ ６ ／ １２ ）</vt:lpstr>
      <vt:lpstr>６．(XXXX)様における業務プロセスの確認   ６．１ 購買依頼の登録・承認 （ ７ ／ １２ ）</vt:lpstr>
      <vt:lpstr>６．(XXXX)様における業務プロセスの確認   ６．１ 購買依頼の登録・承認 （ ８ ／ １２ ）</vt:lpstr>
      <vt:lpstr>６．(XXXX)様における業務プロセスの確認   ６．１ 購買依頼の登録・承認 （ ９ ／ １２ ）</vt:lpstr>
      <vt:lpstr>６．(XXXX)様における業務プロセスの確認   ６．１ 購買依頼の登録・承認 （ １０ ／ １２ ）</vt:lpstr>
      <vt:lpstr>６．(XXXX)様における業務プロセスの確認   ６．１ 購買依頼の登録・承認 （ １１ ／ １２ ）</vt:lpstr>
      <vt:lpstr>６．(XXXX)様における業務プロセスの確認   ６．１ 購買依頼の登録・承認 （ １２ ／ １２ ）</vt:lpstr>
      <vt:lpstr>目次</vt:lpstr>
      <vt:lpstr>６．(XXXX)様における業務プロセスの確認   ６．２ 見積依頼の登録 （ ２ ／ １１ ）</vt:lpstr>
      <vt:lpstr>６．(XXXX)様における業務プロセスの確認   ６．２ 見積依頼の登録 （ ２ ／ １１ ）</vt:lpstr>
      <vt:lpstr>６．(XXXX)様における業務プロセスの確認   ６．２ 見積依頼の登録 （ ３ ／ １１ ）</vt:lpstr>
      <vt:lpstr>６．(XXXX)様における業務プロセスの確認   ６．２ 見積依頼の登録 （ ４ ／ １１ ）</vt:lpstr>
      <vt:lpstr>６．(XXXX)様における業務プロセスの確認   ６．２ 見積依頼の登録 （ ５ ／ １１ ）</vt:lpstr>
      <vt:lpstr>６．(XXXX)様における業務プロセスの確認   ６．２ 見積依頼の登録 （ ６ ／ １１ ）</vt:lpstr>
      <vt:lpstr>６．(XXXX)様における業務プロセスの確認   ６．２ 見積依頼の登録 （ ７ ／ １１ ）</vt:lpstr>
      <vt:lpstr>６．(XXXX)様における業務プロセスの確認   ６．２ 見積依頼の登録 （ ８ ／ １１ ）</vt:lpstr>
      <vt:lpstr>６．(XXXX)様における業務プロセスの確認   ６．２ 見積依頼の登録 （ ９ ／ １１ ）</vt:lpstr>
      <vt:lpstr>６．(XXXX)様における業務プロセスの確認   ６．２ 見積依頼の登録 （ １０ ／ １１ ）</vt:lpstr>
      <vt:lpstr>６．(XXXX)様における業務プロセスの確認   ６．２ 見積依頼の登録 （ １１ ／ １１ ）</vt:lpstr>
      <vt:lpstr>目次</vt:lpstr>
      <vt:lpstr>６．(XXXX)様における業務プロセスの確認   ６．３ 見積回答の登録 （ １ ／ １２ ）</vt:lpstr>
      <vt:lpstr>６．(XXXX)様における業務プロセスの確認   ６．３ 見積回答の登録 （ ２ ／ １２ ）</vt:lpstr>
      <vt:lpstr>６．(XXXX)様における業務プロセスの確認   ６．３ 見積回答の登録 （ ３ ／ １２ ）</vt:lpstr>
      <vt:lpstr>６．(XXXX)様における業務プロセスの確認   ６．３ 見積回答の登録 （ ４ ／ １２ ）</vt:lpstr>
      <vt:lpstr>６．(XXXX)様における業務プロセスの確認   ６．３ 見積回答の登録 （ ５ ／ １２ ）</vt:lpstr>
      <vt:lpstr>６．(XXXX)様における業務プロセスの確認   ６．３ 見積回答の登録 （ ６ ／ １２ ）</vt:lpstr>
      <vt:lpstr>６．(XXXX)様における業務プロセスの確認   ６．３ 見積回答の登録 （ ７ ／ １２ ）</vt:lpstr>
      <vt:lpstr>６．(XXXX)様における業務プロセスの確認   ６．３ 見積回答の登録 （ ８ ／ １２ ）</vt:lpstr>
      <vt:lpstr>６．(XXXX)様における業務プロセスの確認   ６．３ 見積回答の登録 （ ９ ／ １２ ）</vt:lpstr>
      <vt:lpstr>６．(XXXX)様における業務プロセスの確認   ６．３ 見積回答の登録 （ １０ ／ １２ ）</vt:lpstr>
      <vt:lpstr>６．(XXXX)様における業務プロセスの確認   ６．３ 見積回答の登録 （ １１ ／ １２ ）</vt:lpstr>
      <vt:lpstr>６．(XXXX)様における業務プロセスの確認   ６．３ 見積回答の登録 （ １２ ／ １２ ）</vt:lpstr>
      <vt:lpstr>目次</vt:lpstr>
      <vt:lpstr>６．(XXXX)様における業務プロセスの確認   ６．４ 見積結果の比較 （ １ ／ １２ ）</vt:lpstr>
      <vt:lpstr>６．(XXXX)様における業務プロセスの確認   ６．４ 見積結果の比較 （ ２ ／ １２ ）</vt:lpstr>
      <vt:lpstr>６．(XXXX)様における業務プロセスの確認   ６．４ 見積結果の比較 （ ３ ／ １２ ）</vt:lpstr>
      <vt:lpstr>６．(XXXX)様における業務プロセスの確認   ６．４ 見積結果の比較 （ ４ ／ １２ ）</vt:lpstr>
      <vt:lpstr>６．(XXXX)様における業務プロセスの確認   ６．４ 見積結果の比較 （ ５ ／ １２ ）</vt:lpstr>
      <vt:lpstr>６．(XXXX)様における業務プロセスの確認   ６．４ 見積結果の比較 （ ６ ／ １２ ）</vt:lpstr>
      <vt:lpstr>６．(XXXX)様における業務プロセスの確認   ６．４ 見積結果の比較 （ ７ ／ １２ ）</vt:lpstr>
      <vt:lpstr>６．(XXXX)様における業務プロセスの確認   ６．４ 見積結果の比較 （ ８ ／ １２ ）</vt:lpstr>
      <vt:lpstr>６．(XXXX)様における業務プロセスの確認   ６．４ 見積結果の比較 （ ９ ／ １２ ）</vt:lpstr>
      <vt:lpstr>６．(XXXX)様における業務プロセスの確認   ６．４ 見積結果の比較 （ １０ ／ １２ ）</vt:lpstr>
      <vt:lpstr>６．(XXXX)様における業務プロセスの確認   ６．４ 見積結果の比較 （ １１ ／１２ ）</vt:lpstr>
      <vt:lpstr>６．(XXXX)様における業務プロセスの確認   ６．４ 見積結果の比較 （ １２ ／ １２ ）</vt:lpstr>
      <vt:lpstr>目次</vt:lpstr>
      <vt:lpstr>６．(XXXX)様における業務プロセスの確認   ６．５ 購買発注の登録 （ １ ／ １０ ）</vt:lpstr>
      <vt:lpstr>６．(XXXX)様における業務プロセスの確認   ６．５ 購買発注の登録 （ ２ ／ １０ ）</vt:lpstr>
      <vt:lpstr>６．(XXXX)様における業務プロセスの確認   ６．５ 購買発注の登録 （ ３ ／ １０ ）</vt:lpstr>
      <vt:lpstr>６．(XXXX)様における業務プロセスの確認   ６．５ 購買発注の登録 （ ４ ／ １０ ）</vt:lpstr>
      <vt:lpstr>６．(XXXX)様における業務プロセスの確認   ６．５ 購買発注の登録 （ ５ ／ １０ ）</vt:lpstr>
      <vt:lpstr>６．(XXXX)様における業務プロセスの確認   ６．５ 購買発注の登録 （ ６ ／ １０ ）</vt:lpstr>
      <vt:lpstr>６．(XXXX)様における業務プロセスの確認   ６．５ 購買発注の登録 （ ７ ／ １０ ）</vt:lpstr>
      <vt:lpstr>６．(XXXX)様における業務プロセスの確認   ６．５ 購買発注の登録 （ ８ ／ １０ ）</vt:lpstr>
      <vt:lpstr>６．(XXXX)様における業務プロセスの確認   ６．５ 購買発注の登録 （ ９ ／ １０ ）</vt:lpstr>
      <vt:lpstr>６．(XXXX)様における業務プロセスの確認   ６．５ 購買発注の登録 （ １０ ／ １０ ）</vt:lpstr>
      <vt:lpstr>目次</vt:lpstr>
      <vt:lpstr>６．(XXXX)様における業務プロセスの確認   ６．６ 購買発注の入庫 （ １ ／ ６ ）</vt:lpstr>
      <vt:lpstr>６．(XXXX)様における業務プロセスの確認   ６．６ 購買発注の入庫 （ ２ ／ ６ ）</vt:lpstr>
      <vt:lpstr>６．(XXXX)様における業務プロセスの確認   ６．６ 購買発注の入庫 （ ３ ／ ６ ）</vt:lpstr>
      <vt:lpstr>６．(XXXX)様における業務プロセスの確認   ６．６ 購買発注の入庫 （ ４ ／ ６ ）</vt:lpstr>
      <vt:lpstr>６．(XXXX)様における業務プロセスの確認   ６．６ 購買発注の入庫 （ ５ ／ ６ ）</vt:lpstr>
      <vt:lpstr>６．(XXXX)様における業務プロセスの確認   ６．６ 購買発注の入庫 （ ６ ／ ６ ）</vt:lpstr>
      <vt:lpstr>目次</vt:lpstr>
      <vt:lpstr>６．(XXXX)様における業務プロセスの確認   ６．７ 自動請求書照合(ERS) （ １ ／ １１ ）</vt:lpstr>
      <vt:lpstr>６．(XXXX)様における業務プロセスの確認   ６．７ 自動請求書照合(ERS) （ ２ ／ １１ ）</vt:lpstr>
      <vt:lpstr>６．(XXXX)様における業務プロセスの確認   ６．７ 自動請求書照合(ERS) （ ３ ／ １１ ）</vt:lpstr>
      <vt:lpstr>６．(XXXX)様における業務プロセスの確認   ６．７ 自動請求書照合(ERS) （ ４ ／ １１ ）</vt:lpstr>
      <vt:lpstr>６．(XXXX)様における業務プロセスの確認   ６．７ 自動請求書照合(ERS) （ ５ ／ １１ ）</vt:lpstr>
      <vt:lpstr>６．(XXXX)様における業務プロセスの確認   ６．７ 自動請求書照合(ERS) （ ６ ／ １１ ）</vt:lpstr>
      <vt:lpstr>６．(XXXX)様における業務プロセスの確認   ６．７ 自動請求書照合(ERS) （ ７ ／ １１ ）</vt:lpstr>
      <vt:lpstr>６．(XXXX)様における業務プロセスの確認   ６．７ 自動請求書照合(ERS) （ ８ ／ １１ ）</vt:lpstr>
      <vt:lpstr>６．(XXXX)様における業務プロセスの確認   ６．７ 自動請求書照合(ERS) （ ９ ／ １１ ）</vt:lpstr>
      <vt:lpstr>６．(XXXX)様における業務プロセスの確認   ６．７ 自動請求書照合(ERS) （ １０ ／ １１ ）</vt:lpstr>
      <vt:lpstr>６．(XXXX)様における業務プロセスの確認   ６．７ 自動請求書照合(ERS) （ １１ ／ １１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Kenichi Ohtsuka</dc:creator>
  <cp:lastModifiedBy>Otsuka Kenichi</cp:lastModifiedBy>
  <cp:revision>4243</cp:revision>
  <cp:lastPrinted>2018-12-10T04:12:48Z</cp:lastPrinted>
  <dcterms:created xsi:type="dcterms:W3CDTF">2011-11-29T19:39:23Z</dcterms:created>
  <dcterms:modified xsi:type="dcterms:W3CDTF">2021-08-29T11:51:13Z</dcterms:modified>
</cp:coreProperties>
</file>